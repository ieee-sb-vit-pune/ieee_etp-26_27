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VT323" charset="1" panose="00000509000000000000"/>
      <p:regular r:id="rId38"/>
    </p:embeddedFont>
    <p:embeddedFont>
      <p:font typeface="Nine by Five" charset="1" panose="00000400000000000000"/>
      <p:regular r:id="rId39"/>
    </p:embeddedFont>
    <p:embeddedFont>
      <p:font typeface="Pixelated" charset="1" panose="00000500000000000000"/>
      <p:regular r:id="rId40"/>
    </p:embeddedFont>
    <p:embeddedFont>
      <p:font typeface="Canva Sans Bold" charset="1" panose="020B0803030501040103"/>
      <p:regular r:id="rId41"/>
    </p:embeddedFont>
    <p:embeddedFont>
      <p:font typeface="Forum" charset="1" panose="02000000000000000000"/>
      <p:regular r:id="rId42"/>
    </p:embeddedFont>
    <p:embeddedFont>
      <p:font typeface="Open Sans" charset="1" panose="020B0606030504020204"/>
      <p:regular r:id="rId43"/>
    </p:embeddedFont>
    <p:embeddedFont>
      <p:font typeface="Canva Sans" charset="1" panose="020B0503030501040103"/>
      <p:regular r:id="rId44"/>
    </p:embeddedFont>
    <p:embeddedFont>
      <p:font typeface="Glacial Indifference" charset="1" panose="00000000000000000000"/>
      <p:regular r:id="rId45"/>
    </p:embeddedFont>
    <p:embeddedFont>
      <p:font typeface="Courier New" charset="1" panose="02070309020205020404"/>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26.png" Type="http://schemas.openxmlformats.org/officeDocument/2006/relationships/image"/><Relationship Id="rId2" Target="../media/image1.png" Type="http://schemas.openxmlformats.org/officeDocument/2006/relationships/image"/><Relationship Id="rId20" Target="../media/image27.svg" Type="http://schemas.openxmlformats.org/officeDocument/2006/relationships/image"/><Relationship Id="rId21" Target="../media/image7.png" Type="http://schemas.openxmlformats.org/officeDocument/2006/relationships/image"/><Relationship Id="rId22" Target="../media/image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28.png" Type="http://schemas.openxmlformats.org/officeDocument/2006/relationships/image"/><Relationship Id="rId2" Target="../media/image1.png" Type="http://schemas.openxmlformats.org/officeDocument/2006/relationships/image"/><Relationship Id="rId20" Target="../media/image29.svg" Type="http://schemas.openxmlformats.org/officeDocument/2006/relationships/image"/><Relationship Id="rId21" Target="../media/image30.png" Type="http://schemas.openxmlformats.org/officeDocument/2006/relationships/image"/><Relationship Id="rId22" Target="../media/image31.svg" Type="http://schemas.openxmlformats.org/officeDocument/2006/relationships/image"/><Relationship Id="rId23" Target="../media/image32.png" Type="http://schemas.openxmlformats.org/officeDocument/2006/relationships/image"/><Relationship Id="rId24" Target="../media/image33.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34.png" Type="http://schemas.openxmlformats.org/officeDocument/2006/relationships/image"/><Relationship Id="rId2" Target="../media/image1.png" Type="http://schemas.openxmlformats.org/officeDocument/2006/relationships/image"/><Relationship Id="rId20" Target="../media/image35.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3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3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3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3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4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41.png" Type="http://schemas.openxmlformats.org/officeDocument/2006/relationships/image"/><Relationship Id="rId2" Target="../media/image1.png" Type="http://schemas.openxmlformats.org/officeDocument/2006/relationships/image"/><Relationship Id="rId20" Target="../media/image42.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4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28.png" Type="http://schemas.openxmlformats.org/officeDocument/2006/relationships/image"/><Relationship Id="rId2" Target="../media/image1.png" Type="http://schemas.openxmlformats.org/officeDocument/2006/relationships/image"/><Relationship Id="rId20" Target="../media/image29.svg" Type="http://schemas.openxmlformats.org/officeDocument/2006/relationships/image"/><Relationship Id="rId21" Target="../media/image30.png" Type="http://schemas.openxmlformats.org/officeDocument/2006/relationships/image"/><Relationship Id="rId22" Target="../media/image31.svg" Type="http://schemas.openxmlformats.org/officeDocument/2006/relationships/image"/><Relationship Id="rId23" Target="../media/image32.png" Type="http://schemas.openxmlformats.org/officeDocument/2006/relationships/image"/><Relationship Id="rId24" Target="../media/image33.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44.png" Type="http://schemas.openxmlformats.org/officeDocument/2006/relationships/image"/><Relationship Id="rId2" Target="../media/image1.png" Type="http://schemas.openxmlformats.org/officeDocument/2006/relationships/image"/><Relationship Id="rId20" Target="../media/image45.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26.png" Type="http://schemas.openxmlformats.org/officeDocument/2006/relationships/image"/><Relationship Id="rId2" Target="../media/image1.png" Type="http://schemas.openxmlformats.org/officeDocument/2006/relationships/image"/><Relationship Id="rId20" Target="../media/image27.svg" Type="http://schemas.openxmlformats.org/officeDocument/2006/relationships/image"/><Relationship Id="rId21" Target="../media/image46.png" Type="http://schemas.openxmlformats.org/officeDocument/2006/relationships/image"/><Relationship Id="rId22" Target="../media/image47.svg" Type="http://schemas.openxmlformats.org/officeDocument/2006/relationships/image"/><Relationship Id="rId23" Target="../media/image48.png" Type="http://schemas.openxmlformats.org/officeDocument/2006/relationships/image"/><Relationship Id="rId24" Target="../media/image49.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30.png" Type="http://schemas.openxmlformats.org/officeDocument/2006/relationships/image"/><Relationship Id="rId2" Target="../media/image1.png" Type="http://schemas.openxmlformats.org/officeDocument/2006/relationships/image"/><Relationship Id="rId20" Target="../media/image31.svg" Type="http://schemas.openxmlformats.org/officeDocument/2006/relationships/image"/><Relationship Id="rId21" Target="../media/image50.png" Type="http://schemas.openxmlformats.org/officeDocument/2006/relationships/image"/><Relationship Id="rId22" Target="../media/image5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30.png" Type="http://schemas.openxmlformats.org/officeDocument/2006/relationships/image"/><Relationship Id="rId2" Target="../media/image1.png" Type="http://schemas.openxmlformats.org/officeDocument/2006/relationships/image"/><Relationship Id="rId20" Target="../media/image31.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52.png" Type="http://schemas.openxmlformats.org/officeDocument/2006/relationships/image"/><Relationship Id="rId2" Target="../media/image1.png" Type="http://schemas.openxmlformats.org/officeDocument/2006/relationships/image"/><Relationship Id="rId20" Target="../media/image53.png" Type="http://schemas.openxmlformats.org/officeDocument/2006/relationships/image"/><Relationship Id="rId21" Target="../media/image54.png" Type="http://schemas.openxmlformats.org/officeDocument/2006/relationships/image"/><Relationship Id="rId22" Target="../media/image55.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30.png" Type="http://schemas.openxmlformats.org/officeDocument/2006/relationships/image"/><Relationship Id="rId2" Target="../media/image1.png" Type="http://schemas.openxmlformats.org/officeDocument/2006/relationships/image"/><Relationship Id="rId20" Target="../media/image31.svg" Type="http://schemas.openxmlformats.org/officeDocument/2006/relationships/image"/><Relationship Id="rId21" Target="../media/image56.png" Type="http://schemas.openxmlformats.org/officeDocument/2006/relationships/image"/><Relationship Id="rId22" Target="../media/image57.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30.png" Type="http://schemas.openxmlformats.org/officeDocument/2006/relationships/image"/><Relationship Id="rId2" Target="../media/image1.png" Type="http://schemas.openxmlformats.org/officeDocument/2006/relationships/image"/><Relationship Id="rId20" Target="../media/image31.svg" Type="http://schemas.openxmlformats.org/officeDocument/2006/relationships/image"/><Relationship Id="rId21" Target="../media/image58.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59.png" Type="http://schemas.openxmlformats.org/officeDocument/2006/relationships/image"/><Relationship Id="rId2" Target="../media/image1.png" Type="http://schemas.openxmlformats.org/officeDocument/2006/relationships/image"/><Relationship Id="rId20" Target="../media/image60.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61.png" Type="http://schemas.openxmlformats.org/officeDocument/2006/relationships/image"/><Relationship Id="rId2" Target="../media/image1.png" Type="http://schemas.openxmlformats.org/officeDocument/2006/relationships/image"/><Relationship Id="rId20" Target="../media/image62.png" Type="http://schemas.openxmlformats.org/officeDocument/2006/relationships/image"/><Relationship Id="rId21" Target="../media/image63.png" Type="http://schemas.openxmlformats.org/officeDocument/2006/relationships/image"/><Relationship Id="rId22" Target="../media/image64.png" Type="http://schemas.openxmlformats.org/officeDocument/2006/relationships/image"/><Relationship Id="rId23" Target="../media/image65.svg" Type="http://schemas.openxmlformats.org/officeDocument/2006/relationships/image"/><Relationship Id="rId24" Target="../media/image66.png" Type="http://schemas.openxmlformats.org/officeDocument/2006/relationships/image"/><Relationship Id="rId25" Target="../media/image67.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9.pn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6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73.svg" Type="http://schemas.openxmlformats.org/officeDocument/2006/relationships/image"/><Relationship Id="rId12" Target="../media/image20.png" Type="http://schemas.openxmlformats.org/officeDocument/2006/relationships/image"/><Relationship Id="rId13" Target="../media/image74.svg" Type="http://schemas.openxmlformats.org/officeDocument/2006/relationships/image"/><Relationship Id="rId14" Target="../media/image13.png" Type="http://schemas.openxmlformats.org/officeDocument/2006/relationships/image"/><Relationship Id="rId15" Target="../media/image75.svg" Type="http://schemas.openxmlformats.org/officeDocument/2006/relationships/image"/><Relationship Id="rId16" Target="../media/image76.png" Type="http://schemas.openxmlformats.org/officeDocument/2006/relationships/image"/><Relationship Id="rId17" Target="../media/image77.svg" Type="http://schemas.openxmlformats.org/officeDocument/2006/relationships/image"/><Relationship Id="rId18" Target="../media/image78.png" Type="http://schemas.openxmlformats.org/officeDocument/2006/relationships/image"/><Relationship Id="rId19" Target="../media/image24.png" Type="http://schemas.openxmlformats.org/officeDocument/2006/relationships/image"/><Relationship Id="rId2" Target="../media/image1.png" Type="http://schemas.openxmlformats.org/officeDocument/2006/relationships/image"/><Relationship Id="rId20" Target="../media/image79.svg" Type="http://schemas.openxmlformats.org/officeDocument/2006/relationships/image"/><Relationship Id="rId21" Target="../media/image80.png" Type="http://schemas.openxmlformats.org/officeDocument/2006/relationships/image"/><Relationship Id="rId22" Target="../media/image81.svg" Type="http://schemas.openxmlformats.org/officeDocument/2006/relationships/image"/><Relationship Id="rId23" Target="../media/image82.png" Type="http://schemas.openxmlformats.org/officeDocument/2006/relationships/image"/><Relationship Id="rId24" Target="../media/image83.svg" Type="http://schemas.openxmlformats.org/officeDocument/2006/relationships/image"/><Relationship Id="rId25" Target="../media/image84.png" Type="http://schemas.openxmlformats.org/officeDocument/2006/relationships/image"/><Relationship Id="rId26" Target="../media/image85.svg" Type="http://schemas.openxmlformats.org/officeDocument/2006/relationships/image"/><Relationship Id="rId27" Target="../media/image86.png" Type="http://schemas.openxmlformats.org/officeDocument/2006/relationships/image"/><Relationship Id="rId28" Target="../media/image87.svg" Type="http://schemas.openxmlformats.org/officeDocument/2006/relationships/image"/><Relationship Id="rId29" Target="../media/image88.jpeg" Type="http://schemas.openxmlformats.org/officeDocument/2006/relationships/image"/><Relationship Id="rId3" Target="../media/image69.svg" Type="http://schemas.openxmlformats.org/officeDocument/2006/relationships/image"/><Relationship Id="rId30" Target="../media/image89.png" Type="http://schemas.openxmlformats.org/officeDocument/2006/relationships/image"/><Relationship Id="rId4" Target="../media/image3.png" Type="http://schemas.openxmlformats.org/officeDocument/2006/relationships/image"/><Relationship Id="rId5" Target="../media/image70.svg" Type="http://schemas.openxmlformats.org/officeDocument/2006/relationships/image"/><Relationship Id="rId6" Target="../media/image5.png" Type="http://schemas.openxmlformats.org/officeDocument/2006/relationships/image"/><Relationship Id="rId7" Target="../media/image71.svg" Type="http://schemas.openxmlformats.org/officeDocument/2006/relationships/image"/><Relationship Id="rId8" Target="../media/image9.png" Type="http://schemas.openxmlformats.org/officeDocument/2006/relationships/image"/><Relationship Id="rId9" Target="../media/image7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73.svg" Type="http://schemas.openxmlformats.org/officeDocument/2006/relationships/image"/><Relationship Id="rId12" Target="../media/image20.png" Type="http://schemas.openxmlformats.org/officeDocument/2006/relationships/image"/><Relationship Id="rId13" Target="../media/image74.svg" Type="http://schemas.openxmlformats.org/officeDocument/2006/relationships/image"/><Relationship Id="rId14" Target="../media/image13.png" Type="http://schemas.openxmlformats.org/officeDocument/2006/relationships/image"/><Relationship Id="rId15" Target="../media/image75.svg" Type="http://schemas.openxmlformats.org/officeDocument/2006/relationships/image"/><Relationship Id="rId16" Target="../media/image90.png" Type="http://schemas.openxmlformats.org/officeDocument/2006/relationships/image"/><Relationship Id="rId17" Target="../media/image91.svg" Type="http://schemas.openxmlformats.org/officeDocument/2006/relationships/image"/><Relationship Id="rId18" Target="../media/image78.png" Type="http://schemas.openxmlformats.org/officeDocument/2006/relationships/image"/><Relationship Id="rId19" Target="../media/image24.png" Type="http://schemas.openxmlformats.org/officeDocument/2006/relationships/image"/><Relationship Id="rId2" Target="../media/image1.png" Type="http://schemas.openxmlformats.org/officeDocument/2006/relationships/image"/><Relationship Id="rId20" Target="../media/image79.svg" Type="http://schemas.openxmlformats.org/officeDocument/2006/relationships/image"/><Relationship Id="rId21" Target="../media/image80.png" Type="http://schemas.openxmlformats.org/officeDocument/2006/relationships/image"/><Relationship Id="rId22" Target="../media/image81.svg" Type="http://schemas.openxmlformats.org/officeDocument/2006/relationships/image"/><Relationship Id="rId23" Target="../media/image92.png" Type="http://schemas.openxmlformats.org/officeDocument/2006/relationships/image"/><Relationship Id="rId24" Target="../media/image93.svg" Type="http://schemas.openxmlformats.org/officeDocument/2006/relationships/image"/><Relationship Id="rId25" Target="../media/image88.jpeg" Type="http://schemas.openxmlformats.org/officeDocument/2006/relationships/image"/><Relationship Id="rId26" Target="../media/image94.png" Type="http://schemas.openxmlformats.org/officeDocument/2006/relationships/image"/><Relationship Id="rId3" Target="../media/image69.svg" Type="http://schemas.openxmlformats.org/officeDocument/2006/relationships/image"/><Relationship Id="rId4" Target="../media/image3.png" Type="http://schemas.openxmlformats.org/officeDocument/2006/relationships/image"/><Relationship Id="rId5" Target="../media/image70.svg" Type="http://schemas.openxmlformats.org/officeDocument/2006/relationships/image"/><Relationship Id="rId6" Target="../media/image5.png" Type="http://schemas.openxmlformats.org/officeDocument/2006/relationships/image"/><Relationship Id="rId7" Target="../media/image71.svg" Type="http://schemas.openxmlformats.org/officeDocument/2006/relationships/image"/><Relationship Id="rId8" Target="../media/image9.png" Type="http://schemas.openxmlformats.org/officeDocument/2006/relationships/image"/><Relationship Id="rId9" Target="../media/image72.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73.svg" Type="http://schemas.openxmlformats.org/officeDocument/2006/relationships/image"/><Relationship Id="rId12" Target="../media/image20.png" Type="http://schemas.openxmlformats.org/officeDocument/2006/relationships/image"/><Relationship Id="rId13" Target="../media/image74.svg" Type="http://schemas.openxmlformats.org/officeDocument/2006/relationships/image"/><Relationship Id="rId14" Target="../media/image13.png" Type="http://schemas.openxmlformats.org/officeDocument/2006/relationships/image"/><Relationship Id="rId15" Target="../media/image75.svg" Type="http://schemas.openxmlformats.org/officeDocument/2006/relationships/image"/><Relationship Id="rId16" Target="../media/image90.png" Type="http://schemas.openxmlformats.org/officeDocument/2006/relationships/image"/><Relationship Id="rId17" Target="../media/image91.svg" Type="http://schemas.openxmlformats.org/officeDocument/2006/relationships/image"/><Relationship Id="rId18" Target="../media/image78.png" Type="http://schemas.openxmlformats.org/officeDocument/2006/relationships/image"/><Relationship Id="rId19" Target="../media/image24.png" Type="http://schemas.openxmlformats.org/officeDocument/2006/relationships/image"/><Relationship Id="rId2" Target="../media/image1.png" Type="http://schemas.openxmlformats.org/officeDocument/2006/relationships/image"/><Relationship Id="rId20" Target="../media/image79.svg" Type="http://schemas.openxmlformats.org/officeDocument/2006/relationships/image"/><Relationship Id="rId21" Target="../media/image80.png" Type="http://schemas.openxmlformats.org/officeDocument/2006/relationships/image"/><Relationship Id="rId22" Target="../media/image81.svg" Type="http://schemas.openxmlformats.org/officeDocument/2006/relationships/image"/><Relationship Id="rId23" Target="../media/image92.png" Type="http://schemas.openxmlformats.org/officeDocument/2006/relationships/image"/><Relationship Id="rId24" Target="../media/image93.svg" Type="http://schemas.openxmlformats.org/officeDocument/2006/relationships/image"/><Relationship Id="rId25" Target="../media/image88.jpeg" Type="http://schemas.openxmlformats.org/officeDocument/2006/relationships/image"/><Relationship Id="rId3" Target="../media/image69.svg" Type="http://schemas.openxmlformats.org/officeDocument/2006/relationships/image"/><Relationship Id="rId4" Target="../media/image3.png" Type="http://schemas.openxmlformats.org/officeDocument/2006/relationships/image"/><Relationship Id="rId5" Target="../media/image70.svg" Type="http://schemas.openxmlformats.org/officeDocument/2006/relationships/image"/><Relationship Id="rId6" Target="../media/image5.png" Type="http://schemas.openxmlformats.org/officeDocument/2006/relationships/image"/><Relationship Id="rId7" Target="../media/image71.svg" Type="http://schemas.openxmlformats.org/officeDocument/2006/relationships/image"/><Relationship Id="rId8" Target="../media/image9.png" Type="http://schemas.openxmlformats.org/officeDocument/2006/relationships/image"/><Relationship Id="rId9" Target="../media/image72.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73.svg" Type="http://schemas.openxmlformats.org/officeDocument/2006/relationships/image"/><Relationship Id="rId12" Target="../media/image20.png" Type="http://schemas.openxmlformats.org/officeDocument/2006/relationships/image"/><Relationship Id="rId13" Target="../media/image74.svg" Type="http://schemas.openxmlformats.org/officeDocument/2006/relationships/image"/><Relationship Id="rId14" Target="../media/image13.png" Type="http://schemas.openxmlformats.org/officeDocument/2006/relationships/image"/><Relationship Id="rId15" Target="../media/image75.svg" Type="http://schemas.openxmlformats.org/officeDocument/2006/relationships/image"/><Relationship Id="rId16" Target="../media/image95.png" Type="http://schemas.openxmlformats.org/officeDocument/2006/relationships/image"/><Relationship Id="rId17" Target="../media/image96.svg" Type="http://schemas.openxmlformats.org/officeDocument/2006/relationships/image"/><Relationship Id="rId18" Target="../media/image78.png" Type="http://schemas.openxmlformats.org/officeDocument/2006/relationships/image"/><Relationship Id="rId19" Target="../media/image24.png" Type="http://schemas.openxmlformats.org/officeDocument/2006/relationships/image"/><Relationship Id="rId2" Target="../media/image1.png" Type="http://schemas.openxmlformats.org/officeDocument/2006/relationships/image"/><Relationship Id="rId20" Target="../media/image79.svg" Type="http://schemas.openxmlformats.org/officeDocument/2006/relationships/image"/><Relationship Id="rId21" Target="../media/image88.jpeg" Type="http://schemas.openxmlformats.org/officeDocument/2006/relationships/image"/><Relationship Id="rId3" Target="../media/image69.svg" Type="http://schemas.openxmlformats.org/officeDocument/2006/relationships/image"/><Relationship Id="rId4" Target="../media/image3.png" Type="http://schemas.openxmlformats.org/officeDocument/2006/relationships/image"/><Relationship Id="rId5" Target="../media/image70.svg" Type="http://schemas.openxmlformats.org/officeDocument/2006/relationships/image"/><Relationship Id="rId6" Target="../media/image5.png" Type="http://schemas.openxmlformats.org/officeDocument/2006/relationships/image"/><Relationship Id="rId7" Target="../media/image71.svg" Type="http://schemas.openxmlformats.org/officeDocument/2006/relationships/image"/><Relationship Id="rId8" Target="../media/image9.png" Type="http://schemas.openxmlformats.org/officeDocument/2006/relationships/image"/><Relationship Id="rId9" Target="../media/image7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73.svg" Type="http://schemas.openxmlformats.org/officeDocument/2006/relationships/image"/><Relationship Id="rId12" Target="../media/image20.png" Type="http://schemas.openxmlformats.org/officeDocument/2006/relationships/image"/><Relationship Id="rId13" Target="../media/image74.svg" Type="http://schemas.openxmlformats.org/officeDocument/2006/relationships/image"/><Relationship Id="rId14" Target="../media/image13.png" Type="http://schemas.openxmlformats.org/officeDocument/2006/relationships/image"/><Relationship Id="rId15" Target="../media/image75.svg" Type="http://schemas.openxmlformats.org/officeDocument/2006/relationships/image"/><Relationship Id="rId16" Target="../media/image90.png" Type="http://schemas.openxmlformats.org/officeDocument/2006/relationships/image"/><Relationship Id="rId17" Target="../media/image91.svg" Type="http://schemas.openxmlformats.org/officeDocument/2006/relationships/image"/><Relationship Id="rId18" Target="../media/image78.png" Type="http://schemas.openxmlformats.org/officeDocument/2006/relationships/image"/><Relationship Id="rId19" Target="../media/image24.png" Type="http://schemas.openxmlformats.org/officeDocument/2006/relationships/image"/><Relationship Id="rId2" Target="../media/image1.png" Type="http://schemas.openxmlformats.org/officeDocument/2006/relationships/image"/><Relationship Id="rId20" Target="../media/image79.svg" Type="http://schemas.openxmlformats.org/officeDocument/2006/relationships/image"/><Relationship Id="rId21" Target="../media/image80.png" Type="http://schemas.openxmlformats.org/officeDocument/2006/relationships/image"/><Relationship Id="rId22" Target="../media/image81.svg" Type="http://schemas.openxmlformats.org/officeDocument/2006/relationships/image"/><Relationship Id="rId23" Target="../media/image92.png" Type="http://schemas.openxmlformats.org/officeDocument/2006/relationships/image"/><Relationship Id="rId24" Target="../media/image93.svg" Type="http://schemas.openxmlformats.org/officeDocument/2006/relationships/image"/><Relationship Id="rId25" Target="../media/image88.jpeg" Type="http://schemas.openxmlformats.org/officeDocument/2006/relationships/image"/><Relationship Id="rId3" Target="../media/image69.svg" Type="http://schemas.openxmlformats.org/officeDocument/2006/relationships/image"/><Relationship Id="rId4" Target="../media/image3.png" Type="http://schemas.openxmlformats.org/officeDocument/2006/relationships/image"/><Relationship Id="rId5" Target="../media/image70.svg" Type="http://schemas.openxmlformats.org/officeDocument/2006/relationships/image"/><Relationship Id="rId6" Target="../media/image5.png" Type="http://schemas.openxmlformats.org/officeDocument/2006/relationships/image"/><Relationship Id="rId7" Target="../media/image71.svg" Type="http://schemas.openxmlformats.org/officeDocument/2006/relationships/image"/><Relationship Id="rId8" Target="../media/image9.png" Type="http://schemas.openxmlformats.org/officeDocument/2006/relationships/image"/><Relationship Id="rId9" Target="../media/image72.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73.svg" Type="http://schemas.openxmlformats.org/officeDocument/2006/relationships/image"/><Relationship Id="rId12" Target="../media/image20.png" Type="http://schemas.openxmlformats.org/officeDocument/2006/relationships/image"/><Relationship Id="rId13" Target="../media/image74.svg" Type="http://schemas.openxmlformats.org/officeDocument/2006/relationships/image"/><Relationship Id="rId14" Target="../media/image13.png" Type="http://schemas.openxmlformats.org/officeDocument/2006/relationships/image"/><Relationship Id="rId15" Target="../media/image75.svg" Type="http://schemas.openxmlformats.org/officeDocument/2006/relationships/image"/><Relationship Id="rId16" Target="../media/image95.png" Type="http://schemas.openxmlformats.org/officeDocument/2006/relationships/image"/><Relationship Id="rId17" Target="../media/image96.svg" Type="http://schemas.openxmlformats.org/officeDocument/2006/relationships/image"/><Relationship Id="rId18" Target="../media/image78.png" Type="http://schemas.openxmlformats.org/officeDocument/2006/relationships/image"/><Relationship Id="rId19" Target="../media/image24.png" Type="http://schemas.openxmlformats.org/officeDocument/2006/relationships/image"/><Relationship Id="rId2" Target="../media/image1.png" Type="http://schemas.openxmlformats.org/officeDocument/2006/relationships/image"/><Relationship Id="rId20" Target="../media/image79.svg" Type="http://schemas.openxmlformats.org/officeDocument/2006/relationships/image"/><Relationship Id="rId21" Target="../media/image88.jpeg" Type="http://schemas.openxmlformats.org/officeDocument/2006/relationships/image"/><Relationship Id="rId3" Target="../media/image69.svg" Type="http://schemas.openxmlformats.org/officeDocument/2006/relationships/image"/><Relationship Id="rId4" Target="../media/image3.png" Type="http://schemas.openxmlformats.org/officeDocument/2006/relationships/image"/><Relationship Id="rId5" Target="../media/image70.svg" Type="http://schemas.openxmlformats.org/officeDocument/2006/relationships/image"/><Relationship Id="rId6" Target="../media/image5.png" Type="http://schemas.openxmlformats.org/officeDocument/2006/relationships/image"/><Relationship Id="rId7" Target="../media/image71.svg" Type="http://schemas.openxmlformats.org/officeDocument/2006/relationships/image"/><Relationship Id="rId8" Target="../media/image9.png" Type="http://schemas.openxmlformats.org/officeDocument/2006/relationships/image"/><Relationship Id="rId9" Target="../media/image72.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73.svg" Type="http://schemas.openxmlformats.org/officeDocument/2006/relationships/image"/><Relationship Id="rId12" Target="../media/image20.png" Type="http://schemas.openxmlformats.org/officeDocument/2006/relationships/image"/><Relationship Id="rId13" Target="../media/image74.svg" Type="http://schemas.openxmlformats.org/officeDocument/2006/relationships/image"/><Relationship Id="rId14" Target="../media/image13.png" Type="http://schemas.openxmlformats.org/officeDocument/2006/relationships/image"/><Relationship Id="rId15" Target="../media/image75.svg" Type="http://schemas.openxmlformats.org/officeDocument/2006/relationships/image"/><Relationship Id="rId16" Target="../media/image95.png" Type="http://schemas.openxmlformats.org/officeDocument/2006/relationships/image"/><Relationship Id="rId17" Target="../media/image96.svg" Type="http://schemas.openxmlformats.org/officeDocument/2006/relationships/image"/><Relationship Id="rId18" Target="../media/image78.png" Type="http://schemas.openxmlformats.org/officeDocument/2006/relationships/image"/><Relationship Id="rId19" Target="../media/image24.png" Type="http://schemas.openxmlformats.org/officeDocument/2006/relationships/image"/><Relationship Id="rId2" Target="../media/image1.png" Type="http://schemas.openxmlformats.org/officeDocument/2006/relationships/image"/><Relationship Id="rId20" Target="../media/image79.svg" Type="http://schemas.openxmlformats.org/officeDocument/2006/relationships/image"/><Relationship Id="rId21" Target="../media/image88.jpeg" Type="http://schemas.openxmlformats.org/officeDocument/2006/relationships/image"/><Relationship Id="rId22" Target="../media/image97.png" Type="http://schemas.openxmlformats.org/officeDocument/2006/relationships/image"/><Relationship Id="rId3" Target="../media/image69.svg" Type="http://schemas.openxmlformats.org/officeDocument/2006/relationships/image"/><Relationship Id="rId4" Target="../media/image3.png" Type="http://schemas.openxmlformats.org/officeDocument/2006/relationships/image"/><Relationship Id="rId5" Target="../media/image70.svg" Type="http://schemas.openxmlformats.org/officeDocument/2006/relationships/image"/><Relationship Id="rId6" Target="../media/image5.png" Type="http://schemas.openxmlformats.org/officeDocument/2006/relationships/image"/><Relationship Id="rId7" Target="../media/image71.svg" Type="http://schemas.openxmlformats.org/officeDocument/2006/relationships/image"/><Relationship Id="rId8" Target="../media/image9.png" Type="http://schemas.openxmlformats.org/officeDocument/2006/relationships/image"/><Relationship Id="rId9" Target="../media/image72.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73.svg" Type="http://schemas.openxmlformats.org/officeDocument/2006/relationships/image"/><Relationship Id="rId12" Target="../media/image20.png" Type="http://schemas.openxmlformats.org/officeDocument/2006/relationships/image"/><Relationship Id="rId13" Target="../media/image74.svg" Type="http://schemas.openxmlformats.org/officeDocument/2006/relationships/image"/><Relationship Id="rId14" Target="../media/image13.png" Type="http://schemas.openxmlformats.org/officeDocument/2006/relationships/image"/><Relationship Id="rId15" Target="../media/image75.svg" Type="http://schemas.openxmlformats.org/officeDocument/2006/relationships/image"/><Relationship Id="rId16" Target="../media/image95.png" Type="http://schemas.openxmlformats.org/officeDocument/2006/relationships/image"/><Relationship Id="rId17" Target="../media/image96.svg" Type="http://schemas.openxmlformats.org/officeDocument/2006/relationships/image"/><Relationship Id="rId18" Target="../media/image78.png" Type="http://schemas.openxmlformats.org/officeDocument/2006/relationships/image"/><Relationship Id="rId19" Target="../media/image24.png" Type="http://schemas.openxmlformats.org/officeDocument/2006/relationships/image"/><Relationship Id="rId2" Target="../media/image1.png" Type="http://schemas.openxmlformats.org/officeDocument/2006/relationships/image"/><Relationship Id="rId20" Target="../media/image79.svg" Type="http://schemas.openxmlformats.org/officeDocument/2006/relationships/image"/><Relationship Id="rId21" Target="../media/image98.png" Type="http://schemas.openxmlformats.org/officeDocument/2006/relationships/image"/><Relationship Id="rId3" Target="../media/image69.svg" Type="http://schemas.openxmlformats.org/officeDocument/2006/relationships/image"/><Relationship Id="rId4" Target="../media/image3.png" Type="http://schemas.openxmlformats.org/officeDocument/2006/relationships/image"/><Relationship Id="rId5" Target="../media/image70.svg" Type="http://schemas.openxmlformats.org/officeDocument/2006/relationships/image"/><Relationship Id="rId6" Target="../media/image5.png" Type="http://schemas.openxmlformats.org/officeDocument/2006/relationships/image"/><Relationship Id="rId7" Target="../media/image71.svg" Type="http://schemas.openxmlformats.org/officeDocument/2006/relationships/image"/><Relationship Id="rId8" Target="../media/image9.png" Type="http://schemas.openxmlformats.org/officeDocument/2006/relationships/image"/><Relationship Id="rId9" Target="../media/image72.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9.png" Type="http://schemas.openxmlformats.org/officeDocument/2006/relationships/image"/><Relationship Id="rId19" Target="../media/image20.png" Type="http://schemas.openxmlformats.org/officeDocument/2006/relationships/image"/><Relationship Id="rId2" Target="../media/image1.png" Type="http://schemas.openxmlformats.org/officeDocument/2006/relationships/image"/><Relationship Id="rId20" Target="../media/image21.svg" Type="http://schemas.openxmlformats.org/officeDocument/2006/relationships/image"/><Relationship Id="rId21" Target="../media/image24.png" Type="http://schemas.openxmlformats.org/officeDocument/2006/relationships/image"/><Relationship Id="rId22" Target="../media/image25.svg" Type="http://schemas.openxmlformats.org/officeDocument/2006/relationships/image"/><Relationship Id="rId23" Target="../media/image99.png" Type="http://schemas.openxmlformats.org/officeDocument/2006/relationships/image"/><Relationship Id="rId24" Target="../media/image100.svg" Type="http://schemas.openxmlformats.org/officeDocument/2006/relationships/image"/><Relationship Id="rId25" Target="../media/image22.png" Type="http://schemas.openxmlformats.org/officeDocument/2006/relationships/image"/><Relationship Id="rId26" Target="../media/image23.svg" Type="http://schemas.openxmlformats.org/officeDocument/2006/relationships/image"/><Relationship Id="rId27" Target="../media/image10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6174517" y="3375934"/>
            <a:ext cx="718895" cy="1349462"/>
          </a:xfrm>
          <a:custGeom>
            <a:avLst/>
            <a:gdLst/>
            <a:ahLst/>
            <a:cxnLst/>
            <a:rect r="r" b="b" t="t" l="l"/>
            <a:pathLst>
              <a:path h="1349462" w="718895">
                <a:moveTo>
                  <a:pt x="0" y="0"/>
                </a:moveTo>
                <a:lnTo>
                  <a:pt x="718895" y="0"/>
                </a:lnTo>
                <a:lnTo>
                  <a:pt x="718895" y="1349462"/>
                </a:lnTo>
                <a:lnTo>
                  <a:pt x="0" y="1349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4029132" y="1779425"/>
            <a:ext cx="10312425" cy="5493710"/>
          </a:xfrm>
          <a:custGeom>
            <a:avLst/>
            <a:gdLst/>
            <a:ahLst/>
            <a:cxnLst/>
            <a:rect r="r" b="b" t="t" l="l"/>
            <a:pathLst>
              <a:path h="5493710" w="10312425">
                <a:moveTo>
                  <a:pt x="0" y="0"/>
                </a:moveTo>
                <a:lnTo>
                  <a:pt x="10312425" y="0"/>
                </a:lnTo>
                <a:lnTo>
                  <a:pt x="10312425" y="5493710"/>
                </a:lnTo>
                <a:lnTo>
                  <a:pt x="0" y="549371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0">
            <a:off x="7200759" y="6736094"/>
            <a:ext cx="3886482" cy="1074082"/>
          </a:xfrm>
          <a:custGeom>
            <a:avLst/>
            <a:gdLst/>
            <a:ahLst/>
            <a:cxnLst/>
            <a:rect r="r" b="b" t="t" l="l"/>
            <a:pathLst>
              <a:path h="1074082" w="3886482">
                <a:moveTo>
                  <a:pt x="0" y="0"/>
                </a:moveTo>
                <a:lnTo>
                  <a:pt x="3886482" y="0"/>
                </a:lnTo>
                <a:lnTo>
                  <a:pt x="3886482" y="1074082"/>
                </a:lnTo>
                <a:lnTo>
                  <a:pt x="0" y="107408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8" id="18"/>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20"/>
            <a:stretch>
              <a:fillRect l="0" t="0" r="0" b="0"/>
            </a:stretch>
          </a:blipFill>
        </p:spPr>
      </p:sp>
      <p:sp>
        <p:nvSpPr>
          <p:cNvPr name="Freeform 19" id="19"/>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20"/>
            <a:stretch>
              <a:fillRect l="0" t="0" r="0" b="0"/>
            </a:stretch>
          </a:blipFill>
        </p:spPr>
      </p:sp>
      <p:sp>
        <p:nvSpPr>
          <p:cNvPr name="Freeform 20" id="20"/>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20"/>
            <a:stretch>
              <a:fillRect l="0" t="0" r="0" b="0"/>
            </a:stretch>
          </a:blipFill>
        </p:spPr>
      </p:sp>
      <p:sp>
        <p:nvSpPr>
          <p:cNvPr name="Freeform 21" id="21"/>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2" id="22"/>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3" id="23"/>
          <p:cNvSpPr/>
          <p:nvPr/>
        </p:nvSpPr>
        <p:spPr>
          <a:xfrm flipH="false" flipV="false" rot="0">
            <a:off x="10228234" y="7160851"/>
            <a:ext cx="610130" cy="986820"/>
          </a:xfrm>
          <a:custGeom>
            <a:avLst/>
            <a:gdLst/>
            <a:ahLst/>
            <a:cxnLst/>
            <a:rect r="r" b="b" t="t" l="l"/>
            <a:pathLst>
              <a:path h="986820" w="610130">
                <a:moveTo>
                  <a:pt x="0" y="0"/>
                </a:moveTo>
                <a:lnTo>
                  <a:pt x="610130" y="0"/>
                </a:lnTo>
                <a:lnTo>
                  <a:pt x="610130" y="986819"/>
                </a:lnTo>
                <a:lnTo>
                  <a:pt x="0" y="98681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24" id="24"/>
          <p:cNvSpPr txBox="true"/>
          <p:nvPr/>
        </p:nvSpPr>
        <p:spPr>
          <a:xfrm rot="0">
            <a:off x="5076327" y="2390179"/>
            <a:ext cx="8154396" cy="3508087"/>
          </a:xfrm>
          <a:prstGeom prst="rect">
            <a:avLst/>
          </a:prstGeom>
        </p:spPr>
        <p:txBody>
          <a:bodyPr anchor="t" rtlCol="false" tIns="0" lIns="0" bIns="0" rIns="0">
            <a:spAutoFit/>
          </a:bodyPr>
          <a:lstStyle/>
          <a:p>
            <a:pPr algn="ctr" marL="0" indent="0" lvl="0">
              <a:lnSpc>
                <a:spcPts val="8867"/>
              </a:lnSpc>
            </a:pPr>
            <a:r>
              <a:rPr lang="en-US" sz="10947">
                <a:solidFill>
                  <a:srgbClr val="000000"/>
                </a:solidFill>
                <a:latin typeface="VT323"/>
                <a:ea typeface="VT323"/>
                <a:cs typeface="VT323"/>
                <a:sym typeface="VT323"/>
              </a:rPr>
              <a:t>LOCAL STORAGE &amp; MOBILE PREFERENCES</a:t>
            </a:r>
          </a:p>
        </p:txBody>
      </p:sp>
      <p:sp>
        <p:nvSpPr>
          <p:cNvPr name="TextBox 25" id="25"/>
          <p:cNvSpPr txBox="true"/>
          <p:nvPr/>
        </p:nvSpPr>
        <p:spPr>
          <a:xfrm rot="0">
            <a:off x="5173399" y="5414078"/>
            <a:ext cx="8023891" cy="863600"/>
          </a:xfrm>
          <a:prstGeom prst="rect">
            <a:avLst/>
          </a:prstGeom>
        </p:spPr>
        <p:txBody>
          <a:bodyPr anchor="t" rtlCol="false" tIns="0" lIns="0" bIns="0" rIns="0">
            <a:spAutoFit/>
          </a:bodyPr>
          <a:lstStyle/>
          <a:p>
            <a:pPr algn="ctr" marL="0" indent="0" lvl="0">
              <a:lnSpc>
                <a:spcPts val="7000"/>
              </a:lnSpc>
              <a:spcBef>
                <a:spcPct val="0"/>
              </a:spcBef>
            </a:pPr>
            <a:r>
              <a:rPr lang="en-US" sz="5000">
                <a:solidFill>
                  <a:srgbClr val="000000"/>
                </a:solidFill>
                <a:latin typeface="Nine by Five"/>
                <a:ea typeface="Nine by Five"/>
                <a:cs typeface="Nine by Five"/>
                <a:sym typeface="Nine by Five"/>
              </a:rPr>
              <a:t>Shreya Singh, Shreya Mete, Shubhra</a:t>
            </a:r>
          </a:p>
        </p:txBody>
      </p:sp>
      <p:sp>
        <p:nvSpPr>
          <p:cNvPr name="Freeform 26" id="26"/>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27" id="27"/>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28" id="28"/>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3447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1492416" y="1482140"/>
            <a:ext cx="15220604" cy="7661860"/>
            <a:chOff x="0" y="0"/>
            <a:chExt cx="4008719" cy="2017938"/>
          </a:xfrm>
        </p:grpSpPr>
        <p:sp>
          <p:nvSpPr>
            <p:cNvPr name="Freeform 16" id="16"/>
            <p:cNvSpPr/>
            <p:nvPr/>
          </p:nvSpPr>
          <p:spPr>
            <a:xfrm flipH="false" flipV="false" rot="0">
              <a:off x="0" y="0"/>
              <a:ext cx="4008718" cy="2017938"/>
            </a:xfrm>
            <a:custGeom>
              <a:avLst/>
              <a:gdLst/>
              <a:ahLst/>
              <a:cxnLst/>
              <a:rect r="r" b="b" t="t" l="l"/>
              <a:pathLst>
                <a:path h="2017938" w="4008718">
                  <a:moveTo>
                    <a:pt x="25941" y="0"/>
                  </a:moveTo>
                  <a:lnTo>
                    <a:pt x="3982777" y="0"/>
                  </a:lnTo>
                  <a:cubicBezTo>
                    <a:pt x="3997104" y="0"/>
                    <a:pt x="4008718" y="11614"/>
                    <a:pt x="4008718" y="25941"/>
                  </a:cubicBezTo>
                  <a:lnTo>
                    <a:pt x="4008718" y="1991997"/>
                  </a:lnTo>
                  <a:cubicBezTo>
                    <a:pt x="4008718" y="1998877"/>
                    <a:pt x="4005985" y="2005476"/>
                    <a:pt x="4001121" y="2010340"/>
                  </a:cubicBezTo>
                  <a:cubicBezTo>
                    <a:pt x="3996256" y="2015205"/>
                    <a:pt x="3989658" y="2017938"/>
                    <a:pt x="3982777" y="2017938"/>
                  </a:cubicBezTo>
                  <a:lnTo>
                    <a:pt x="25941" y="2017938"/>
                  </a:lnTo>
                  <a:cubicBezTo>
                    <a:pt x="19061" y="2017938"/>
                    <a:pt x="12463" y="2015205"/>
                    <a:pt x="7598" y="2010340"/>
                  </a:cubicBezTo>
                  <a:cubicBezTo>
                    <a:pt x="2733" y="2005476"/>
                    <a:pt x="0" y="1998877"/>
                    <a:pt x="0" y="1991997"/>
                  </a:cubicBezTo>
                  <a:lnTo>
                    <a:pt x="0" y="25941"/>
                  </a:lnTo>
                  <a:cubicBezTo>
                    <a:pt x="0" y="19061"/>
                    <a:pt x="2733" y="12463"/>
                    <a:pt x="7598" y="7598"/>
                  </a:cubicBezTo>
                  <a:cubicBezTo>
                    <a:pt x="12463" y="2733"/>
                    <a:pt x="19061" y="0"/>
                    <a:pt x="25941"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008719" cy="2056038"/>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5" id="25"/>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1113040" y="3375903"/>
            <a:ext cx="4775594" cy="2387797"/>
          </a:xfrm>
          <a:custGeom>
            <a:avLst/>
            <a:gdLst/>
            <a:ahLst/>
            <a:cxnLst/>
            <a:rect r="r" b="b" t="t" l="l"/>
            <a:pathLst>
              <a:path h="2387797" w="4775594">
                <a:moveTo>
                  <a:pt x="0" y="0"/>
                </a:moveTo>
                <a:lnTo>
                  <a:pt x="4775594" y="0"/>
                </a:lnTo>
                <a:lnTo>
                  <a:pt x="4775594" y="2387797"/>
                </a:lnTo>
                <a:lnTo>
                  <a:pt x="0" y="238779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7" id="27"/>
          <p:cNvSpPr/>
          <p:nvPr/>
        </p:nvSpPr>
        <p:spPr>
          <a:xfrm flipH="false" flipV="false" rot="0">
            <a:off x="3389966" y="3428596"/>
            <a:ext cx="4775594" cy="2387797"/>
          </a:xfrm>
          <a:custGeom>
            <a:avLst/>
            <a:gdLst/>
            <a:ahLst/>
            <a:cxnLst/>
            <a:rect r="r" b="b" t="t" l="l"/>
            <a:pathLst>
              <a:path h="2387797" w="4775594">
                <a:moveTo>
                  <a:pt x="0" y="0"/>
                </a:moveTo>
                <a:lnTo>
                  <a:pt x="4775594" y="0"/>
                </a:lnTo>
                <a:lnTo>
                  <a:pt x="4775594" y="2387797"/>
                </a:lnTo>
                <a:lnTo>
                  <a:pt x="0" y="238779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8" id="28"/>
          <p:cNvSpPr/>
          <p:nvPr/>
        </p:nvSpPr>
        <p:spPr>
          <a:xfrm flipH="false" flipV="false" rot="0">
            <a:off x="10757387" y="3428596"/>
            <a:ext cx="1159098" cy="2175781"/>
          </a:xfrm>
          <a:custGeom>
            <a:avLst/>
            <a:gdLst/>
            <a:ahLst/>
            <a:cxnLst/>
            <a:rect r="r" b="b" t="t" l="l"/>
            <a:pathLst>
              <a:path h="2175781" w="1159098">
                <a:moveTo>
                  <a:pt x="0" y="0"/>
                </a:moveTo>
                <a:lnTo>
                  <a:pt x="1159098" y="0"/>
                </a:lnTo>
                <a:lnTo>
                  <a:pt x="1159098" y="2175781"/>
                </a:lnTo>
                <a:lnTo>
                  <a:pt x="0" y="217578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9" id="29"/>
          <p:cNvSpPr/>
          <p:nvPr/>
        </p:nvSpPr>
        <p:spPr>
          <a:xfrm flipH="false" flipV="false" rot="0">
            <a:off x="7140891" y="6034838"/>
            <a:ext cx="4775594" cy="2387797"/>
          </a:xfrm>
          <a:custGeom>
            <a:avLst/>
            <a:gdLst/>
            <a:ahLst/>
            <a:cxnLst/>
            <a:rect r="r" b="b" t="t" l="l"/>
            <a:pathLst>
              <a:path h="2387797" w="4775594">
                <a:moveTo>
                  <a:pt x="0" y="0"/>
                </a:moveTo>
                <a:lnTo>
                  <a:pt x="4775594" y="0"/>
                </a:lnTo>
                <a:lnTo>
                  <a:pt x="4775594" y="2387797"/>
                </a:lnTo>
                <a:lnTo>
                  <a:pt x="0" y="238779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30" id="30"/>
          <p:cNvSpPr txBox="true"/>
          <p:nvPr/>
        </p:nvSpPr>
        <p:spPr>
          <a:xfrm rot="0">
            <a:off x="4687208" y="3781425"/>
            <a:ext cx="3173553" cy="1466850"/>
          </a:xfrm>
          <a:prstGeom prst="rect">
            <a:avLst/>
          </a:prstGeom>
        </p:spPr>
        <p:txBody>
          <a:bodyPr anchor="t" rtlCol="false" tIns="0" lIns="0" bIns="0" rIns="0">
            <a:spAutoFit/>
          </a:bodyPr>
          <a:lstStyle/>
          <a:p>
            <a:pPr algn="l">
              <a:lnSpc>
                <a:spcPts val="5999"/>
              </a:lnSpc>
            </a:pPr>
            <a:r>
              <a:rPr lang="en-US" sz="3999">
                <a:solidFill>
                  <a:srgbClr val="FFFFFF"/>
                </a:solidFill>
                <a:latin typeface="Pixelated"/>
                <a:ea typeface="Pixelated"/>
                <a:cs typeface="Pixelated"/>
                <a:sym typeface="Pixelated"/>
              </a:rPr>
              <a:t>Shubhra</a:t>
            </a:r>
          </a:p>
          <a:p>
            <a:pPr algn="l" marL="0" indent="0" lvl="0">
              <a:lnSpc>
                <a:spcPts val="5999"/>
              </a:lnSpc>
              <a:spcBef>
                <a:spcPct val="0"/>
              </a:spcBef>
            </a:pPr>
          </a:p>
        </p:txBody>
      </p:sp>
      <p:sp>
        <p:nvSpPr>
          <p:cNvPr name="TextBox 31" id="31"/>
          <p:cNvSpPr txBox="true"/>
          <p:nvPr/>
        </p:nvSpPr>
        <p:spPr>
          <a:xfrm rot="0">
            <a:off x="2031352" y="2009371"/>
            <a:ext cx="14084886" cy="1238250"/>
          </a:xfrm>
          <a:prstGeom prst="rect">
            <a:avLst/>
          </a:prstGeom>
        </p:spPr>
        <p:txBody>
          <a:bodyPr anchor="t" rtlCol="false" tIns="0" lIns="0" bIns="0" rIns="0">
            <a:spAutoFit/>
          </a:bodyPr>
          <a:lstStyle/>
          <a:p>
            <a:pPr algn="ctr" marL="0" indent="0" lvl="0">
              <a:lnSpc>
                <a:spcPts val="9600"/>
              </a:lnSpc>
              <a:spcBef>
                <a:spcPct val="0"/>
              </a:spcBef>
            </a:pPr>
            <a:r>
              <a:rPr lang="en-US" sz="8000">
                <a:solidFill>
                  <a:srgbClr val="FFFFFF"/>
                </a:solidFill>
                <a:latin typeface="VT323"/>
                <a:ea typeface="VT323"/>
                <a:cs typeface="VT323"/>
                <a:sym typeface="VT323"/>
              </a:rPr>
              <a:t>OUR TEAM</a:t>
            </a:r>
          </a:p>
        </p:txBody>
      </p:sp>
      <p:sp>
        <p:nvSpPr>
          <p:cNvPr name="TextBox 32" id="32"/>
          <p:cNvSpPr txBox="true"/>
          <p:nvPr/>
        </p:nvSpPr>
        <p:spPr>
          <a:xfrm rot="0">
            <a:off x="8289385" y="6469380"/>
            <a:ext cx="3288760" cy="1466850"/>
          </a:xfrm>
          <a:prstGeom prst="rect">
            <a:avLst/>
          </a:prstGeom>
        </p:spPr>
        <p:txBody>
          <a:bodyPr anchor="t" rtlCol="false" tIns="0" lIns="0" bIns="0" rIns="0">
            <a:spAutoFit/>
          </a:bodyPr>
          <a:lstStyle/>
          <a:p>
            <a:pPr algn="l">
              <a:lnSpc>
                <a:spcPts val="5999"/>
              </a:lnSpc>
            </a:pPr>
            <a:r>
              <a:rPr lang="en-US" sz="3999">
                <a:solidFill>
                  <a:srgbClr val="FFFFFF"/>
                </a:solidFill>
                <a:latin typeface="Pixelated"/>
                <a:ea typeface="Pixelated"/>
                <a:cs typeface="Pixelated"/>
                <a:sym typeface="Pixelated"/>
              </a:rPr>
              <a:t>Shreya </a:t>
            </a:r>
          </a:p>
          <a:p>
            <a:pPr algn="l" marL="0" indent="0" lvl="0">
              <a:lnSpc>
                <a:spcPts val="5999"/>
              </a:lnSpc>
              <a:spcBef>
                <a:spcPct val="0"/>
              </a:spcBef>
            </a:pPr>
            <a:r>
              <a:rPr lang="en-US" sz="3999">
                <a:solidFill>
                  <a:srgbClr val="FFFFFF"/>
                </a:solidFill>
                <a:latin typeface="Pixelated"/>
                <a:ea typeface="Pixelated"/>
                <a:cs typeface="Pixelated"/>
                <a:sym typeface="Pixelated"/>
              </a:rPr>
              <a:t>Mete</a:t>
            </a:r>
          </a:p>
        </p:txBody>
      </p:sp>
      <p:sp>
        <p:nvSpPr>
          <p:cNvPr name="TextBox 33" id="33"/>
          <p:cNvSpPr txBox="true"/>
          <p:nvPr/>
        </p:nvSpPr>
        <p:spPr>
          <a:xfrm rot="0">
            <a:off x="12543540" y="3776875"/>
            <a:ext cx="3207821" cy="1466850"/>
          </a:xfrm>
          <a:prstGeom prst="rect">
            <a:avLst/>
          </a:prstGeom>
        </p:spPr>
        <p:txBody>
          <a:bodyPr anchor="t" rtlCol="false" tIns="0" lIns="0" bIns="0" rIns="0">
            <a:spAutoFit/>
          </a:bodyPr>
          <a:lstStyle/>
          <a:p>
            <a:pPr algn="l">
              <a:lnSpc>
                <a:spcPts val="5999"/>
              </a:lnSpc>
            </a:pPr>
            <a:r>
              <a:rPr lang="en-US" sz="3999">
                <a:solidFill>
                  <a:srgbClr val="FFFFFF"/>
                </a:solidFill>
                <a:latin typeface="Pixelated"/>
                <a:ea typeface="Pixelated"/>
                <a:cs typeface="Pixelated"/>
                <a:sym typeface="Pixelated"/>
              </a:rPr>
              <a:t>Shreya</a:t>
            </a:r>
          </a:p>
          <a:p>
            <a:pPr algn="l" marL="0" indent="0" lvl="0">
              <a:lnSpc>
                <a:spcPts val="5999"/>
              </a:lnSpc>
              <a:spcBef>
                <a:spcPct val="0"/>
              </a:spcBef>
            </a:pPr>
            <a:r>
              <a:rPr lang="en-US" sz="3999">
                <a:solidFill>
                  <a:srgbClr val="FFFFFF"/>
                </a:solidFill>
                <a:latin typeface="Pixelated"/>
                <a:ea typeface="Pixelated"/>
                <a:cs typeface="Pixelated"/>
                <a:sym typeface="Pixelated"/>
              </a:rPr>
              <a:t>Singh Senger</a:t>
            </a:r>
          </a:p>
        </p:txBody>
      </p:sp>
      <p:sp>
        <p:nvSpPr>
          <p:cNvPr name="Freeform 34" id="34"/>
          <p:cNvSpPr/>
          <p:nvPr/>
        </p:nvSpPr>
        <p:spPr>
          <a:xfrm flipH="false" flipV="false" rot="0">
            <a:off x="2969975" y="3534604"/>
            <a:ext cx="1159098" cy="2175781"/>
          </a:xfrm>
          <a:custGeom>
            <a:avLst/>
            <a:gdLst/>
            <a:ahLst/>
            <a:cxnLst/>
            <a:rect r="r" b="b" t="t" l="l"/>
            <a:pathLst>
              <a:path h="2175781" w="1159098">
                <a:moveTo>
                  <a:pt x="0" y="0"/>
                </a:moveTo>
                <a:lnTo>
                  <a:pt x="1159098" y="0"/>
                </a:lnTo>
                <a:lnTo>
                  <a:pt x="1159098" y="2175781"/>
                </a:lnTo>
                <a:lnTo>
                  <a:pt x="0" y="217578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5" id="35"/>
          <p:cNvSpPr/>
          <p:nvPr/>
        </p:nvSpPr>
        <p:spPr>
          <a:xfrm flipH="false" flipV="false" rot="0">
            <a:off x="6721151" y="6034838"/>
            <a:ext cx="1159098" cy="2175781"/>
          </a:xfrm>
          <a:custGeom>
            <a:avLst/>
            <a:gdLst/>
            <a:ahLst/>
            <a:cxnLst/>
            <a:rect r="r" b="b" t="t" l="l"/>
            <a:pathLst>
              <a:path h="2175781" w="1159098">
                <a:moveTo>
                  <a:pt x="0" y="0"/>
                </a:moveTo>
                <a:lnTo>
                  <a:pt x="1159098" y="0"/>
                </a:lnTo>
                <a:lnTo>
                  <a:pt x="1159098" y="2175781"/>
                </a:lnTo>
                <a:lnTo>
                  <a:pt x="0" y="217578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297"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1492416" y="1482140"/>
            <a:ext cx="15220604" cy="7661860"/>
            <a:chOff x="0" y="0"/>
            <a:chExt cx="4008719" cy="2017938"/>
          </a:xfrm>
        </p:grpSpPr>
        <p:sp>
          <p:nvSpPr>
            <p:cNvPr name="Freeform 16" id="16"/>
            <p:cNvSpPr/>
            <p:nvPr/>
          </p:nvSpPr>
          <p:spPr>
            <a:xfrm flipH="false" flipV="false" rot="0">
              <a:off x="0" y="0"/>
              <a:ext cx="4008718" cy="2017938"/>
            </a:xfrm>
            <a:custGeom>
              <a:avLst/>
              <a:gdLst/>
              <a:ahLst/>
              <a:cxnLst/>
              <a:rect r="r" b="b" t="t" l="l"/>
              <a:pathLst>
                <a:path h="2017938" w="4008718">
                  <a:moveTo>
                    <a:pt x="25941" y="0"/>
                  </a:moveTo>
                  <a:lnTo>
                    <a:pt x="3982777" y="0"/>
                  </a:lnTo>
                  <a:cubicBezTo>
                    <a:pt x="3997104" y="0"/>
                    <a:pt x="4008718" y="11614"/>
                    <a:pt x="4008718" y="25941"/>
                  </a:cubicBezTo>
                  <a:lnTo>
                    <a:pt x="4008718" y="1991997"/>
                  </a:lnTo>
                  <a:cubicBezTo>
                    <a:pt x="4008718" y="1998877"/>
                    <a:pt x="4005985" y="2005476"/>
                    <a:pt x="4001121" y="2010340"/>
                  </a:cubicBezTo>
                  <a:cubicBezTo>
                    <a:pt x="3996256" y="2015205"/>
                    <a:pt x="3989658" y="2017938"/>
                    <a:pt x="3982777" y="2017938"/>
                  </a:cubicBezTo>
                  <a:lnTo>
                    <a:pt x="25941" y="2017938"/>
                  </a:lnTo>
                  <a:cubicBezTo>
                    <a:pt x="19061" y="2017938"/>
                    <a:pt x="12463" y="2015205"/>
                    <a:pt x="7598" y="2010340"/>
                  </a:cubicBezTo>
                  <a:cubicBezTo>
                    <a:pt x="2733" y="2005476"/>
                    <a:pt x="0" y="1998877"/>
                    <a:pt x="0" y="1991997"/>
                  </a:cubicBezTo>
                  <a:lnTo>
                    <a:pt x="0" y="25941"/>
                  </a:lnTo>
                  <a:cubicBezTo>
                    <a:pt x="0" y="19061"/>
                    <a:pt x="2733" y="12463"/>
                    <a:pt x="7598" y="7598"/>
                  </a:cubicBezTo>
                  <a:cubicBezTo>
                    <a:pt x="12463" y="2733"/>
                    <a:pt x="19061" y="0"/>
                    <a:pt x="25941"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008719" cy="2056038"/>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5" id="25"/>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8820249" y="1897884"/>
            <a:ext cx="7315200" cy="1582743"/>
          </a:xfrm>
          <a:custGeom>
            <a:avLst/>
            <a:gdLst/>
            <a:ahLst/>
            <a:cxnLst/>
            <a:rect r="r" b="b" t="t" l="l"/>
            <a:pathLst>
              <a:path h="1582743" w="7315200">
                <a:moveTo>
                  <a:pt x="0" y="0"/>
                </a:moveTo>
                <a:lnTo>
                  <a:pt x="7315200" y="0"/>
                </a:lnTo>
                <a:lnTo>
                  <a:pt x="7315200" y="1582744"/>
                </a:lnTo>
                <a:lnTo>
                  <a:pt x="0" y="158274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7" id="27"/>
          <p:cNvSpPr/>
          <p:nvPr/>
        </p:nvSpPr>
        <p:spPr>
          <a:xfrm flipH="false" flipV="false" rot="0">
            <a:off x="8833272" y="3647094"/>
            <a:ext cx="7315200" cy="1582743"/>
          </a:xfrm>
          <a:custGeom>
            <a:avLst/>
            <a:gdLst/>
            <a:ahLst/>
            <a:cxnLst/>
            <a:rect r="r" b="b" t="t" l="l"/>
            <a:pathLst>
              <a:path h="1582743" w="7315200">
                <a:moveTo>
                  <a:pt x="0" y="0"/>
                </a:moveTo>
                <a:lnTo>
                  <a:pt x="7315200" y="0"/>
                </a:lnTo>
                <a:lnTo>
                  <a:pt x="7315200" y="1582743"/>
                </a:lnTo>
                <a:lnTo>
                  <a:pt x="0" y="158274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8" id="28"/>
          <p:cNvSpPr/>
          <p:nvPr/>
        </p:nvSpPr>
        <p:spPr>
          <a:xfrm flipH="false" flipV="false" rot="0">
            <a:off x="8846294" y="5396303"/>
            <a:ext cx="7315200" cy="1582743"/>
          </a:xfrm>
          <a:custGeom>
            <a:avLst/>
            <a:gdLst/>
            <a:ahLst/>
            <a:cxnLst/>
            <a:rect r="r" b="b" t="t" l="l"/>
            <a:pathLst>
              <a:path h="1582743" w="7315200">
                <a:moveTo>
                  <a:pt x="0" y="0"/>
                </a:moveTo>
                <a:lnTo>
                  <a:pt x="7315200" y="0"/>
                </a:lnTo>
                <a:lnTo>
                  <a:pt x="7315200" y="1582743"/>
                </a:lnTo>
                <a:lnTo>
                  <a:pt x="0" y="158274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9" id="29"/>
          <p:cNvSpPr/>
          <p:nvPr/>
        </p:nvSpPr>
        <p:spPr>
          <a:xfrm flipH="false" flipV="false" rot="0">
            <a:off x="8859317" y="7145512"/>
            <a:ext cx="7315200" cy="1582743"/>
          </a:xfrm>
          <a:custGeom>
            <a:avLst/>
            <a:gdLst/>
            <a:ahLst/>
            <a:cxnLst/>
            <a:rect r="r" b="b" t="t" l="l"/>
            <a:pathLst>
              <a:path h="1582743" w="7315200">
                <a:moveTo>
                  <a:pt x="0" y="0"/>
                </a:moveTo>
                <a:lnTo>
                  <a:pt x="7315200" y="0"/>
                </a:lnTo>
                <a:lnTo>
                  <a:pt x="7315200" y="1582744"/>
                </a:lnTo>
                <a:lnTo>
                  <a:pt x="0" y="158274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30" id="30"/>
          <p:cNvSpPr/>
          <p:nvPr/>
        </p:nvSpPr>
        <p:spPr>
          <a:xfrm flipH="false" flipV="false" rot="0">
            <a:off x="7746873" y="2298735"/>
            <a:ext cx="837374" cy="781042"/>
          </a:xfrm>
          <a:custGeom>
            <a:avLst/>
            <a:gdLst/>
            <a:ahLst/>
            <a:cxnLst/>
            <a:rect r="r" b="b" t="t" l="l"/>
            <a:pathLst>
              <a:path h="781042" w="837374">
                <a:moveTo>
                  <a:pt x="0" y="0"/>
                </a:moveTo>
                <a:lnTo>
                  <a:pt x="837374" y="0"/>
                </a:lnTo>
                <a:lnTo>
                  <a:pt x="837374" y="781042"/>
                </a:lnTo>
                <a:lnTo>
                  <a:pt x="0" y="78104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31" id="31"/>
          <p:cNvSpPr txBox="true"/>
          <p:nvPr/>
        </p:nvSpPr>
        <p:spPr>
          <a:xfrm rot="0">
            <a:off x="1910111" y="5585066"/>
            <a:ext cx="5879036" cy="1238250"/>
          </a:xfrm>
          <a:prstGeom prst="rect">
            <a:avLst/>
          </a:prstGeom>
        </p:spPr>
        <p:txBody>
          <a:bodyPr anchor="t" rtlCol="false" tIns="0" lIns="0" bIns="0" rIns="0">
            <a:spAutoFit/>
          </a:bodyPr>
          <a:lstStyle/>
          <a:p>
            <a:pPr algn="ctr" marL="0" indent="0" lvl="0">
              <a:lnSpc>
                <a:spcPts val="9600"/>
              </a:lnSpc>
              <a:spcBef>
                <a:spcPct val="0"/>
              </a:spcBef>
            </a:pPr>
            <a:r>
              <a:rPr lang="en-US" sz="8000">
                <a:solidFill>
                  <a:srgbClr val="FFFFFF"/>
                </a:solidFill>
                <a:latin typeface="VT323"/>
                <a:ea typeface="VT323"/>
                <a:cs typeface="VT323"/>
                <a:sym typeface="VT323"/>
              </a:rPr>
              <a:t>OVERVIEW</a:t>
            </a:r>
          </a:p>
        </p:txBody>
      </p:sp>
      <p:sp>
        <p:nvSpPr>
          <p:cNvPr name="Freeform 32" id="32"/>
          <p:cNvSpPr/>
          <p:nvPr/>
        </p:nvSpPr>
        <p:spPr>
          <a:xfrm flipH="false" flipV="false" rot="0">
            <a:off x="7746873" y="4047944"/>
            <a:ext cx="837374" cy="781042"/>
          </a:xfrm>
          <a:custGeom>
            <a:avLst/>
            <a:gdLst/>
            <a:ahLst/>
            <a:cxnLst/>
            <a:rect r="r" b="b" t="t" l="l"/>
            <a:pathLst>
              <a:path h="781042" w="837374">
                <a:moveTo>
                  <a:pt x="0" y="0"/>
                </a:moveTo>
                <a:lnTo>
                  <a:pt x="837374" y="0"/>
                </a:lnTo>
                <a:lnTo>
                  <a:pt x="837374" y="781042"/>
                </a:lnTo>
                <a:lnTo>
                  <a:pt x="0" y="78104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3" id="33"/>
          <p:cNvSpPr/>
          <p:nvPr/>
        </p:nvSpPr>
        <p:spPr>
          <a:xfrm flipH="false" flipV="false" rot="0">
            <a:off x="7746873" y="5797154"/>
            <a:ext cx="837374" cy="781042"/>
          </a:xfrm>
          <a:custGeom>
            <a:avLst/>
            <a:gdLst/>
            <a:ahLst/>
            <a:cxnLst/>
            <a:rect r="r" b="b" t="t" l="l"/>
            <a:pathLst>
              <a:path h="781042" w="837374">
                <a:moveTo>
                  <a:pt x="0" y="0"/>
                </a:moveTo>
                <a:lnTo>
                  <a:pt x="837374" y="0"/>
                </a:lnTo>
                <a:lnTo>
                  <a:pt x="837374" y="781042"/>
                </a:lnTo>
                <a:lnTo>
                  <a:pt x="0" y="78104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4" id="34"/>
          <p:cNvSpPr/>
          <p:nvPr/>
        </p:nvSpPr>
        <p:spPr>
          <a:xfrm flipH="false" flipV="false" rot="0">
            <a:off x="7746873" y="7546363"/>
            <a:ext cx="837374" cy="781042"/>
          </a:xfrm>
          <a:custGeom>
            <a:avLst/>
            <a:gdLst/>
            <a:ahLst/>
            <a:cxnLst/>
            <a:rect r="r" b="b" t="t" l="l"/>
            <a:pathLst>
              <a:path h="781042" w="837374">
                <a:moveTo>
                  <a:pt x="0" y="0"/>
                </a:moveTo>
                <a:lnTo>
                  <a:pt x="837374" y="0"/>
                </a:lnTo>
                <a:lnTo>
                  <a:pt x="837374" y="781042"/>
                </a:lnTo>
                <a:lnTo>
                  <a:pt x="0" y="78104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5" id="35"/>
          <p:cNvSpPr/>
          <p:nvPr/>
        </p:nvSpPr>
        <p:spPr>
          <a:xfrm flipH="false" flipV="false" rot="0">
            <a:off x="3963271" y="3802824"/>
            <a:ext cx="1772717" cy="1772717"/>
          </a:xfrm>
          <a:custGeom>
            <a:avLst/>
            <a:gdLst/>
            <a:ahLst/>
            <a:cxnLst/>
            <a:rect r="r" b="b" t="t" l="l"/>
            <a:pathLst>
              <a:path h="1772717" w="1772717">
                <a:moveTo>
                  <a:pt x="0" y="0"/>
                </a:moveTo>
                <a:lnTo>
                  <a:pt x="1772717" y="0"/>
                </a:lnTo>
                <a:lnTo>
                  <a:pt x="1772717" y="1772717"/>
                </a:lnTo>
                <a:lnTo>
                  <a:pt x="0" y="177271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36" id="36"/>
          <p:cNvSpPr txBox="true"/>
          <p:nvPr/>
        </p:nvSpPr>
        <p:spPr>
          <a:xfrm rot="0">
            <a:off x="9140777" y="2274918"/>
            <a:ext cx="6674145" cy="714375"/>
          </a:xfrm>
          <a:prstGeom prst="rect">
            <a:avLst/>
          </a:prstGeom>
        </p:spPr>
        <p:txBody>
          <a:bodyPr anchor="t" rtlCol="false" tIns="0" lIns="0" bIns="0" rIns="0">
            <a:spAutoFit/>
          </a:bodyPr>
          <a:lstStyle/>
          <a:p>
            <a:pPr algn="ctr" marL="0" indent="0" lvl="0">
              <a:lnSpc>
                <a:spcPts val="5999"/>
              </a:lnSpc>
              <a:spcBef>
                <a:spcPct val="0"/>
              </a:spcBef>
            </a:pPr>
            <a:r>
              <a:rPr lang="en-US" sz="3999">
                <a:solidFill>
                  <a:srgbClr val="000000"/>
                </a:solidFill>
                <a:latin typeface="Pixelated"/>
                <a:ea typeface="Pixelated"/>
                <a:cs typeface="Pixelated"/>
                <a:sym typeface="Pixelated"/>
              </a:rPr>
              <a:t>Local &amp; Remote  Data</a:t>
            </a:r>
          </a:p>
        </p:txBody>
      </p:sp>
      <p:sp>
        <p:nvSpPr>
          <p:cNvPr name="TextBox 37" id="37"/>
          <p:cNvSpPr txBox="true"/>
          <p:nvPr/>
        </p:nvSpPr>
        <p:spPr>
          <a:xfrm rot="0">
            <a:off x="9166822" y="4024128"/>
            <a:ext cx="6674145" cy="714375"/>
          </a:xfrm>
          <a:prstGeom prst="rect">
            <a:avLst/>
          </a:prstGeom>
        </p:spPr>
        <p:txBody>
          <a:bodyPr anchor="t" rtlCol="false" tIns="0" lIns="0" bIns="0" rIns="0">
            <a:spAutoFit/>
          </a:bodyPr>
          <a:lstStyle/>
          <a:p>
            <a:pPr algn="ctr" marL="0" indent="0" lvl="0">
              <a:lnSpc>
                <a:spcPts val="5999"/>
              </a:lnSpc>
              <a:spcBef>
                <a:spcPct val="0"/>
              </a:spcBef>
            </a:pPr>
            <a:r>
              <a:rPr lang="en-US" sz="3999">
                <a:solidFill>
                  <a:srgbClr val="000000"/>
                </a:solidFill>
                <a:latin typeface="Pixelated"/>
                <a:ea typeface="Pixelated"/>
                <a:cs typeface="Pixelated"/>
                <a:sym typeface="Pixelated"/>
              </a:rPr>
              <a:t>Data Persistence</a:t>
            </a:r>
          </a:p>
        </p:txBody>
      </p:sp>
      <p:sp>
        <p:nvSpPr>
          <p:cNvPr name="TextBox 38" id="38"/>
          <p:cNvSpPr txBox="true"/>
          <p:nvPr/>
        </p:nvSpPr>
        <p:spPr>
          <a:xfrm rot="0">
            <a:off x="10054668" y="5611256"/>
            <a:ext cx="5173723" cy="1143732"/>
          </a:xfrm>
          <a:prstGeom prst="rect">
            <a:avLst/>
          </a:prstGeom>
        </p:spPr>
        <p:txBody>
          <a:bodyPr anchor="t" rtlCol="false" tIns="0" lIns="0" bIns="0" rIns="0">
            <a:spAutoFit/>
          </a:bodyPr>
          <a:lstStyle/>
          <a:p>
            <a:pPr algn="ctr" marL="0" indent="0" lvl="0">
              <a:lnSpc>
                <a:spcPts val="4651"/>
              </a:lnSpc>
              <a:spcBef>
                <a:spcPct val="0"/>
              </a:spcBef>
            </a:pPr>
            <a:r>
              <a:rPr lang="en-US" sz="3100">
                <a:solidFill>
                  <a:srgbClr val="000000"/>
                </a:solidFill>
                <a:latin typeface="Pixelated"/>
                <a:ea typeface="Pixelated"/>
                <a:cs typeface="Pixelated"/>
                <a:sym typeface="Pixelated"/>
              </a:rPr>
              <a:t>Shared Preferences  for Preferences</a:t>
            </a:r>
          </a:p>
        </p:txBody>
      </p:sp>
      <p:sp>
        <p:nvSpPr>
          <p:cNvPr name="TextBox 39" id="39"/>
          <p:cNvSpPr txBox="true"/>
          <p:nvPr/>
        </p:nvSpPr>
        <p:spPr>
          <a:xfrm rot="0">
            <a:off x="9166822" y="7540446"/>
            <a:ext cx="6674145" cy="714375"/>
          </a:xfrm>
          <a:prstGeom prst="rect">
            <a:avLst/>
          </a:prstGeom>
        </p:spPr>
        <p:txBody>
          <a:bodyPr anchor="t" rtlCol="false" tIns="0" lIns="0" bIns="0" rIns="0">
            <a:spAutoFit/>
          </a:bodyPr>
          <a:lstStyle/>
          <a:p>
            <a:pPr algn="ctr" marL="0" indent="0" lvl="0">
              <a:lnSpc>
                <a:spcPts val="5999"/>
              </a:lnSpc>
              <a:spcBef>
                <a:spcPct val="0"/>
              </a:spcBef>
            </a:pPr>
            <a:r>
              <a:rPr lang="en-US" sz="3999">
                <a:solidFill>
                  <a:srgbClr val="000000"/>
                </a:solidFill>
                <a:latin typeface="Pixelated"/>
                <a:ea typeface="Pixelated"/>
                <a:cs typeface="Pixelated"/>
                <a:sym typeface="Pixelated"/>
              </a:rPr>
              <a:t>Application Settings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766849" y="1028700"/>
            <a:ext cx="16754302" cy="8854747"/>
            <a:chOff x="0" y="0"/>
            <a:chExt cx="4412656" cy="2332115"/>
          </a:xfrm>
        </p:grpSpPr>
        <p:sp>
          <p:nvSpPr>
            <p:cNvPr name="Freeform 16" id="16"/>
            <p:cNvSpPr/>
            <p:nvPr/>
          </p:nvSpPr>
          <p:spPr>
            <a:xfrm flipH="false" flipV="false" rot="0">
              <a:off x="0" y="0"/>
              <a:ext cx="4412655" cy="2332114"/>
            </a:xfrm>
            <a:custGeom>
              <a:avLst/>
              <a:gdLst/>
              <a:ahLst/>
              <a:cxnLst/>
              <a:rect r="r" b="b" t="t" l="l"/>
              <a:pathLst>
                <a:path h="2332114" w="4412655">
                  <a:moveTo>
                    <a:pt x="23566" y="0"/>
                  </a:moveTo>
                  <a:lnTo>
                    <a:pt x="4389089" y="0"/>
                  </a:lnTo>
                  <a:cubicBezTo>
                    <a:pt x="4395339" y="0"/>
                    <a:pt x="4401334" y="2483"/>
                    <a:pt x="4405753" y="6902"/>
                  </a:cubicBezTo>
                  <a:cubicBezTo>
                    <a:pt x="4410173" y="11322"/>
                    <a:pt x="4412655" y="17316"/>
                    <a:pt x="4412655" y="23566"/>
                  </a:cubicBezTo>
                  <a:lnTo>
                    <a:pt x="4412655" y="2308548"/>
                  </a:lnTo>
                  <a:cubicBezTo>
                    <a:pt x="4412655" y="2314798"/>
                    <a:pt x="4410173" y="2320792"/>
                    <a:pt x="4405753" y="2325212"/>
                  </a:cubicBezTo>
                  <a:cubicBezTo>
                    <a:pt x="4401334" y="2329632"/>
                    <a:pt x="4395339" y="2332114"/>
                    <a:pt x="4389089" y="2332114"/>
                  </a:cubicBezTo>
                  <a:lnTo>
                    <a:pt x="23566" y="2332114"/>
                  </a:lnTo>
                  <a:cubicBezTo>
                    <a:pt x="17316" y="2332114"/>
                    <a:pt x="11322" y="2329632"/>
                    <a:pt x="6902" y="2325212"/>
                  </a:cubicBezTo>
                  <a:cubicBezTo>
                    <a:pt x="2483" y="2320792"/>
                    <a:pt x="0" y="2314798"/>
                    <a:pt x="0" y="2308548"/>
                  </a:cubicBezTo>
                  <a:lnTo>
                    <a:pt x="0" y="23566"/>
                  </a:lnTo>
                  <a:cubicBezTo>
                    <a:pt x="0" y="17316"/>
                    <a:pt x="2483" y="11322"/>
                    <a:pt x="6902" y="6902"/>
                  </a:cubicBezTo>
                  <a:cubicBezTo>
                    <a:pt x="11322" y="2483"/>
                    <a:pt x="17316" y="0"/>
                    <a:pt x="23566"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412656" cy="2370215"/>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4" id="24"/>
          <p:cNvSpPr txBox="true"/>
          <p:nvPr/>
        </p:nvSpPr>
        <p:spPr>
          <a:xfrm rot="0">
            <a:off x="1763405" y="1019175"/>
            <a:ext cx="14411112" cy="933450"/>
          </a:xfrm>
          <a:prstGeom prst="rect">
            <a:avLst/>
          </a:prstGeom>
        </p:spPr>
        <p:txBody>
          <a:bodyPr anchor="t" rtlCol="false" tIns="0" lIns="0" bIns="0" rIns="0">
            <a:spAutoFit/>
          </a:bodyPr>
          <a:lstStyle/>
          <a:p>
            <a:pPr algn="ctr" marL="0" indent="0" lvl="0">
              <a:lnSpc>
                <a:spcPts val="7320"/>
              </a:lnSpc>
              <a:spcBef>
                <a:spcPct val="0"/>
              </a:spcBef>
            </a:pPr>
            <a:r>
              <a:rPr lang="en-US" sz="6100">
                <a:solidFill>
                  <a:srgbClr val="FFFFFF"/>
                </a:solidFill>
                <a:latin typeface="VT323"/>
                <a:ea typeface="VT323"/>
                <a:cs typeface="VT323"/>
                <a:sym typeface="VT323"/>
              </a:rPr>
              <a:t>LOCAL DATA </a:t>
            </a:r>
          </a:p>
        </p:txBody>
      </p:sp>
      <p:sp>
        <p:nvSpPr>
          <p:cNvPr name="Freeform 25" id="25"/>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7" id="27"/>
          <p:cNvSpPr txBox="true"/>
          <p:nvPr/>
        </p:nvSpPr>
        <p:spPr>
          <a:xfrm rot="0">
            <a:off x="1533698" y="2150401"/>
            <a:ext cx="15714890" cy="7877814"/>
          </a:xfrm>
          <a:prstGeom prst="rect">
            <a:avLst/>
          </a:prstGeom>
        </p:spPr>
        <p:txBody>
          <a:bodyPr anchor="t" rtlCol="false" tIns="0" lIns="0" bIns="0" rIns="0">
            <a:spAutoFit/>
          </a:bodyPr>
          <a:lstStyle/>
          <a:p>
            <a:pPr algn="l">
              <a:lnSpc>
                <a:spcPts val="5214"/>
              </a:lnSpc>
            </a:pPr>
            <a:r>
              <a:rPr lang="en-US" sz="3724" b="true">
                <a:solidFill>
                  <a:srgbClr val="FFFFFF"/>
                </a:solidFill>
                <a:latin typeface="Canva Sans Bold"/>
                <a:ea typeface="Canva Sans Bold"/>
                <a:cs typeface="Canva Sans Bold"/>
                <a:sym typeface="Canva Sans Bold"/>
              </a:rPr>
              <a:t>Local data is the information that an application stores directly on your device, such as your mobile phone, laptop, or computer, instead of storing it on an online server.</a:t>
            </a:r>
          </a:p>
          <a:p>
            <a:pPr algn="l" marL="804194" indent="-402097" lvl="1">
              <a:lnSpc>
                <a:spcPts val="5214"/>
              </a:lnSpc>
              <a:buFont typeface="Arial"/>
              <a:buChar char="•"/>
            </a:pPr>
            <a:r>
              <a:rPr lang="en-US" b="true" sz="3724">
                <a:solidFill>
                  <a:srgbClr val="FFFFFF"/>
                </a:solidFill>
                <a:latin typeface="Canva Sans Bold"/>
                <a:ea typeface="Canva Sans Bold"/>
                <a:cs typeface="Canva Sans Bold"/>
                <a:sym typeface="Canva Sans Bold"/>
              </a:rPr>
              <a:t>For example, imagine you download a shopping app on your phone. You open the app and change its theme from light mode to dark mode.</a:t>
            </a:r>
          </a:p>
          <a:p>
            <a:pPr algn="l">
              <a:lnSpc>
                <a:spcPts val="5214"/>
              </a:lnSpc>
            </a:pPr>
            <a:r>
              <a:rPr lang="en-US" sz="3724" b="true">
                <a:solidFill>
                  <a:srgbClr val="FFFFFF"/>
                </a:solidFill>
                <a:latin typeface="Canva Sans Bold"/>
                <a:ea typeface="Canva Sans Bold"/>
                <a:cs typeface="Canva Sans Bold"/>
                <a:sym typeface="Canva Sans Bold"/>
              </a:rPr>
              <a:t>When you close and reopen the app, it still opens in dark mode. Why?</a:t>
            </a:r>
          </a:p>
          <a:p>
            <a:pPr algn="l">
              <a:lnSpc>
                <a:spcPts val="5214"/>
              </a:lnSpc>
            </a:pPr>
            <a:r>
              <a:rPr lang="en-US" sz="3724" b="true">
                <a:solidFill>
                  <a:srgbClr val="FFFFFF"/>
                </a:solidFill>
                <a:latin typeface="Canva Sans Bold"/>
                <a:ea typeface="Canva Sans Bold"/>
                <a:cs typeface="Canva Sans Bold"/>
                <a:sym typeface="Canva Sans Bold"/>
              </a:rPr>
              <a:t>Because the app has saved your dark-mode preference locally on your phone. It doesn't need to ask an online server every time you open the app.</a:t>
            </a:r>
          </a:p>
          <a:p>
            <a:pPr algn="l">
              <a:lnSpc>
                <a:spcPts val="5214"/>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766849" y="1028700"/>
            <a:ext cx="16754302" cy="8854747"/>
            <a:chOff x="0" y="0"/>
            <a:chExt cx="4412656" cy="2332115"/>
          </a:xfrm>
        </p:grpSpPr>
        <p:sp>
          <p:nvSpPr>
            <p:cNvPr name="Freeform 16" id="16"/>
            <p:cNvSpPr/>
            <p:nvPr/>
          </p:nvSpPr>
          <p:spPr>
            <a:xfrm flipH="false" flipV="false" rot="0">
              <a:off x="0" y="0"/>
              <a:ext cx="4412655" cy="2332114"/>
            </a:xfrm>
            <a:custGeom>
              <a:avLst/>
              <a:gdLst/>
              <a:ahLst/>
              <a:cxnLst/>
              <a:rect r="r" b="b" t="t" l="l"/>
              <a:pathLst>
                <a:path h="2332114" w="4412655">
                  <a:moveTo>
                    <a:pt x="23566" y="0"/>
                  </a:moveTo>
                  <a:lnTo>
                    <a:pt x="4389089" y="0"/>
                  </a:lnTo>
                  <a:cubicBezTo>
                    <a:pt x="4395339" y="0"/>
                    <a:pt x="4401334" y="2483"/>
                    <a:pt x="4405753" y="6902"/>
                  </a:cubicBezTo>
                  <a:cubicBezTo>
                    <a:pt x="4410173" y="11322"/>
                    <a:pt x="4412655" y="17316"/>
                    <a:pt x="4412655" y="23566"/>
                  </a:cubicBezTo>
                  <a:lnTo>
                    <a:pt x="4412655" y="2308548"/>
                  </a:lnTo>
                  <a:cubicBezTo>
                    <a:pt x="4412655" y="2314798"/>
                    <a:pt x="4410173" y="2320792"/>
                    <a:pt x="4405753" y="2325212"/>
                  </a:cubicBezTo>
                  <a:cubicBezTo>
                    <a:pt x="4401334" y="2329632"/>
                    <a:pt x="4395339" y="2332114"/>
                    <a:pt x="4389089" y="2332114"/>
                  </a:cubicBezTo>
                  <a:lnTo>
                    <a:pt x="23566" y="2332114"/>
                  </a:lnTo>
                  <a:cubicBezTo>
                    <a:pt x="17316" y="2332114"/>
                    <a:pt x="11322" y="2329632"/>
                    <a:pt x="6902" y="2325212"/>
                  </a:cubicBezTo>
                  <a:cubicBezTo>
                    <a:pt x="2483" y="2320792"/>
                    <a:pt x="0" y="2314798"/>
                    <a:pt x="0" y="2308548"/>
                  </a:cubicBezTo>
                  <a:lnTo>
                    <a:pt x="0" y="23566"/>
                  </a:lnTo>
                  <a:cubicBezTo>
                    <a:pt x="0" y="17316"/>
                    <a:pt x="2483" y="11322"/>
                    <a:pt x="6902" y="6902"/>
                  </a:cubicBezTo>
                  <a:cubicBezTo>
                    <a:pt x="11322" y="2483"/>
                    <a:pt x="17316" y="0"/>
                    <a:pt x="23566"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412656" cy="2370215"/>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4" id="24"/>
          <p:cNvSpPr txBox="true"/>
          <p:nvPr/>
        </p:nvSpPr>
        <p:spPr>
          <a:xfrm rot="0">
            <a:off x="1763405" y="1019175"/>
            <a:ext cx="14411112" cy="933450"/>
          </a:xfrm>
          <a:prstGeom prst="rect">
            <a:avLst/>
          </a:prstGeom>
        </p:spPr>
        <p:txBody>
          <a:bodyPr anchor="t" rtlCol="false" tIns="0" lIns="0" bIns="0" rIns="0">
            <a:spAutoFit/>
          </a:bodyPr>
          <a:lstStyle/>
          <a:p>
            <a:pPr algn="ctr" marL="0" indent="0" lvl="0">
              <a:lnSpc>
                <a:spcPts val="7320"/>
              </a:lnSpc>
              <a:spcBef>
                <a:spcPct val="0"/>
              </a:spcBef>
            </a:pPr>
            <a:r>
              <a:rPr lang="en-US" sz="6100">
                <a:solidFill>
                  <a:srgbClr val="FFFFFF"/>
                </a:solidFill>
                <a:latin typeface="VT323"/>
                <a:ea typeface="VT323"/>
                <a:cs typeface="VT323"/>
                <a:sym typeface="VT323"/>
              </a:rPr>
              <a:t>LOCAL DATA </a:t>
            </a:r>
          </a:p>
        </p:txBody>
      </p:sp>
      <p:sp>
        <p:nvSpPr>
          <p:cNvPr name="Freeform 25" id="25"/>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7" id="27"/>
          <p:cNvSpPr/>
          <p:nvPr/>
        </p:nvSpPr>
        <p:spPr>
          <a:xfrm flipH="false" flipV="false" rot="0">
            <a:off x="1278678" y="1800230"/>
            <a:ext cx="3829331" cy="7311688"/>
          </a:xfrm>
          <a:custGeom>
            <a:avLst/>
            <a:gdLst/>
            <a:ahLst/>
            <a:cxnLst/>
            <a:rect r="r" b="b" t="t" l="l"/>
            <a:pathLst>
              <a:path h="7311688" w="3829331">
                <a:moveTo>
                  <a:pt x="0" y="0"/>
                </a:moveTo>
                <a:lnTo>
                  <a:pt x="3829332" y="0"/>
                </a:lnTo>
                <a:lnTo>
                  <a:pt x="3829332" y="7311688"/>
                </a:lnTo>
                <a:lnTo>
                  <a:pt x="0" y="7311688"/>
                </a:lnTo>
                <a:lnTo>
                  <a:pt x="0" y="0"/>
                </a:lnTo>
                <a:close/>
              </a:path>
            </a:pathLst>
          </a:custGeom>
          <a:blipFill>
            <a:blip r:embed="rId19"/>
            <a:stretch>
              <a:fillRect l="-17748" t="-4148" r="-17660" b="-2228"/>
            </a:stretch>
          </a:blipFill>
        </p:spPr>
      </p:sp>
      <p:sp>
        <p:nvSpPr>
          <p:cNvPr name="Freeform 28" id="28"/>
          <p:cNvSpPr/>
          <p:nvPr/>
        </p:nvSpPr>
        <p:spPr>
          <a:xfrm flipH="false" flipV="false" rot="0">
            <a:off x="8532439" y="2057400"/>
            <a:ext cx="6860816" cy="6101112"/>
          </a:xfrm>
          <a:custGeom>
            <a:avLst/>
            <a:gdLst/>
            <a:ahLst/>
            <a:cxnLst/>
            <a:rect r="r" b="b" t="t" l="l"/>
            <a:pathLst>
              <a:path h="6101112" w="6860816">
                <a:moveTo>
                  <a:pt x="0" y="0"/>
                </a:moveTo>
                <a:lnTo>
                  <a:pt x="6860815" y="0"/>
                </a:lnTo>
                <a:lnTo>
                  <a:pt x="6860815" y="6101112"/>
                </a:lnTo>
                <a:lnTo>
                  <a:pt x="0" y="6101112"/>
                </a:lnTo>
                <a:lnTo>
                  <a:pt x="0" y="0"/>
                </a:lnTo>
                <a:close/>
              </a:path>
            </a:pathLst>
          </a:custGeom>
          <a:blipFill>
            <a:blip r:embed="rId20"/>
            <a:stretch>
              <a:fillRect l="-287" t="0" r="0" b="0"/>
            </a:stretch>
          </a:blipFill>
        </p:spPr>
      </p:sp>
      <p:grpSp>
        <p:nvGrpSpPr>
          <p:cNvPr name="Group 29" id="29"/>
          <p:cNvGrpSpPr/>
          <p:nvPr/>
        </p:nvGrpSpPr>
        <p:grpSpPr>
          <a:xfrm rot="0">
            <a:off x="5270240" y="-1666021"/>
            <a:ext cx="7087432" cy="8580548"/>
            <a:chOff x="0" y="0"/>
            <a:chExt cx="9449910" cy="11440731"/>
          </a:xfrm>
        </p:grpSpPr>
        <p:sp>
          <p:nvSpPr>
            <p:cNvPr name="TextBox 30" id="30"/>
            <p:cNvSpPr txBox="true"/>
            <p:nvPr/>
          </p:nvSpPr>
          <p:spPr>
            <a:xfrm rot="0">
              <a:off x="2916006" y="9525"/>
              <a:ext cx="6533904" cy="295339"/>
            </a:xfrm>
            <a:prstGeom prst="rect">
              <a:avLst/>
            </a:prstGeom>
          </p:spPr>
          <p:txBody>
            <a:bodyPr anchor="t" rtlCol="false" tIns="0" lIns="0" bIns="0" rIns="0">
              <a:spAutoFit/>
            </a:bodyPr>
            <a:lstStyle/>
            <a:p>
              <a:pPr algn="l">
                <a:lnSpc>
                  <a:spcPts val="1678"/>
                </a:lnSpc>
              </a:pPr>
            </a:p>
          </p:txBody>
        </p:sp>
        <p:sp>
          <p:nvSpPr>
            <p:cNvPr name="TextBox 31" id="31"/>
            <p:cNvSpPr txBox="true"/>
            <p:nvPr/>
          </p:nvSpPr>
          <p:spPr>
            <a:xfrm rot="0">
              <a:off x="0" y="5879624"/>
              <a:ext cx="3617768" cy="5561107"/>
            </a:xfrm>
            <a:prstGeom prst="rect">
              <a:avLst/>
            </a:prstGeom>
          </p:spPr>
          <p:txBody>
            <a:bodyPr anchor="t" rtlCol="false" tIns="0" lIns="0" bIns="0" rIns="0">
              <a:spAutoFit/>
            </a:bodyPr>
            <a:lstStyle/>
            <a:p>
              <a:pPr algn="ctr">
                <a:lnSpc>
                  <a:spcPts val="3612"/>
                </a:lnSpc>
              </a:pPr>
              <a:r>
                <a:rPr lang="en-US" sz="3612" i="true">
                  <a:solidFill>
                    <a:srgbClr val="FFFFFF"/>
                  </a:solidFill>
                  <a:latin typeface="Forum"/>
                  <a:ea typeface="Forum"/>
                  <a:cs typeface="Forum"/>
                  <a:sym typeface="Forum"/>
                </a:rPr>
                <a:t>When you write a note and save it on your phone, it can be stored locally and accessed later, even without internet.</a:t>
              </a:r>
            </a:p>
          </p:txBody>
        </p:sp>
        <p:sp>
          <p:nvSpPr>
            <p:cNvPr name="TextBox 32" id="32"/>
            <p:cNvSpPr txBox="true"/>
            <p:nvPr/>
          </p:nvSpPr>
          <p:spPr>
            <a:xfrm rot="0">
              <a:off x="2916006" y="1942605"/>
              <a:ext cx="6533904" cy="361857"/>
            </a:xfrm>
            <a:prstGeom prst="rect">
              <a:avLst/>
            </a:prstGeom>
          </p:spPr>
          <p:txBody>
            <a:bodyPr anchor="t" rtlCol="false" tIns="0" lIns="0" bIns="0" rIns="0">
              <a:spAutoFit/>
            </a:bodyPr>
            <a:lstStyle/>
            <a:p>
              <a:pPr algn="l">
                <a:lnSpc>
                  <a:spcPts val="2276"/>
                </a:lnSpc>
              </a:pPr>
            </a:p>
          </p:txBody>
        </p:sp>
      </p:grpSp>
      <p:grpSp>
        <p:nvGrpSpPr>
          <p:cNvPr name="Group 33" id="33"/>
          <p:cNvGrpSpPr/>
          <p:nvPr/>
        </p:nvGrpSpPr>
        <p:grpSpPr>
          <a:xfrm rot="0">
            <a:off x="8437932" y="6668348"/>
            <a:ext cx="12534981" cy="2980327"/>
            <a:chOff x="0" y="0"/>
            <a:chExt cx="16713308" cy="3973769"/>
          </a:xfrm>
        </p:grpSpPr>
        <p:sp>
          <p:nvSpPr>
            <p:cNvPr name="TextBox 34" id="34"/>
            <p:cNvSpPr txBox="true"/>
            <p:nvPr/>
          </p:nvSpPr>
          <p:spPr>
            <a:xfrm rot="0">
              <a:off x="0" y="9525"/>
              <a:ext cx="16713308" cy="235155"/>
            </a:xfrm>
            <a:prstGeom prst="rect">
              <a:avLst/>
            </a:prstGeom>
          </p:spPr>
          <p:txBody>
            <a:bodyPr anchor="t" rtlCol="false" tIns="0" lIns="0" bIns="0" rIns="0">
              <a:spAutoFit/>
            </a:bodyPr>
            <a:lstStyle/>
            <a:p>
              <a:pPr algn="l">
                <a:lnSpc>
                  <a:spcPts val="1347"/>
                </a:lnSpc>
              </a:pPr>
            </a:p>
          </p:txBody>
        </p:sp>
        <p:sp>
          <p:nvSpPr>
            <p:cNvPr name="TextBox 35" id="35"/>
            <p:cNvSpPr txBox="true"/>
            <p:nvPr/>
          </p:nvSpPr>
          <p:spPr>
            <a:xfrm rot="0">
              <a:off x="0" y="2290479"/>
              <a:ext cx="11972990" cy="1330647"/>
            </a:xfrm>
            <a:prstGeom prst="rect">
              <a:avLst/>
            </a:prstGeom>
          </p:spPr>
          <p:txBody>
            <a:bodyPr anchor="t" rtlCol="false" tIns="0" lIns="0" bIns="0" rIns="0">
              <a:spAutoFit/>
            </a:bodyPr>
            <a:lstStyle/>
            <a:p>
              <a:pPr algn="l">
                <a:lnSpc>
                  <a:spcPts val="3750"/>
                </a:lnSpc>
              </a:pPr>
              <a:r>
                <a:rPr lang="en-US" sz="3750" i="true">
                  <a:solidFill>
                    <a:srgbClr val="FFFFFF"/>
                  </a:solidFill>
                  <a:latin typeface="Forum"/>
                  <a:ea typeface="Forum"/>
                  <a:cs typeface="Forum"/>
                  <a:sym typeface="Forum"/>
                </a:rPr>
                <a:t>When you set an alarm for 7 AM, your phone remembers that alarm locally.</a:t>
              </a:r>
            </a:p>
          </p:txBody>
        </p:sp>
        <p:sp>
          <p:nvSpPr>
            <p:cNvPr name="TextBox 36" id="36"/>
            <p:cNvSpPr txBox="true"/>
            <p:nvPr/>
          </p:nvSpPr>
          <p:spPr>
            <a:xfrm rot="0">
              <a:off x="0" y="3677706"/>
              <a:ext cx="16713308" cy="296063"/>
            </a:xfrm>
            <a:prstGeom prst="rect">
              <a:avLst/>
            </a:prstGeom>
          </p:spPr>
          <p:txBody>
            <a:bodyPr anchor="t" rtlCol="false" tIns="0" lIns="0" bIns="0" rIns="0">
              <a:spAutoFit/>
            </a:bodyPr>
            <a:lstStyle/>
            <a:p>
              <a:pPr algn="l">
                <a:lnSpc>
                  <a:spcPts val="1827"/>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766849" y="1028700"/>
            <a:ext cx="16754302" cy="8854747"/>
            <a:chOff x="0" y="0"/>
            <a:chExt cx="4412656" cy="2332115"/>
          </a:xfrm>
        </p:grpSpPr>
        <p:sp>
          <p:nvSpPr>
            <p:cNvPr name="Freeform 16" id="16"/>
            <p:cNvSpPr/>
            <p:nvPr/>
          </p:nvSpPr>
          <p:spPr>
            <a:xfrm flipH="false" flipV="false" rot="0">
              <a:off x="0" y="0"/>
              <a:ext cx="4412655" cy="2332114"/>
            </a:xfrm>
            <a:custGeom>
              <a:avLst/>
              <a:gdLst/>
              <a:ahLst/>
              <a:cxnLst/>
              <a:rect r="r" b="b" t="t" l="l"/>
              <a:pathLst>
                <a:path h="2332114" w="4412655">
                  <a:moveTo>
                    <a:pt x="23566" y="0"/>
                  </a:moveTo>
                  <a:lnTo>
                    <a:pt x="4389089" y="0"/>
                  </a:lnTo>
                  <a:cubicBezTo>
                    <a:pt x="4395339" y="0"/>
                    <a:pt x="4401334" y="2483"/>
                    <a:pt x="4405753" y="6902"/>
                  </a:cubicBezTo>
                  <a:cubicBezTo>
                    <a:pt x="4410173" y="11322"/>
                    <a:pt x="4412655" y="17316"/>
                    <a:pt x="4412655" y="23566"/>
                  </a:cubicBezTo>
                  <a:lnTo>
                    <a:pt x="4412655" y="2308548"/>
                  </a:lnTo>
                  <a:cubicBezTo>
                    <a:pt x="4412655" y="2314798"/>
                    <a:pt x="4410173" y="2320792"/>
                    <a:pt x="4405753" y="2325212"/>
                  </a:cubicBezTo>
                  <a:cubicBezTo>
                    <a:pt x="4401334" y="2329632"/>
                    <a:pt x="4395339" y="2332114"/>
                    <a:pt x="4389089" y="2332114"/>
                  </a:cubicBezTo>
                  <a:lnTo>
                    <a:pt x="23566" y="2332114"/>
                  </a:lnTo>
                  <a:cubicBezTo>
                    <a:pt x="17316" y="2332114"/>
                    <a:pt x="11322" y="2329632"/>
                    <a:pt x="6902" y="2325212"/>
                  </a:cubicBezTo>
                  <a:cubicBezTo>
                    <a:pt x="2483" y="2320792"/>
                    <a:pt x="0" y="2314798"/>
                    <a:pt x="0" y="2308548"/>
                  </a:cubicBezTo>
                  <a:lnTo>
                    <a:pt x="0" y="23566"/>
                  </a:lnTo>
                  <a:cubicBezTo>
                    <a:pt x="0" y="17316"/>
                    <a:pt x="2483" y="11322"/>
                    <a:pt x="6902" y="6902"/>
                  </a:cubicBezTo>
                  <a:cubicBezTo>
                    <a:pt x="11322" y="2483"/>
                    <a:pt x="17316" y="0"/>
                    <a:pt x="23566"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412656" cy="2370215"/>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4" id="24"/>
          <p:cNvSpPr txBox="true"/>
          <p:nvPr/>
        </p:nvSpPr>
        <p:spPr>
          <a:xfrm rot="0">
            <a:off x="1763405" y="1019175"/>
            <a:ext cx="14411112" cy="933450"/>
          </a:xfrm>
          <a:prstGeom prst="rect">
            <a:avLst/>
          </a:prstGeom>
        </p:spPr>
        <p:txBody>
          <a:bodyPr anchor="t" rtlCol="false" tIns="0" lIns="0" bIns="0" rIns="0">
            <a:spAutoFit/>
          </a:bodyPr>
          <a:lstStyle/>
          <a:p>
            <a:pPr algn="ctr" marL="0" indent="0" lvl="0">
              <a:lnSpc>
                <a:spcPts val="7320"/>
              </a:lnSpc>
              <a:spcBef>
                <a:spcPct val="0"/>
              </a:spcBef>
            </a:pPr>
            <a:r>
              <a:rPr lang="en-US" sz="6100">
                <a:solidFill>
                  <a:srgbClr val="FFFFFF"/>
                </a:solidFill>
                <a:latin typeface="VT323"/>
                <a:ea typeface="VT323"/>
                <a:cs typeface="VT323"/>
                <a:sym typeface="VT323"/>
              </a:rPr>
              <a:t>REMOTE DATA </a:t>
            </a:r>
          </a:p>
        </p:txBody>
      </p:sp>
      <p:sp>
        <p:nvSpPr>
          <p:cNvPr name="Freeform 25" id="25"/>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7" id="27"/>
          <p:cNvSpPr/>
          <p:nvPr/>
        </p:nvSpPr>
        <p:spPr>
          <a:xfrm flipH="false" flipV="false" rot="0">
            <a:off x="2128282" y="4255516"/>
            <a:ext cx="13100110" cy="5002784"/>
          </a:xfrm>
          <a:custGeom>
            <a:avLst/>
            <a:gdLst/>
            <a:ahLst/>
            <a:cxnLst/>
            <a:rect r="r" b="b" t="t" l="l"/>
            <a:pathLst>
              <a:path h="5002784" w="13100110">
                <a:moveTo>
                  <a:pt x="0" y="0"/>
                </a:moveTo>
                <a:lnTo>
                  <a:pt x="13100110" y="0"/>
                </a:lnTo>
                <a:lnTo>
                  <a:pt x="13100110" y="5002784"/>
                </a:lnTo>
                <a:lnTo>
                  <a:pt x="0" y="5002784"/>
                </a:lnTo>
                <a:lnTo>
                  <a:pt x="0" y="0"/>
                </a:lnTo>
                <a:close/>
              </a:path>
            </a:pathLst>
          </a:custGeom>
          <a:blipFill>
            <a:blip r:embed="rId19"/>
            <a:stretch>
              <a:fillRect l="0" t="-12631" r="0" b="-61939"/>
            </a:stretch>
          </a:blipFill>
        </p:spPr>
      </p:sp>
      <p:sp>
        <p:nvSpPr>
          <p:cNvPr name="TextBox 28" id="28"/>
          <p:cNvSpPr txBox="true"/>
          <p:nvPr/>
        </p:nvSpPr>
        <p:spPr>
          <a:xfrm rot="0">
            <a:off x="1724345" y="1971675"/>
            <a:ext cx="14489232" cy="3271239"/>
          </a:xfrm>
          <a:prstGeom prst="rect">
            <a:avLst/>
          </a:prstGeom>
        </p:spPr>
        <p:txBody>
          <a:bodyPr anchor="t" rtlCol="false" tIns="0" lIns="0" bIns="0" rIns="0">
            <a:spAutoFit/>
          </a:bodyPr>
          <a:lstStyle/>
          <a:p>
            <a:pPr algn="l">
              <a:lnSpc>
                <a:spcPts val="5214"/>
              </a:lnSpc>
            </a:pPr>
            <a:r>
              <a:rPr lang="en-US" sz="3724" b="true">
                <a:solidFill>
                  <a:srgbClr val="FFFFFF"/>
                </a:solidFill>
                <a:latin typeface="Canva Sans Bold"/>
                <a:ea typeface="Canva Sans Bold"/>
                <a:cs typeface="Canva Sans Bold"/>
                <a:sym typeface="Canva Sans Bold"/>
              </a:rPr>
              <a:t>Remote data is information that is stored somewhere outside your device, usually on a remote server or cloud, and accessed through a network such as the internet.</a:t>
            </a:r>
          </a:p>
          <a:p>
            <a:pPr algn="l">
              <a:lnSpc>
                <a:spcPts val="5214"/>
              </a:lnSpc>
            </a:pPr>
          </a:p>
          <a:p>
            <a:pPr algn="l">
              <a:lnSpc>
                <a:spcPts val="5214"/>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766849" y="720090"/>
            <a:ext cx="16754302" cy="9163357"/>
            <a:chOff x="0" y="0"/>
            <a:chExt cx="4412656" cy="2413395"/>
          </a:xfrm>
        </p:grpSpPr>
        <p:sp>
          <p:nvSpPr>
            <p:cNvPr name="Freeform 16" id="16"/>
            <p:cNvSpPr/>
            <p:nvPr/>
          </p:nvSpPr>
          <p:spPr>
            <a:xfrm flipH="false" flipV="false" rot="0">
              <a:off x="0" y="0"/>
              <a:ext cx="4412655" cy="2413395"/>
            </a:xfrm>
            <a:custGeom>
              <a:avLst/>
              <a:gdLst/>
              <a:ahLst/>
              <a:cxnLst/>
              <a:rect r="r" b="b" t="t" l="l"/>
              <a:pathLst>
                <a:path h="2413395" w="4412655">
                  <a:moveTo>
                    <a:pt x="23566" y="0"/>
                  </a:moveTo>
                  <a:lnTo>
                    <a:pt x="4389089" y="0"/>
                  </a:lnTo>
                  <a:cubicBezTo>
                    <a:pt x="4395339" y="0"/>
                    <a:pt x="4401334" y="2483"/>
                    <a:pt x="4405753" y="6902"/>
                  </a:cubicBezTo>
                  <a:cubicBezTo>
                    <a:pt x="4410173" y="11322"/>
                    <a:pt x="4412655" y="17316"/>
                    <a:pt x="4412655" y="23566"/>
                  </a:cubicBezTo>
                  <a:lnTo>
                    <a:pt x="4412655" y="2389828"/>
                  </a:lnTo>
                  <a:cubicBezTo>
                    <a:pt x="4412655" y="2396078"/>
                    <a:pt x="4410173" y="2402073"/>
                    <a:pt x="4405753" y="2406492"/>
                  </a:cubicBezTo>
                  <a:cubicBezTo>
                    <a:pt x="4401334" y="2410912"/>
                    <a:pt x="4395339" y="2413395"/>
                    <a:pt x="4389089" y="2413395"/>
                  </a:cubicBezTo>
                  <a:lnTo>
                    <a:pt x="23566" y="2413395"/>
                  </a:lnTo>
                  <a:cubicBezTo>
                    <a:pt x="17316" y="2413395"/>
                    <a:pt x="11322" y="2410912"/>
                    <a:pt x="6902" y="2406492"/>
                  </a:cubicBezTo>
                  <a:cubicBezTo>
                    <a:pt x="2483" y="2402073"/>
                    <a:pt x="0" y="2396078"/>
                    <a:pt x="0" y="2389828"/>
                  </a:cubicBezTo>
                  <a:lnTo>
                    <a:pt x="0" y="23566"/>
                  </a:lnTo>
                  <a:cubicBezTo>
                    <a:pt x="0" y="17316"/>
                    <a:pt x="2483" y="11322"/>
                    <a:pt x="6902" y="6902"/>
                  </a:cubicBezTo>
                  <a:cubicBezTo>
                    <a:pt x="11322" y="2483"/>
                    <a:pt x="17316" y="0"/>
                    <a:pt x="23566"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412656" cy="2451495"/>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4" id="24"/>
          <p:cNvSpPr txBox="true"/>
          <p:nvPr/>
        </p:nvSpPr>
        <p:spPr>
          <a:xfrm rot="0">
            <a:off x="2224303" y="669747"/>
            <a:ext cx="14411112" cy="933450"/>
          </a:xfrm>
          <a:prstGeom prst="rect">
            <a:avLst/>
          </a:prstGeom>
        </p:spPr>
        <p:txBody>
          <a:bodyPr anchor="t" rtlCol="false" tIns="0" lIns="0" bIns="0" rIns="0">
            <a:spAutoFit/>
          </a:bodyPr>
          <a:lstStyle/>
          <a:p>
            <a:pPr algn="ctr" marL="0" indent="0" lvl="0">
              <a:lnSpc>
                <a:spcPts val="7320"/>
              </a:lnSpc>
              <a:spcBef>
                <a:spcPct val="0"/>
              </a:spcBef>
            </a:pPr>
            <a:r>
              <a:rPr lang="en-US" sz="6100">
                <a:solidFill>
                  <a:srgbClr val="FFFFFF"/>
                </a:solidFill>
                <a:latin typeface="VT323"/>
                <a:ea typeface="VT323"/>
                <a:cs typeface="VT323"/>
                <a:sym typeface="VT323"/>
              </a:rPr>
              <a:t>REMOTE DATA </a:t>
            </a:r>
          </a:p>
        </p:txBody>
      </p:sp>
      <p:sp>
        <p:nvSpPr>
          <p:cNvPr name="Freeform 25" id="25"/>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7" id="27"/>
          <p:cNvSpPr/>
          <p:nvPr/>
        </p:nvSpPr>
        <p:spPr>
          <a:xfrm flipH="false" flipV="false" rot="-24000">
            <a:off x="12026454" y="4908356"/>
            <a:ext cx="4984504" cy="4572917"/>
          </a:xfrm>
          <a:custGeom>
            <a:avLst/>
            <a:gdLst/>
            <a:ahLst/>
            <a:cxnLst/>
            <a:rect r="r" b="b" t="t" l="l"/>
            <a:pathLst>
              <a:path h="4572917" w="4984504">
                <a:moveTo>
                  <a:pt x="31684" y="0"/>
                </a:moveTo>
                <a:lnTo>
                  <a:pt x="4984504" y="34578"/>
                </a:lnTo>
                <a:lnTo>
                  <a:pt x="4952820" y="4572918"/>
                </a:lnTo>
                <a:lnTo>
                  <a:pt x="0" y="4538340"/>
                </a:lnTo>
                <a:lnTo>
                  <a:pt x="31684" y="0"/>
                </a:lnTo>
                <a:close/>
              </a:path>
            </a:pathLst>
          </a:custGeom>
          <a:blipFill>
            <a:blip r:embed="rId19"/>
            <a:stretch>
              <a:fillRect l="-95078" t="-91360" r="-68260" b="0"/>
            </a:stretch>
          </a:blipFill>
        </p:spPr>
      </p:sp>
      <p:sp>
        <p:nvSpPr>
          <p:cNvPr name="Freeform 28" id="28"/>
          <p:cNvSpPr/>
          <p:nvPr/>
        </p:nvSpPr>
        <p:spPr>
          <a:xfrm flipH="false" flipV="false" rot="0">
            <a:off x="1684209" y="1487117"/>
            <a:ext cx="1080188" cy="1140566"/>
          </a:xfrm>
          <a:custGeom>
            <a:avLst/>
            <a:gdLst/>
            <a:ahLst/>
            <a:cxnLst/>
            <a:rect r="r" b="b" t="t" l="l"/>
            <a:pathLst>
              <a:path h="1140566" w="1080188">
                <a:moveTo>
                  <a:pt x="0" y="0"/>
                </a:moveTo>
                <a:lnTo>
                  <a:pt x="1080188" y="0"/>
                </a:lnTo>
                <a:lnTo>
                  <a:pt x="1080188" y="1140566"/>
                </a:lnTo>
                <a:lnTo>
                  <a:pt x="0" y="1140566"/>
                </a:lnTo>
                <a:lnTo>
                  <a:pt x="0" y="0"/>
                </a:lnTo>
                <a:close/>
              </a:path>
            </a:pathLst>
          </a:custGeom>
          <a:blipFill>
            <a:blip r:embed="rId19"/>
            <a:stretch>
              <a:fillRect l="-43624" t="0" r="-741100" b="-458593"/>
            </a:stretch>
          </a:blipFill>
        </p:spPr>
      </p:sp>
      <p:sp>
        <p:nvSpPr>
          <p:cNvPr name="Freeform 29" id="29"/>
          <p:cNvSpPr/>
          <p:nvPr/>
        </p:nvSpPr>
        <p:spPr>
          <a:xfrm flipH="false" flipV="false" rot="0">
            <a:off x="3111341" y="2204455"/>
            <a:ext cx="12721260" cy="2444186"/>
          </a:xfrm>
          <a:custGeom>
            <a:avLst/>
            <a:gdLst/>
            <a:ahLst/>
            <a:cxnLst/>
            <a:rect r="r" b="b" t="t" l="l"/>
            <a:pathLst>
              <a:path h="2444186" w="12721260">
                <a:moveTo>
                  <a:pt x="0" y="0"/>
                </a:moveTo>
                <a:lnTo>
                  <a:pt x="12721260" y="0"/>
                </a:lnTo>
                <a:lnTo>
                  <a:pt x="12721260" y="2444186"/>
                </a:lnTo>
                <a:lnTo>
                  <a:pt x="0" y="2444186"/>
                </a:lnTo>
                <a:lnTo>
                  <a:pt x="0" y="0"/>
                </a:lnTo>
                <a:close/>
              </a:path>
            </a:pathLst>
          </a:custGeom>
          <a:blipFill>
            <a:blip r:embed="rId19"/>
            <a:stretch>
              <a:fillRect l="0" t="-68029" r="0" b="-178951"/>
            </a:stretch>
          </a:blipFill>
        </p:spPr>
      </p:sp>
      <p:sp>
        <p:nvSpPr>
          <p:cNvPr name="Freeform 30" id="30"/>
          <p:cNvSpPr/>
          <p:nvPr/>
        </p:nvSpPr>
        <p:spPr>
          <a:xfrm flipH="false" flipV="false" rot="0">
            <a:off x="3111341" y="1581932"/>
            <a:ext cx="7353170" cy="475468"/>
          </a:xfrm>
          <a:custGeom>
            <a:avLst/>
            <a:gdLst/>
            <a:ahLst/>
            <a:cxnLst/>
            <a:rect r="r" b="b" t="t" l="l"/>
            <a:pathLst>
              <a:path h="475468" w="7353170">
                <a:moveTo>
                  <a:pt x="0" y="0"/>
                </a:moveTo>
                <a:lnTo>
                  <a:pt x="7353170" y="0"/>
                </a:lnTo>
                <a:lnTo>
                  <a:pt x="7353170" y="475468"/>
                </a:lnTo>
                <a:lnTo>
                  <a:pt x="0" y="475468"/>
                </a:lnTo>
                <a:lnTo>
                  <a:pt x="0" y="0"/>
                </a:lnTo>
                <a:close/>
              </a:path>
            </a:pathLst>
          </a:custGeom>
          <a:blipFill>
            <a:blip r:embed="rId19"/>
            <a:stretch>
              <a:fillRect l="-25689" t="-39069" r="-33884" b="-1506153"/>
            </a:stretch>
          </a:blipFill>
        </p:spPr>
      </p:sp>
      <p:grpSp>
        <p:nvGrpSpPr>
          <p:cNvPr name="Group 31" id="31"/>
          <p:cNvGrpSpPr/>
          <p:nvPr/>
        </p:nvGrpSpPr>
        <p:grpSpPr>
          <a:xfrm rot="0">
            <a:off x="2434713" y="4925590"/>
            <a:ext cx="9094305" cy="4449538"/>
            <a:chOff x="0" y="0"/>
            <a:chExt cx="2395208" cy="1171895"/>
          </a:xfrm>
        </p:grpSpPr>
        <p:sp>
          <p:nvSpPr>
            <p:cNvPr name="Freeform 32" id="32"/>
            <p:cNvSpPr/>
            <p:nvPr/>
          </p:nvSpPr>
          <p:spPr>
            <a:xfrm flipH="false" flipV="false" rot="0">
              <a:off x="0" y="0"/>
              <a:ext cx="2395208" cy="1171895"/>
            </a:xfrm>
            <a:custGeom>
              <a:avLst/>
              <a:gdLst/>
              <a:ahLst/>
              <a:cxnLst/>
              <a:rect r="r" b="b" t="t" l="l"/>
              <a:pathLst>
                <a:path h="1171895" w="2395208">
                  <a:moveTo>
                    <a:pt x="43416" y="0"/>
                  </a:moveTo>
                  <a:lnTo>
                    <a:pt x="2351792" y="0"/>
                  </a:lnTo>
                  <a:cubicBezTo>
                    <a:pt x="2375770" y="0"/>
                    <a:pt x="2395208" y="19438"/>
                    <a:pt x="2395208" y="43416"/>
                  </a:cubicBezTo>
                  <a:lnTo>
                    <a:pt x="2395208" y="1128479"/>
                  </a:lnTo>
                  <a:cubicBezTo>
                    <a:pt x="2395208" y="1152457"/>
                    <a:pt x="2375770" y="1171895"/>
                    <a:pt x="2351792" y="1171895"/>
                  </a:cubicBezTo>
                  <a:lnTo>
                    <a:pt x="43416" y="1171895"/>
                  </a:lnTo>
                  <a:cubicBezTo>
                    <a:pt x="31901" y="1171895"/>
                    <a:pt x="20858" y="1167321"/>
                    <a:pt x="12716" y="1159179"/>
                  </a:cubicBezTo>
                  <a:cubicBezTo>
                    <a:pt x="4574" y="1151037"/>
                    <a:pt x="0" y="1139993"/>
                    <a:pt x="0" y="1128479"/>
                  </a:cubicBezTo>
                  <a:lnTo>
                    <a:pt x="0" y="43416"/>
                  </a:lnTo>
                  <a:cubicBezTo>
                    <a:pt x="0" y="19438"/>
                    <a:pt x="19438" y="0"/>
                    <a:pt x="43416" y="0"/>
                  </a:cubicBezTo>
                  <a:close/>
                </a:path>
              </a:pathLst>
            </a:custGeom>
            <a:solidFill>
              <a:srgbClr val="C63BB6"/>
            </a:solidFill>
          </p:spPr>
        </p:sp>
        <p:sp>
          <p:nvSpPr>
            <p:cNvPr name="TextBox 33" id="33"/>
            <p:cNvSpPr txBox="true"/>
            <p:nvPr/>
          </p:nvSpPr>
          <p:spPr>
            <a:xfrm>
              <a:off x="0" y="-38100"/>
              <a:ext cx="2395208" cy="1209995"/>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2612166" y="4210050"/>
            <a:ext cx="15283997" cy="5391656"/>
            <a:chOff x="0" y="0"/>
            <a:chExt cx="20378663" cy="7188874"/>
          </a:xfrm>
        </p:grpSpPr>
        <p:sp>
          <p:nvSpPr>
            <p:cNvPr name="TextBox 35" id="35"/>
            <p:cNvSpPr txBox="true"/>
            <p:nvPr/>
          </p:nvSpPr>
          <p:spPr>
            <a:xfrm rot="0">
              <a:off x="0" y="0"/>
              <a:ext cx="20378663" cy="156605"/>
            </a:xfrm>
            <a:prstGeom prst="rect">
              <a:avLst/>
            </a:prstGeom>
          </p:spPr>
          <p:txBody>
            <a:bodyPr anchor="t" rtlCol="false" tIns="0" lIns="0" bIns="0" rIns="0">
              <a:spAutoFit/>
            </a:bodyPr>
            <a:lstStyle/>
            <a:p>
              <a:pPr algn="l">
                <a:lnSpc>
                  <a:spcPts val="844"/>
                </a:lnSpc>
              </a:pPr>
            </a:p>
          </p:txBody>
        </p:sp>
        <p:sp>
          <p:nvSpPr>
            <p:cNvPr name="TextBox 36" id="36"/>
            <p:cNvSpPr txBox="true"/>
            <p:nvPr/>
          </p:nvSpPr>
          <p:spPr>
            <a:xfrm rot="0">
              <a:off x="0" y="1595130"/>
              <a:ext cx="16588534" cy="4600827"/>
            </a:xfrm>
            <a:prstGeom prst="rect">
              <a:avLst/>
            </a:prstGeom>
          </p:spPr>
          <p:txBody>
            <a:bodyPr anchor="t" rtlCol="false" tIns="0" lIns="0" bIns="0" rIns="0">
              <a:spAutoFit/>
            </a:bodyPr>
            <a:lstStyle/>
            <a:p>
              <a:pPr algn="l">
                <a:lnSpc>
                  <a:spcPts val="3821"/>
                </a:lnSpc>
              </a:pPr>
              <a:r>
                <a:rPr lang="en-US" sz="3821" i="true">
                  <a:solidFill>
                    <a:srgbClr val="FCFCFC"/>
                  </a:solidFill>
                  <a:latin typeface="Forum"/>
                  <a:ea typeface="Forum"/>
                  <a:cs typeface="Forum"/>
                  <a:sym typeface="Forum"/>
                </a:rPr>
                <a:t>Suppose my friend sends me an email.</a:t>
              </a:r>
            </a:p>
            <a:p>
              <a:pPr algn="l">
                <a:lnSpc>
                  <a:spcPts val="3821"/>
                </a:lnSpc>
              </a:pPr>
              <a:r>
                <a:rPr lang="en-US" sz="3821" i="true">
                  <a:solidFill>
                    <a:srgbClr val="FCFCFC"/>
                  </a:solidFill>
                  <a:latin typeface="Forum"/>
                  <a:ea typeface="Forum"/>
                  <a:cs typeface="Forum"/>
                  <a:sym typeface="Forum"/>
                </a:rPr>
                <a:t> I can open that email on my phone today, </a:t>
              </a:r>
            </a:p>
            <a:p>
              <a:pPr algn="l">
                <a:lnSpc>
                  <a:spcPts val="3821"/>
                </a:lnSpc>
              </a:pPr>
              <a:r>
                <a:rPr lang="en-US" sz="3821" i="true">
                  <a:solidFill>
                    <a:srgbClr val="FCFCFC"/>
                  </a:solidFill>
                  <a:latin typeface="Forum"/>
                  <a:ea typeface="Forum"/>
                  <a:cs typeface="Forum"/>
                  <a:sym typeface="Forum"/>
                </a:rPr>
                <a:t>and later I can log into the same account on </a:t>
              </a:r>
            </a:p>
            <a:p>
              <a:pPr algn="l">
                <a:lnSpc>
                  <a:spcPts val="3821"/>
                </a:lnSpc>
              </a:pPr>
              <a:r>
                <a:rPr lang="en-US" sz="3821" i="true">
                  <a:solidFill>
                    <a:srgbClr val="FCFCFC"/>
                  </a:solidFill>
                  <a:latin typeface="Forum"/>
                  <a:ea typeface="Forum"/>
                  <a:cs typeface="Forum"/>
                  <a:sym typeface="Forum"/>
                </a:rPr>
                <a:t>my laptop and see the same email. </a:t>
              </a:r>
            </a:p>
            <a:p>
              <a:pPr algn="l">
                <a:lnSpc>
                  <a:spcPts val="3821"/>
                </a:lnSpc>
              </a:pPr>
              <a:r>
                <a:rPr lang="en-US" sz="3821" i="true">
                  <a:solidFill>
                    <a:srgbClr val="FCFCFC"/>
                  </a:solidFill>
                  <a:latin typeface="Forum"/>
                  <a:ea typeface="Forum"/>
                  <a:cs typeface="Forum"/>
                  <a:sym typeface="Forum"/>
                </a:rPr>
                <a:t>This is possible because the email is stored</a:t>
              </a:r>
            </a:p>
            <a:p>
              <a:pPr algn="l">
                <a:lnSpc>
                  <a:spcPts val="3821"/>
                </a:lnSpc>
              </a:pPr>
              <a:r>
                <a:rPr lang="en-US" sz="3821" i="true">
                  <a:solidFill>
                    <a:srgbClr val="FCFCFC"/>
                  </a:solidFill>
                  <a:latin typeface="Forum"/>
                  <a:ea typeface="Forum"/>
                  <a:cs typeface="Forum"/>
                  <a:sym typeface="Forum"/>
                </a:rPr>
                <a:t> remotely and my devices retrieve it from</a:t>
              </a:r>
            </a:p>
            <a:p>
              <a:pPr algn="l">
                <a:lnSpc>
                  <a:spcPts val="3821"/>
                </a:lnSpc>
              </a:pPr>
              <a:r>
                <a:rPr lang="en-US" sz="3821" i="true">
                  <a:solidFill>
                    <a:srgbClr val="FCFCFC"/>
                  </a:solidFill>
                  <a:latin typeface="Forum"/>
                  <a:ea typeface="Forum"/>
                  <a:cs typeface="Forum"/>
                  <a:sym typeface="Forum"/>
                </a:rPr>
                <a:t> the email service.</a:t>
              </a:r>
            </a:p>
          </p:txBody>
        </p:sp>
        <p:sp>
          <p:nvSpPr>
            <p:cNvPr name="TextBox 37" id="37"/>
            <p:cNvSpPr txBox="true"/>
            <p:nvPr/>
          </p:nvSpPr>
          <p:spPr>
            <a:xfrm rot="0">
              <a:off x="0" y="7010901"/>
              <a:ext cx="20378663" cy="177973"/>
            </a:xfrm>
            <a:prstGeom prst="rect">
              <a:avLst/>
            </a:prstGeom>
          </p:spPr>
          <p:txBody>
            <a:bodyPr anchor="t" rtlCol="false" tIns="0" lIns="0" bIns="0" rIns="0">
              <a:spAutoFit/>
            </a:bodyPr>
            <a:lstStyle/>
            <a:p>
              <a:pPr algn="l">
                <a:lnSpc>
                  <a:spcPts val="1190"/>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766849" y="1028700"/>
            <a:ext cx="16754302" cy="8854747"/>
            <a:chOff x="0" y="0"/>
            <a:chExt cx="4412656" cy="2332115"/>
          </a:xfrm>
        </p:grpSpPr>
        <p:sp>
          <p:nvSpPr>
            <p:cNvPr name="Freeform 16" id="16"/>
            <p:cNvSpPr/>
            <p:nvPr/>
          </p:nvSpPr>
          <p:spPr>
            <a:xfrm flipH="false" flipV="false" rot="0">
              <a:off x="0" y="0"/>
              <a:ext cx="4412655" cy="2332114"/>
            </a:xfrm>
            <a:custGeom>
              <a:avLst/>
              <a:gdLst/>
              <a:ahLst/>
              <a:cxnLst/>
              <a:rect r="r" b="b" t="t" l="l"/>
              <a:pathLst>
                <a:path h="2332114" w="4412655">
                  <a:moveTo>
                    <a:pt x="23566" y="0"/>
                  </a:moveTo>
                  <a:lnTo>
                    <a:pt x="4389089" y="0"/>
                  </a:lnTo>
                  <a:cubicBezTo>
                    <a:pt x="4395339" y="0"/>
                    <a:pt x="4401334" y="2483"/>
                    <a:pt x="4405753" y="6902"/>
                  </a:cubicBezTo>
                  <a:cubicBezTo>
                    <a:pt x="4410173" y="11322"/>
                    <a:pt x="4412655" y="17316"/>
                    <a:pt x="4412655" y="23566"/>
                  </a:cubicBezTo>
                  <a:lnTo>
                    <a:pt x="4412655" y="2308548"/>
                  </a:lnTo>
                  <a:cubicBezTo>
                    <a:pt x="4412655" y="2314798"/>
                    <a:pt x="4410173" y="2320792"/>
                    <a:pt x="4405753" y="2325212"/>
                  </a:cubicBezTo>
                  <a:cubicBezTo>
                    <a:pt x="4401334" y="2329632"/>
                    <a:pt x="4395339" y="2332114"/>
                    <a:pt x="4389089" y="2332114"/>
                  </a:cubicBezTo>
                  <a:lnTo>
                    <a:pt x="23566" y="2332114"/>
                  </a:lnTo>
                  <a:cubicBezTo>
                    <a:pt x="17316" y="2332114"/>
                    <a:pt x="11322" y="2329632"/>
                    <a:pt x="6902" y="2325212"/>
                  </a:cubicBezTo>
                  <a:cubicBezTo>
                    <a:pt x="2483" y="2320792"/>
                    <a:pt x="0" y="2314798"/>
                    <a:pt x="0" y="2308548"/>
                  </a:cubicBezTo>
                  <a:lnTo>
                    <a:pt x="0" y="23566"/>
                  </a:lnTo>
                  <a:cubicBezTo>
                    <a:pt x="0" y="17316"/>
                    <a:pt x="2483" y="11322"/>
                    <a:pt x="6902" y="6902"/>
                  </a:cubicBezTo>
                  <a:cubicBezTo>
                    <a:pt x="11322" y="2483"/>
                    <a:pt x="17316" y="0"/>
                    <a:pt x="23566"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412656" cy="2370215"/>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4" id="24"/>
          <p:cNvSpPr txBox="true"/>
          <p:nvPr/>
        </p:nvSpPr>
        <p:spPr>
          <a:xfrm rot="0">
            <a:off x="1763405" y="1019175"/>
            <a:ext cx="14411112" cy="933450"/>
          </a:xfrm>
          <a:prstGeom prst="rect">
            <a:avLst/>
          </a:prstGeom>
        </p:spPr>
        <p:txBody>
          <a:bodyPr anchor="t" rtlCol="false" tIns="0" lIns="0" bIns="0" rIns="0">
            <a:spAutoFit/>
          </a:bodyPr>
          <a:lstStyle/>
          <a:p>
            <a:pPr algn="ctr" marL="0" indent="0" lvl="0">
              <a:lnSpc>
                <a:spcPts val="7320"/>
              </a:lnSpc>
              <a:spcBef>
                <a:spcPct val="0"/>
              </a:spcBef>
            </a:pPr>
            <a:r>
              <a:rPr lang="en-US" sz="6100">
                <a:solidFill>
                  <a:srgbClr val="FFFFFF"/>
                </a:solidFill>
                <a:latin typeface="VT323"/>
                <a:ea typeface="VT323"/>
                <a:cs typeface="VT323"/>
                <a:sym typeface="VT323"/>
              </a:rPr>
              <a:t>DATA PERSISTENCE</a:t>
            </a:r>
          </a:p>
        </p:txBody>
      </p:sp>
      <p:sp>
        <p:nvSpPr>
          <p:cNvPr name="Freeform 25" id="25"/>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7" id="27"/>
          <p:cNvSpPr/>
          <p:nvPr/>
        </p:nvSpPr>
        <p:spPr>
          <a:xfrm flipH="false" flipV="false" rot="0">
            <a:off x="3529839" y="4640580"/>
            <a:ext cx="11698553" cy="4686300"/>
          </a:xfrm>
          <a:custGeom>
            <a:avLst/>
            <a:gdLst/>
            <a:ahLst/>
            <a:cxnLst/>
            <a:rect r="r" b="b" t="t" l="l"/>
            <a:pathLst>
              <a:path h="4686300" w="11698553">
                <a:moveTo>
                  <a:pt x="0" y="0"/>
                </a:moveTo>
                <a:lnTo>
                  <a:pt x="11698553" y="0"/>
                </a:lnTo>
                <a:lnTo>
                  <a:pt x="11698553" y="4686300"/>
                </a:lnTo>
                <a:lnTo>
                  <a:pt x="0" y="4686300"/>
                </a:lnTo>
                <a:lnTo>
                  <a:pt x="0" y="0"/>
                </a:lnTo>
                <a:close/>
              </a:path>
            </a:pathLst>
          </a:custGeom>
          <a:blipFill>
            <a:blip r:embed="rId19"/>
            <a:stretch>
              <a:fillRect l="0" t="-15856" r="0" b="-50565"/>
            </a:stretch>
          </a:blipFill>
        </p:spPr>
      </p:sp>
      <p:sp>
        <p:nvSpPr>
          <p:cNvPr name="TextBox 28" id="28"/>
          <p:cNvSpPr txBox="true"/>
          <p:nvPr/>
        </p:nvSpPr>
        <p:spPr>
          <a:xfrm rot="0">
            <a:off x="1127179" y="2024168"/>
            <a:ext cx="16033643" cy="2473537"/>
          </a:xfrm>
          <a:prstGeom prst="rect">
            <a:avLst/>
          </a:prstGeom>
        </p:spPr>
        <p:txBody>
          <a:bodyPr anchor="t" rtlCol="false" tIns="0" lIns="0" bIns="0" rIns="0">
            <a:spAutoFit/>
          </a:bodyPr>
          <a:lstStyle/>
          <a:p>
            <a:pPr algn="ctr">
              <a:lnSpc>
                <a:spcPts val="4952"/>
              </a:lnSpc>
            </a:pPr>
            <a:r>
              <a:rPr lang="en-US" sz="3537" b="true">
                <a:solidFill>
                  <a:srgbClr val="FFFFFF"/>
                </a:solidFill>
                <a:latin typeface="Canva Sans Bold"/>
                <a:ea typeface="Canva Sans Bold"/>
                <a:cs typeface="Canva Sans Bold"/>
                <a:sym typeface="Canva Sans Bold"/>
              </a:rPr>
              <a:t>Data persistence means that </a:t>
            </a:r>
            <a:r>
              <a:rPr lang="en-US" b="true" sz="3537">
                <a:solidFill>
                  <a:srgbClr val="FFFFFF"/>
                </a:solidFill>
                <a:latin typeface="Canva Sans Bold"/>
                <a:ea typeface="Canva Sans Bold"/>
                <a:cs typeface="Canva Sans Bold"/>
                <a:sym typeface="Canva Sans Bold"/>
              </a:rPr>
              <a:t>data remains stored and available even after an application is closed, restarted, or sometimes even after the device is restarted.</a:t>
            </a:r>
          </a:p>
          <a:p>
            <a:pPr algn="ctr">
              <a:lnSpc>
                <a:spcPts val="4952"/>
              </a:lnSpc>
            </a:pPr>
            <a:r>
              <a:rPr lang="en-US" b="true" sz="3537">
                <a:solidFill>
                  <a:srgbClr val="FFFFFF"/>
                </a:solidFill>
                <a:latin typeface="Canva Sans Bold"/>
                <a:ea typeface="Canva Sans Bold"/>
                <a:cs typeface="Canva Sans Bold"/>
                <a:sym typeface="Canva Sans Bold"/>
              </a:rPr>
              <a:t>Persistence = Data is remembered.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483349" y="720090"/>
            <a:ext cx="17400824" cy="9467108"/>
            <a:chOff x="0" y="0"/>
            <a:chExt cx="4582933" cy="2493395"/>
          </a:xfrm>
        </p:grpSpPr>
        <p:sp>
          <p:nvSpPr>
            <p:cNvPr name="Freeform 16" id="16"/>
            <p:cNvSpPr/>
            <p:nvPr/>
          </p:nvSpPr>
          <p:spPr>
            <a:xfrm flipH="false" flipV="false" rot="0">
              <a:off x="0" y="0"/>
              <a:ext cx="4582933" cy="2493395"/>
            </a:xfrm>
            <a:custGeom>
              <a:avLst/>
              <a:gdLst/>
              <a:ahLst/>
              <a:cxnLst/>
              <a:rect r="r" b="b" t="t" l="l"/>
              <a:pathLst>
                <a:path h="2493395" w="4582933">
                  <a:moveTo>
                    <a:pt x="22691" y="0"/>
                  </a:moveTo>
                  <a:lnTo>
                    <a:pt x="4560242" y="0"/>
                  </a:lnTo>
                  <a:cubicBezTo>
                    <a:pt x="4572774" y="0"/>
                    <a:pt x="4582933" y="10159"/>
                    <a:pt x="4582933" y="22691"/>
                  </a:cubicBezTo>
                  <a:lnTo>
                    <a:pt x="4582933" y="2470704"/>
                  </a:lnTo>
                  <a:cubicBezTo>
                    <a:pt x="4582933" y="2476722"/>
                    <a:pt x="4580543" y="2482493"/>
                    <a:pt x="4576287" y="2486749"/>
                  </a:cubicBezTo>
                  <a:cubicBezTo>
                    <a:pt x="4572032" y="2491004"/>
                    <a:pt x="4566260" y="2493395"/>
                    <a:pt x="4560242" y="2493395"/>
                  </a:cubicBezTo>
                  <a:lnTo>
                    <a:pt x="22691" y="2493395"/>
                  </a:lnTo>
                  <a:cubicBezTo>
                    <a:pt x="10159" y="2493395"/>
                    <a:pt x="0" y="2483236"/>
                    <a:pt x="0" y="2470704"/>
                  </a:cubicBezTo>
                  <a:lnTo>
                    <a:pt x="0" y="22691"/>
                  </a:lnTo>
                  <a:cubicBezTo>
                    <a:pt x="0" y="10159"/>
                    <a:pt x="10159" y="0"/>
                    <a:pt x="22691"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582933" cy="2531495"/>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4" id="24"/>
          <p:cNvSpPr txBox="true"/>
          <p:nvPr/>
        </p:nvSpPr>
        <p:spPr>
          <a:xfrm rot="0">
            <a:off x="2743064" y="710565"/>
            <a:ext cx="12451793" cy="807834"/>
          </a:xfrm>
          <a:prstGeom prst="rect">
            <a:avLst/>
          </a:prstGeom>
        </p:spPr>
        <p:txBody>
          <a:bodyPr anchor="t" rtlCol="false" tIns="0" lIns="0" bIns="0" rIns="0">
            <a:spAutoFit/>
          </a:bodyPr>
          <a:lstStyle/>
          <a:p>
            <a:pPr algn="ctr" marL="0" indent="0" lvl="0">
              <a:lnSpc>
                <a:spcPts val="6324"/>
              </a:lnSpc>
              <a:spcBef>
                <a:spcPct val="0"/>
              </a:spcBef>
            </a:pPr>
            <a:r>
              <a:rPr lang="en-US" sz="5270">
                <a:solidFill>
                  <a:srgbClr val="FFFFFF"/>
                </a:solidFill>
                <a:latin typeface="VT323"/>
                <a:ea typeface="VT323"/>
                <a:cs typeface="VT323"/>
                <a:sym typeface="VT323"/>
              </a:rPr>
              <a:t>SHAREDPREFERENCES FOR PREFERENCES</a:t>
            </a:r>
          </a:p>
        </p:txBody>
      </p:sp>
      <p:sp>
        <p:nvSpPr>
          <p:cNvPr name="Freeform 25" id="25"/>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7" id="27"/>
          <p:cNvSpPr txBox="true"/>
          <p:nvPr/>
        </p:nvSpPr>
        <p:spPr>
          <a:xfrm rot="0">
            <a:off x="1086841" y="1629470"/>
            <a:ext cx="15764239" cy="4913511"/>
          </a:xfrm>
          <a:prstGeom prst="rect">
            <a:avLst/>
          </a:prstGeom>
        </p:spPr>
        <p:txBody>
          <a:bodyPr anchor="t" rtlCol="false" tIns="0" lIns="0" bIns="0" rIns="0">
            <a:spAutoFit/>
          </a:bodyPr>
          <a:lstStyle/>
          <a:p>
            <a:pPr algn="l" marL="750862" indent="-375431" lvl="1">
              <a:lnSpc>
                <a:spcPts val="4868"/>
              </a:lnSpc>
              <a:buFont typeface="Arial"/>
              <a:buChar char="•"/>
            </a:pPr>
            <a:r>
              <a:rPr lang="en-US" b="true" sz="3477">
                <a:solidFill>
                  <a:srgbClr val="FFFFFF"/>
                </a:solidFill>
                <a:latin typeface="Canva Sans Bold"/>
                <a:ea typeface="Canva Sans Bold"/>
                <a:cs typeface="Canva Sans Bold"/>
                <a:sym typeface="Canva Sans Bold"/>
              </a:rPr>
              <a:t>SharedPreferences is a simple way in Android to store small pieces of data locally on the user's device in the form of key-value pairs.</a:t>
            </a:r>
          </a:p>
          <a:p>
            <a:pPr algn="l" marL="750862" indent="-375431" lvl="1">
              <a:lnSpc>
                <a:spcPts val="4868"/>
              </a:lnSpc>
              <a:buFont typeface="Arial"/>
              <a:buChar char="•"/>
            </a:pPr>
            <a:r>
              <a:rPr lang="en-US" b="true" sz="3477">
                <a:solidFill>
                  <a:srgbClr val="FFFFFF"/>
                </a:solidFill>
                <a:latin typeface="Canva Sans Bold"/>
                <a:ea typeface="Canva Sans Bold"/>
                <a:cs typeface="Canva Sans Bold"/>
                <a:sym typeface="Canva Sans Bold"/>
              </a:rPr>
              <a:t>A small storage area inside the app for remembering simple settings.</a:t>
            </a:r>
          </a:p>
          <a:p>
            <a:pPr algn="l" marL="750862" indent="-375431" lvl="1">
              <a:lnSpc>
                <a:spcPts val="4868"/>
              </a:lnSpc>
              <a:buFont typeface="Arial"/>
              <a:buChar char="•"/>
            </a:pPr>
            <a:r>
              <a:rPr lang="en-US" b="true" sz="3477">
                <a:solidFill>
                  <a:srgbClr val="FFFFFF"/>
                </a:solidFill>
                <a:latin typeface="Canva Sans Bold"/>
                <a:ea typeface="Canva Sans Bold"/>
                <a:cs typeface="Canva Sans Bold"/>
                <a:sym typeface="Canva Sans Bold"/>
              </a:rPr>
              <a:t>SharedPreferences is designed for simple data types suchas string, boolean, integer</a:t>
            </a:r>
          </a:p>
          <a:p>
            <a:pPr algn="l" marL="750862" indent="-375431" lvl="1">
              <a:lnSpc>
                <a:spcPts val="4868"/>
              </a:lnSpc>
              <a:buFont typeface="Arial"/>
              <a:buChar char="•"/>
            </a:pPr>
            <a:r>
              <a:rPr lang="en-US" b="true" sz="3477">
                <a:solidFill>
                  <a:srgbClr val="FFFFFF"/>
                </a:solidFill>
                <a:latin typeface="Canva Sans Bold"/>
                <a:ea typeface="Canva Sans Bold"/>
                <a:cs typeface="Canva Sans Bold"/>
                <a:sym typeface="Canva Sans Bold"/>
              </a:rPr>
              <a:t>We Don't use SharedPreferences for  Large databases</a:t>
            </a:r>
          </a:p>
          <a:p>
            <a:pPr algn="l">
              <a:lnSpc>
                <a:spcPts val="4868"/>
              </a:lnSpc>
            </a:pPr>
          </a:p>
          <a:p>
            <a:pPr algn="ctr">
              <a:lnSpc>
                <a:spcPts val="4868"/>
              </a:lnSpc>
            </a:pPr>
          </a:p>
        </p:txBody>
      </p:sp>
      <p:sp>
        <p:nvSpPr>
          <p:cNvPr name="Freeform 28" id="28"/>
          <p:cNvSpPr/>
          <p:nvPr/>
        </p:nvSpPr>
        <p:spPr>
          <a:xfrm flipH="false" flipV="false" rot="0">
            <a:off x="2942081" y="5453644"/>
            <a:ext cx="12053759" cy="4449329"/>
          </a:xfrm>
          <a:custGeom>
            <a:avLst/>
            <a:gdLst/>
            <a:ahLst/>
            <a:cxnLst/>
            <a:rect r="r" b="b" t="t" l="l"/>
            <a:pathLst>
              <a:path h="4449329" w="12053759">
                <a:moveTo>
                  <a:pt x="0" y="0"/>
                </a:moveTo>
                <a:lnTo>
                  <a:pt x="12053759" y="0"/>
                </a:lnTo>
                <a:lnTo>
                  <a:pt x="12053759" y="4449329"/>
                </a:lnTo>
                <a:lnTo>
                  <a:pt x="0" y="4449329"/>
                </a:lnTo>
                <a:lnTo>
                  <a:pt x="0" y="0"/>
                </a:lnTo>
                <a:close/>
              </a:path>
            </a:pathLst>
          </a:custGeom>
          <a:blipFill>
            <a:blip r:embed="rId19"/>
            <a:stretch>
              <a:fillRect l="0" t="-27763" r="0" b="-119815"/>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766849" y="1028700"/>
            <a:ext cx="16754302" cy="8854747"/>
            <a:chOff x="0" y="0"/>
            <a:chExt cx="4412656" cy="2332115"/>
          </a:xfrm>
        </p:grpSpPr>
        <p:sp>
          <p:nvSpPr>
            <p:cNvPr name="Freeform 16" id="16"/>
            <p:cNvSpPr/>
            <p:nvPr/>
          </p:nvSpPr>
          <p:spPr>
            <a:xfrm flipH="false" flipV="false" rot="0">
              <a:off x="0" y="0"/>
              <a:ext cx="4412655" cy="2332114"/>
            </a:xfrm>
            <a:custGeom>
              <a:avLst/>
              <a:gdLst/>
              <a:ahLst/>
              <a:cxnLst/>
              <a:rect r="r" b="b" t="t" l="l"/>
              <a:pathLst>
                <a:path h="2332114" w="4412655">
                  <a:moveTo>
                    <a:pt x="23566" y="0"/>
                  </a:moveTo>
                  <a:lnTo>
                    <a:pt x="4389089" y="0"/>
                  </a:lnTo>
                  <a:cubicBezTo>
                    <a:pt x="4395339" y="0"/>
                    <a:pt x="4401334" y="2483"/>
                    <a:pt x="4405753" y="6902"/>
                  </a:cubicBezTo>
                  <a:cubicBezTo>
                    <a:pt x="4410173" y="11322"/>
                    <a:pt x="4412655" y="17316"/>
                    <a:pt x="4412655" y="23566"/>
                  </a:cubicBezTo>
                  <a:lnTo>
                    <a:pt x="4412655" y="2308548"/>
                  </a:lnTo>
                  <a:cubicBezTo>
                    <a:pt x="4412655" y="2314798"/>
                    <a:pt x="4410173" y="2320792"/>
                    <a:pt x="4405753" y="2325212"/>
                  </a:cubicBezTo>
                  <a:cubicBezTo>
                    <a:pt x="4401334" y="2329632"/>
                    <a:pt x="4395339" y="2332114"/>
                    <a:pt x="4389089" y="2332114"/>
                  </a:cubicBezTo>
                  <a:lnTo>
                    <a:pt x="23566" y="2332114"/>
                  </a:lnTo>
                  <a:cubicBezTo>
                    <a:pt x="17316" y="2332114"/>
                    <a:pt x="11322" y="2329632"/>
                    <a:pt x="6902" y="2325212"/>
                  </a:cubicBezTo>
                  <a:cubicBezTo>
                    <a:pt x="2483" y="2320792"/>
                    <a:pt x="0" y="2314798"/>
                    <a:pt x="0" y="2308548"/>
                  </a:cubicBezTo>
                  <a:lnTo>
                    <a:pt x="0" y="23566"/>
                  </a:lnTo>
                  <a:cubicBezTo>
                    <a:pt x="0" y="17316"/>
                    <a:pt x="2483" y="11322"/>
                    <a:pt x="6902" y="6902"/>
                  </a:cubicBezTo>
                  <a:cubicBezTo>
                    <a:pt x="11322" y="2483"/>
                    <a:pt x="17316" y="0"/>
                    <a:pt x="23566"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412656" cy="2370215"/>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5" id="25"/>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2081375" y="1384992"/>
            <a:ext cx="6792838" cy="8142164"/>
          </a:xfrm>
          <a:custGeom>
            <a:avLst/>
            <a:gdLst/>
            <a:ahLst/>
            <a:cxnLst/>
            <a:rect r="r" b="b" t="t" l="l"/>
            <a:pathLst>
              <a:path h="8142164" w="6792838">
                <a:moveTo>
                  <a:pt x="0" y="0"/>
                </a:moveTo>
                <a:lnTo>
                  <a:pt x="6792838" y="0"/>
                </a:lnTo>
                <a:lnTo>
                  <a:pt x="6792838" y="8142164"/>
                </a:lnTo>
                <a:lnTo>
                  <a:pt x="0" y="8142164"/>
                </a:lnTo>
                <a:lnTo>
                  <a:pt x="0" y="0"/>
                </a:lnTo>
                <a:close/>
              </a:path>
            </a:pathLst>
          </a:custGeom>
          <a:blipFill>
            <a:blip r:embed="rId19"/>
            <a:stretch>
              <a:fillRect l="0" t="0" r="0" b="0"/>
            </a:stretch>
          </a:blipFill>
        </p:spPr>
      </p:sp>
      <p:sp>
        <p:nvSpPr>
          <p:cNvPr name="TextBox 27" id="27"/>
          <p:cNvSpPr txBox="true"/>
          <p:nvPr/>
        </p:nvSpPr>
        <p:spPr>
          <a:xfrm rot="0">
            <a:off x="766849" y="9845347"/>
            <a:ext cx="16754302"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Open Sans"/>
                <a:ea typeface="Open Sans"/>
                <a:cs typeface="Open Sans"/>
                <a:sym typeface="Open Sans"/>
              </a:rPr>
              <a:t>Your paragraph text</a:t>
            </a:r>
          </a:p>
        </p:txBody>
      </p:sp>
      <p:sp>
        <p:nvSpPr>
          <p:cNvPr name="TextBox 28" id="28"/>
          <p:cNvSpPr txBox="true"/>
          <p:nvPr/>
        </p:nvSpPr>
        <p:spPr>
          <a:xfrm rot="0">
            <a:off x="10241244" y="1313502"/>
            <a:ext cx="5510117" cy="7549188"/>
          </a:xfrm>
          <a:prstGeom prst="rect">
            <a:avLst/>
          </a:prstGeom>
        </p:spPr>
        <p:txBody>
          <a:bodyPr anchor="t" rtlCol="false" tIns="0" lIns="0" bIns="0" rIns="0">
            <a:spAutoFit/>
          </a:bodyPr>
          <a:lstStyle/>
          <a:p>
            <a:pPr algn="ctr">
              <a:lnSpc>
                <a:spcPts val="30370"/>
              </a:lnSpc>
            </a:pPr>
            <a:r>
              <a:rPr lang="en-US" sz="21693">
                <a:solidFill>
                  <a:srgbClr val="FFFFFF"/>
                </a:solidFill>
                <a:latin typeface="VT323"/>
                <a:ea typeface="VT323"/>
                <a:cs typeface="VT323"/>
                <a:sym typeface="VT323"/>
              </a:rPr>
              <a:t>CODE </a:t>
            </a:r>
          </a:p>
          <a:p>
            <a:pPr algn="ctr">
              <a:lnSpc>
                <a:spcPts val="30370"/>
              </a:lnSpc>
            </a:pPr>
            <a:r>
              <a:rPr lang="en-US" sz="21693">
                <a:solidFill>
                  <a:srgbClr val="FFFFFF"/>
                </a:solidFill>
                <a:latin typeface="VT323"/>
                <a:ea typeface="VT323"/>
                <a:cs typeface="VT323"/>
                <a:sym typeface="VT323"/>
              </a:rPr>
              <a:t>TIMEE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483349" y="259286"/>
            <a:ext cx="17804651" cy="9927911"/>
            <a:chOff x="0" y="0"/>
            <a:chExt cx="4689291" cy="2614759"/>
          </a:xfrm>
        </p:grpSpPr>
        <p:sp>
          <p:nvSpPr>
            <p:cNvPr name="Freeform 16" id="16"/>
            <p:cNvSpPr/>
            <p:nvPr/>
          </p:nvSpPr>
          <p:spPr>
            <a:xfrm flipH="false" flipV="false" rot="0">
              <a:off x="0" y="0"/>
              <a:ext cx="4689291" cy="2614759"/>
            </a:xfrm>
            <a:custGeom>
              <a:avLst/>
              <a:gdLst/>
              <a:ahLst/>
              <a:cxnLst/>
              <a:rect r="r" b="b" t="t" l="l"/>
              <a:pathLst>
                <a:path h="2614759" w="4689291">
                  <a:moveTo>
                    <a:pt x="22176" y="0"/>
                  </a:moveTo>
                  <a:lnTo>
                    <a:pt x="4667115" y="0"/>
                  </a:lnTo>
                  <a:cubicBezTo>
                    <a:pt x="4672996" y="0"/>
                    <a:pt x="4678637" y="2336"/>
                    <a:pt x="4682796" y="6495"/>
                  </a:cubicBezTo>
                  <a:cubicBezTo>
                    <a:pt x="4686955" y="10654"/>
                    <a:pt x="4689291" y="16295"/>
                    <a:pt x="4689291" y="22176"/>
                  </a:cubicBezTo>
                  <a:lnTo>
                    <a:pt x="4689291" y="2592582"/>
                  </a:lnTo>
                  <a:cubicBezTo>
                    <a:pt x="4689291" y="2598464"/>
                    <a:pt x="4686955" y="2604105"/>
                    <a:pt x="4682796" y="2608263"/>
                  </a:cubicBezTo>
                  <a:cubicBezTo>
                    <a:pt x="4678637" y="2612422"/>
                    <a:pt x="4672996" y="2614759"/>
                    <a:pt x="4667115" y="2614759"/>
                  </a:cubicBezTo>
                  <a:lnTo>
                    <a:pt x="22176" y="2614759"/>
                  </a:lnTo>
                  <a:cubicBezTo>
                    <a:pt x="9929" y="2614759"/>
                    <a:pt x="0" y="2604830"/>
                    <a:pt x="0" y="2592582"/>
                  </a:cubicBezTo>
                  <a:lnTo>
                    <a:pt x="0" y="22176"/>
                  </a:lnTo>
                  <a:cubicBezTo>
                    <a:pt x="0" y="16295"/>
                    <a:pt x="2336" y="10654"/>
                    <a:pt x="6495" y="6495"/>
                  </a:cubicBezTo>
                  <a:cubicBezTo>
                    <a:pt x="10654" y="2336"/>
                    <a:pt x="16295" y="0"/>
                    <a:pt x="22176"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689291" cy="2652859"/>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4" id="24"/>
          <p:cNvSpPr txBox="true"/>
          <p:nvPr/>
        </p:nvSpPr>
        <p:spPr>
          <a:xfrm rot="0">
            <a:off x="2173598" y="249761"/>
            <a:ext cx="13940803" cy="903298"/>
          </a:xfrm>
          <a:prstGeom prst="rect">
            <a:avLst/>
          </a:prstGeom>
        </p:spPr>
        <p:txBody>
          <a:bodyPr anchor="t" rtlCol="false" tIns="0" lIns="0" bIns="0" rIns="0">
            <a:spAutoFit/>
          </a:bodyPr>
          <a:lstStyle/>
          <a:p>
            <a:pPr algn="ctr" marL="0" indent="0" lvl="0">
              <a:lnSpc>
                <a:spcPts val="7081"/>
              </a:lnSpc>
              <a:spcBef>
                <a:spcPct val="0"/>
              </a:spcBef>
            </a:pPr>
            <a:r>
              <a:rPr lang="en-US" sz="5901">
                <a:solidFill>
                  <a:srgbClr val="FFFFFF"/>
                </a:solidFill>
                <a:latin typeface="VT323"/>
                <a:ea typeface="VT323"/>
                <a:cs typeface="VT323"/>
                <a:sym typeface="VT323"/>
              </a:rPr>
              <a:t>SHAREDPREFERENCES FOR PREFERENCES</a:t>
            </a:r>
          </a:p>
        </p:txBody>
      </p:sp>
      <p:sp>
        <p:nvSpPr>
          <p:cNvPr name="Freeform 25" id="25"/>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7" id="27"/>
          <p:cNvSpPr/>
          <p:nvPr/>
        </p:nvSpPr>
        <p:spPr>
          <a:xfrm flipH="false" flipV="false" rot="0">
            <a:off x="1761279" y="2151008"/>
            <a:ext cx="11670897" cy="1135817"/>
          </a:xfrm>
          <a:custGeom>
            <a:avLst/>
            <a:gdLst/>
            <a:ahLst/>
            <a:cxnLst/>
            <a:rect r="r" b="b" t="t" l="l"/>
            <a:pathLst>
              <a:path h="1135817" w="11670897">
                <a:moveTo>
                  <a:pt x="0" y="0"/>
                </a:moveTo>
                <a:lnTo>
                  <a:pt x="11670896" y="0"/>
                </a:lnTo>
                <a:lnTo>
                  <a:pt x="11670896" y="1135817"/>
                </a:lnTo>
                <a:lnTo>
                  <a:pt x="0" y="1135817"/>
                </a:lnTo>
                <a:lnTo>
                  <a:pt x="0" y="0"/>
                </a:lnTo>
                <a:close/>
              </a:path>
            </a:pathLst>
          </a:custGeom>
          <a:blipFill>
            <a:blip r:embed="rId19"/>
            <a:stretch>
              <a:fillRect l="0" t="-93496" r="0" b="0"/>
            </a:stretch>
          </a:blipFill>
        </p:spPr>
      </p:sp>
      <p:sp>
        <p:nvSpPr>
          <p:cNvPr name="Freeform 28" id="28"/>
          <p:cNvSpPr/>
          <p:nvPr/>
        </p:nvSpPr>
        <p:spPr>
          <a:xfrm flipH="false" flipV="false" rot="0">
            <a:off x="1306118" y="5421888"/>
            <a:ext cx="12126058" cy="1741991"/>
          </a:xfrm>
          <a:custGeom>
            <a:avLst/>
            <a:gdLst/>
            <a:ahLst/>
            <a:cxnLst/>
            <a:rect r="r" b="b" t="t" l="l"/>
            <a:pathLst>
              <a:path h="1741991" w="12126058">
                <a:moveTo>
                  <a:pt x="0" y="0"/>
                </a:moveTo>
                <a:lnTo>
                  <a:pt x="12126057" y="0"/>
                </a:lnTo>
                <a:lnTo>
                  <a:pt x="12126057" y="1741991"/>
                </a:lnTo>
                <a:lnTo>
                  <a:pt x="0" y="1741991"/>
                </a:lnTo>
                <a:lnTo>
                  <a:pt x="0" y="0"/>
                </a:lnTo>
                <a:close/>
              </a:path>
            </a:pathLst>
          </a:custGeom>
          <a:blipFill>
            <a:blip r:embed="rId20"/>
            <a:stretch>
              <a:fillRect l="-451" t="-38174" r="-451" b="0"/>
            </a:stretch>
          </a:blipFill>
        </p:spPr>
      </p:sp>
      <p:sp>
        <p:nvSpPr>
          <p:cNvPr name="TextBox 29" id="29"/>
          <p:cNvSpPr txBox="true"/>
          <p:nvPr/>
        </p:nvSpPr>
        <p:spPr>
          <a:xfrm rot="0">
            <a:off x="-1759544" y="3565509"/>
            <a:ext cx="17115674" cy="1230188"/>
          </a:xfrm>
          <a:prstGeom prst="rect">
            <a:avLst/>
          </a:prstGeom>
        </p:spPr>
        <p:txBody>
          <a:bodyPr anchor="t" rtlCol="false" tIns="0" lIns="0" bIns="0" rIns="0">
            <a:spAutoFit/>
          </a:bodyPr>
          <a:lstStyle/>
          <a:p>
            <a:pPr algn="ctr">
              <a:lnSpc>
                <a:spcPts val="4936"/>
              </a:lnSpc>
            </a:pPr>
            <a:r>
              <a:rPr lang="en-US" sz="3526" b="true">
                <a:solidFill>
                  <a:srgbClr val="FFFFFF"/>
                </a:solidFill>
                <a:latin typeface="Canva Sans Bold"/>
                <a:ea typeface="Canva Sans Bold"/>
                <a:cs typeface="Canva Sans Bold"/>
                <a:sym typeface="Canva Sans Bold"/>
              </a:rPr>
              <a:t>This</a:t>
            </a:r>
            <a:r>
              <a:rPr lang="en-US" b="true" sz="3526">
                <a:solidFill>
                  <a:srgbClr val="FFFFFF"/>
                </a:solidFill>
                <a:latin typeface="Canva Sans Bold"/>
                <a:ea typeface="Canva Sans Bold"/>
                <a:cs typeface="Canva Sans Bold"/>
                <a:sym typeface="Canva Sans Bold"/>
              </a:rPr>
              <a:t> creates our SharedPreferences object. </a:t>
            </a:r>
          </a:p>
          <a:p>
            <a:pPr algn="ctr">
              <a:lnSpc>
                <a:spcPts val="4936"/>
              </a:lnSpc>
            </a:pPr>
            <a:r>
              <a:rPr lang="en-US" b="true" sz="3526">
                <a:solidFill>
                  <a:srgbClr val="FFFFFF"/>
                </a:solidFill>
                <a:latin typeface="Canva Sans Bold"/>
                <a:ea typeface="Canva Sans Bold"/>
                <a:cs typeface="Canva Sans Bold"/>
                <a:sym typeface="Canva Sans Bold"/>
              </a:rPr>
              <a:t>We use this object to save and retrieve data</a:t>
            </a:r>
          </a:p>
        </p:txBody>
      </p:sp>
      <p:sp>
        <p:nvSpPr>
          <p:cNvPr name="TextBox 30" id="30"/>
          <p:cNvSpPr txBox="true"/>
          <p:nvPr/>
        </p:nvSpPr>
        <p:spPr>
          <a:xfrm rot="0">
            <a:off x="1387598" y="7312722"/>
            <a:ext cx="16320364" cy="3326755"/>
          </a:xfrm>
          <a:prstGeom prst="rect">
            <a:avLst/>
          </a:prstGeom>
        </p:spPr>
        <p:txBody>
          <a:bodyPr anchor="t" rtlCol="false" tIns="0" lIns="0" bIns="0" rIns="0">
            <a:spAutoFit/>
          </a:bodyPr>
          <a:lstStyle/>
          <a:p>
            <a:pPr algn="l">
              <a:lnSpc>
                <a:spcPts val="3776"/>
              </a:lnSpc>
            </a:pPr>
            <a:r>
              <a:rPr lang="en-US" sz="2697" b="true">
                <a:solidFill>
                  <a:srgbClr val="FFFFFF"/>
                </a:solidFill>
                <a:latin typeface="Canva Sans Bold"/>
                <a:ea typeface="Canva Sans Bold"/>
                <a:cs typeface="Canva Sans Bold"/>
                <a:sym typeface="Canva Sans Bold"/>
              </a:rPr>
              <a:t>These three lines are used to save the user's settings in SharedPreferences. The first line stores the user's name using username as the key, the second stores whether Dark Mode is true or false using darkMode, and the third stores the selected language using language. The await ensures that the app waits for the data to be saved before continuing.</a:t>
            </a:r>
          </a:p>
          <a:p>
            <a:pPr algn="l">
              <a:lnSpc>
                <a:spcPts val="3776"/>
              </a:lnSpc>
            </a:pPr>
          </a:p>
          <a:p>
            <a:pPr algn="l">
              <a:lnSpc>
                <a:spcPts val="3776"/>
              </a:lnSpc>
            </a:pPr>
          </a:p>
          <a:p>
            <a:pPr algn="l">
              <a:lnSpc>
                <a:spcPts val="3776"/>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483349" y="720090"/>
            <a:ext cx="17400824" cy="9467108"/>
            <a:chOff x="0" y="0"/>
            <a:chExt cx="4582933" cy="2493395"/>
          </a:xfrm>
        </p:grpSpPr>
        <p:sp>
          <p:nvSpPr>
            <p:cNvPr name="Freeform 16" id="16"/>
            <p:cNvSpPr/>
            <p:nvPr/>
          </p:nvSpPr>
          <p:spPr>
            <a:xfrm flipH="false" flipV="false" rot="0">
              <a:off x="0" y="0"/>
              <a:ext cx="4582933" cy="2493395"/>
            </a:xfrm>
            <a:custGeom>
              <a:avLst/>
              <a:gdLst/>
              <a:ahLst/>
              <a:cxnLst/>
              <a:rect r="r" b="b" t="t" l="l"/>
              <a:pathLst>
                <a:path h="2493395" w="4582933">
                  <a:moveTo>
                    <a:pt x="22691" y="0"/>
                  </a:moveTo>
                  <a:lnTo>
                    <a:pt x="4560242" y="0"/>
                  </a:lnTo>
                  <a:cubicBezTo>
                    <a:pt x="4572774" y="0"/>
                    <a:pt x="4582933" y="10159"/>
                    <a:pt x="4582933" y="22691"/>
                  </a:cubicBezTo>
                  <a:lnTo>
                    <a:pt x="4582933" y="2470704"/>
                  </a:lnTo>
                  <a:cubicBezTo>
                    <a:pt x="4582933" y="2476722"/>
                    <a:pt x="4580543" y="2482493"/>
                    <a:pt x="4576287" y="2486749"/>
                  </a:cubicBezTo>
                  <a:cubicBezTo>
                    <a:pt x="4572032" y="2491004"/>
                    <a:pt x="4566260" y="2493395"/>
                    <a:pt x="4560242" y="2493395"/>
                  </a:cubicBezTo>
                  <a:lnTo>
                    <a:pt x="22691" y="2493395"/>
                  </a:lnTo>
                  <a:cubicBezTo>
                    <a:pt x="10159" y="2493395"/>
                    <a:pt x="0" y="2483236"/>
                    <a:pt x="0" y="2470704"/>
                  </a:cubicBezTo>
                  <a:lnTo>
                    <a:pt x="0" y="22691"/>
                  </a:lnTo>
                  <a:cubicBezTo>
                    <a:pt x="0" y="10159"/>
                    <a:pt x="10159" y="0"/>
                    <a:pt x="22691"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582933" cy="2531495"/>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4" id="24"/>
          <p:cNvSpPr txBox="true"/>
          <p:nvPr/>
        </p:nvSpPr>
        <p:spPr>
          <a:xfrm rot="0">
            <a:off x="1763405" y="766832"/>
            <a:ext cx="14411112" cy="933450"/>
          </a:xfrm>
          <a:prstGeom prst="rect">
            <a:avLst/>
          </a:prstGeom>
        </p:spPr>
        <p:txBody>
          <a:bodyPr anchor="t" rtlCol="false" tIns="0" lIns="0" bIns="0" rIns="0">
            <a:spAutoFit/>
          </a:bodyPr>
          <a:lstStyle/>
          <a:p>
            <a:pPr algn="ctr" marL="0" indent="0" lvl="0">
              <a:lnSpc>
                <a:spcPts val="7320"/>
              </a:lnSpc>
              <a:spcBef>
                <a:spcPct val="0"/>
              </a:spcBef>
            </a:pPr>
            <a:r>
              <a:rPr lang="en-US" sz="6100">
                <a:solidFill>
                  <a:srgbClr val="FFFFFF"/>
                </a:solidFill>
                <a:latin typeface="VT323"/>
                <a:ea typeface="VT323"/>
                <a:cs typeface="VT323"/>
                <a:sym typeface="VT323"/>
              </a:rPr>
              <a:t>SHAREDPREFERENCES FOR PREFERENCES</a:t>
            </a:r>
          </a:p>
        </p:txBody>
      </p:sp>
      <p:sp>
        <p:nvSpPr>
          <p:cNvPr name="Freeform 25" id="25"/>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7" id="27"/>
          <p:cNvSpPr/>
          <p:nvPr/>
        </p:nvSpPr>
        <p:spPr>
          <a:xfrm flipH="false" flipV="false" rot="0">
            <a:off x="2764397" y="3466686"/>
            <a:ext cx="12115489" cy="2801408"/>
          </a:xfrm>
          <a:custGeom>
            <a:avLst/>
            <a:gdLst/>
            <a:ahLst/>
            <a:cxnLst/>
            <a:rect r="r" b="b" t="t" l="l"/>
            <a:pathLst>
              <a:path h="2801408" w="12115489">
                <a:moveTo>
                  <a:pt x="0" y="0"/>
                </a:moveTo>
                <a:lnTo>
                  <a:pt x="12115490" y="0"/>
                </a:lnTo>
                <a:lnTo>
                  <a:pt x="12115490" y="2801408"/>
                </a:lnTo>
                <a:lnTo>
                  <a:pt x="0" y="2801408"/>
                </a:lnTo>
                <a:lnTo>
                  <a:pt x="0" y="0"/>
                </a:lnTo>
                <a:close/>
              </a:path>
            </a:pathLst>
          </a:custGeom>
          <a:blipFill>
            <a:blip r:embed="rId19"/>
            <a:stretch>
              <a:fillRect l="0" t="0" r="0" b="0"/>
            </a:stretch>
          </a:blipFill>
        </p:spPr>
      </p:sp>
      <p:sp>
        <p:nvSpPr>
          <p:cNvPr name="TextBox 28" id="28"/>
          <p:cNvSpPr txBox="true"/>
          <p:nvPr/>
        </p:nvSpPr>
        <p:spPr>
          <a:xfrm rot="0">
            <a:off x="1209011" y="6420383"/>
            <a:ext cx="15949499" cy="2410605"/>
          </a:xfrm>
          <a:prstGeom prst="rect">
            <a:avLst/>
          </a:prstGeom>
        </p:spPr>
        <p:txBody>
          <a:bodyPr anchor="t" rtlCol="false" tIns="0" lIns="0" bIns="0" rIns="0">
            <a:spAutoFit/>
          </a:bodyPr>
          <a:lstStyle/>
          <a:p>
            <a:pPr algn="ctr">
              <a:lnSpc>
                <a:spcPts val="3817"/>
              </a:lnSpc>
            </a:pPr>
            <a:r>
              <a:rPr lang="en-US" sz="2727" b="true">
                <a:solidFill>
                  <a:srgbClr val="FFFFFF"/>
                </a:solidFill>
                <a:latin typeface="Canva Sans Bold"/>
                <a:ea typeface="Canva Sans Bold"/>
                <a:cs typeface="Canva Sans Bold"/>
                <a:sym typeface="Canva Sans Bold"/>
              </a:rPr>
              <a:t>These three lines are used to retrieve the data that was previously saved in SharedPreferences. getString('username') gets the saved username, getBool('darkMode') gets whether Dark Mode was save</a:t>
            </a:r>
            <a:r>
              <a:rPr lang="en-US" b="true" sz="2727">
                <a:solidFill>
                  <a:srgbClr val="FFFFFF"/>
                </a:solidFill>
                <a:latin typeface="Canva Sans Bold"/>
                <a:ea typeface="Canva Sans Bold"/>
                <a:cs typeface="Canva Sans Bold"/>
                <a:sym typeface="Canva Sans Bold"/>
              </a:rPr>
              <a:t>d as true or false, and getString('language') gets the saved language. The retrieved values are stored in savedName, savedDarkMode, and savedLanguage, so the app can use them when it opens again.</a:t>
            </a:r>
          </a:p>
        </p:txBody>
      </p:sp>
      <p:sp>
        <p:nvSpPr>
          <p:cNvPr name="TextBox 29" id="29"/>
          <p:cNvSpPr txBox="true"/>
          <p:nvPr/>
        </p:nvSpPr>
        <p:spPr>
          <a:xfrm rot="0">
            <a:off x="1137924" y="2366011"/>
            <a:ext cx="4379719" cy="1158239"/>
          </a:xfrm>
          <a:prstGeom prst="rect">
            <a:avLst/>
          </a:prstGeom>
        </p:spPr>
        <p:txBody>
          <a:bodyPr anchor="t" rtlCol="false" tIns="0" lIns="0" bIns="0" rIns="0">
            <a:spAutoFit/>
          </a:bodyPr>
          <a:lstStyle/>
          <a:p>
            <a:pPr algn="r">
              <a:lnSpc>
                <a:spcPts val="4650"/>
              </a:lnSpc>
              <a:spcBef>
                <a:spcPct val="0"/>
              </a:spcBef>
            </a:pPr>
            <a:r>
              <a:rPr lang="en-US" sz="3100">
                <a:solidFill>
                  <a:srgbClr val="FFFFFF"/>
                </a:solidFill>
                <a:latin typeface="Pixelated"/>
                <a:ea typeface="Pixelated"/>
                <a:cs typeface="Pixelated"/>
                <a:sym typeface="Pixelated"/>
              </a:rPr>
              <a:t> </a:t>
            </a:r>
          </a:p>
          <a:p>
            <a:pPr algn="r">
              <a:lnSpc>
                <a:spcPts val="4650"/>
              </a:lnSpc>
              <a:spcBef>
                <a:spcPct val="0"/>
              </a:spcBef>
            </a:pPr>
          </a:p>
        </p:txBody>
      </p:sp>
      <p:grpSp>
        <p:nvGrpSpPr>
          <p:cNvPr name="Group 30" id="30"/>
          <p:cNvGrpSpPr/>
          <p:nvPr/>
        </p:nvGrpSpPr>
        <p:grpSpPr>
          <a:xfrm rot="0">
            <a:off x="4572000" y="2500039"/>
            <a:ext cx="8120516" cy="835296"/>
            <a:chOff x="0" y="0"/>
            <a:chExt cx="2138737" cy="219996"/>
          </a:xfrm>
        </p:grpSpPr>
        <p:sp>
          <p:nvSpPr>
            <p:cNvPr name="Freeform 31" id="31"/>
            <p:cNvSpPr/>
            <p:nvPr/>
          </p:nvSpPr>
          <p:spPr>
            <a:xfrm flipH="false" flipV="false" rot="0">
              <a:off x="0" y="0"/>
              <a:ext cx="2138737" cy="219996"/>
            </a:xfrm>
            <a:custGeom>
              <a:avLst/>
              <a:gdLst/>
              <a:ahLst/>
              <a:cxnLst/>
              <a:rect r="r" b="b" t="t" l="l"/>
              <a:pathLst>
                <a:path h="219996" w="2138737">
                  <a:moveTo>
                    <a:pt x="48622" y="0"/>
                  </a:moveTo>
                  <a:lnTo>
                    <a:pt x="2090114" y="0"/>
                  </a:lnTo>
                  <a:cubicBezTo>
                    <a:pt x="2116968" y="0"/>
                    <a:pt x="2138737" y="21769"/>
                    <a:pt x="2138737" y="48622"/>
                  </a:cubicBezTo>
                  <a:lnTo>
                    <a:pt x="2138737" y="171373"/>
                  </a:lnTo>
                  <a:cubicBezTo>
                    <a:pt x="2138737" y="184269"/>
                    <a:pt x="2133614" y="196636"/>
                    <a:pt x="2124496" y="205754"/>
                  </a:cubicBezTo>
                  <a:cubicBezTo>
                    <a:pt x="2115377" y="214873"/>
                    <a:pt x="2103010" y="219996"/>
                    <a:pt x="2090114" y="219996"/>
                  </a:cubicBezTo>
                  <a:lnTo>
                    <a:pt x="48622" y="219996"/>
                  </a:lnTo>
                  <a:cubicBezTo>
                    <a:pt x="21769" y="219996"/>
                    <a:pt x="0" y="198227"/>
                    <a:pt x="0" y="171373"/>
                  </a:cubicBezTo>
                  <a:lnTo>
                    <a:pt x="0" y="48622"/>
                  </a:lnTo>
                  <a:cubicBezTo>
                    <a:pt x="0" y="21769"/>
                    <a:pt x="21769" y="0"/>
                    <a:pt x="48622" y="0"/>
                  </a:cubicBezTo>
                  <a:close/>
                </a:path>
              </a:pathLst>
            </a:custGeom>
            <a:solidFill>
              <a:srgbClr val="C63BB6"/>
            </a:solidFill>
          </p:spPr>
        </p:sp>
        <p:sp>
          <p:nvSpPr>
            <p:cNvPr name="TextBox 32" id="32"/>
            <p:cNvSpPr txBox="true"/>
            <p:nvPr/>
          </p:nvSpPr>
          <p:spPr>
            <a:xfrm>
              <a:off x="0" y="-38100"/>
              <a:ext cx="2138737" cy="258096"/>
            </a:xfrm>
            <a:prstGeom prst="rect">
              <a:avLst/>
            </a:prstGeom>
          </p:spPr>
          <p:txBody>
            <a:bodyPr anchor="ctr" rtlCol="false" tIns="50800" lIns="50800" bIns="50800" rIns="50800"/>
            <a:lstStyle/>
            <a:p>
              <a:pPr algn="ctr">
                <a:lnSpc>
                  <a:spcPts val="2659"/>
                </a:lnSpc>
              </a:pPr>
            </a:p>
          </p:txBody>
        </p:sp>
      </p:grpSp>
      <p:sp>
        <p:nvSpPr>
          <p:cNvPr name="TextBox 33" id="33"/>
          <p:cNvSpPr txBox="true"/>
          <p:nvPr/>
        </p:nvSpPr>
        <p:spPr>
          <a:xfrm rot="0">
            <a:off x="5517643" y="2610630"/>
            <a:ext cx="5997078" cy="547439"/>
          </a:xfrm>
          <a:prstGeom prst="rect">
            <a:avLst/>
          </a:prstGeom>
        </p:spPr>
        <p:txBody>
          <a:bodyPr anchor="t" rtlCol="false" tIns="0" lIns="0" bIns="0" rIns="0">
            <a:spAutoFit/>
          </a:bodyPr>
          <a:lstStyle/>
          <a:p>
            <a:pPr algn="ctr">
              <a:lnSpc>
                <a:spcPts val="4420"/>
              </a:lnSpc>
            </a:pPr>
            <a:r>
              <a:rPr lang="en-US" sz="3157" b="true">
                <a:solidFill>
                  <a:srgbClr val="FFFFFF"/>
                </a:solidFill>
                <a:latin typeface="Canva Sans Bold"/>
                <a:ea typeface="Canva Sans Bold"/>
                <a:cs typeface="Canva Sans Bold"/>
                <a:sym typeface="Canva Sans Bold"/>
              </a:rPr>
              <a:t>READ AND RETRIVE THE DATA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297"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1492416" y="1482140"/>
            <a:ext cx="15220604" cy="7661860"/>
            <a:chOff x="0" y="0"/>
            <a:chExt cx="4008719" cy="2017938"/>
          </a:xfrm>
        </p:grpSpPr>
        <p:sp>
          <p:nvSpPr>
            <p:cNvPr name="Freeform 16" id="16"/>
            <p:cNvSpPr/>
            <p:nvPr/>
          </p:nvSpPr>
          <p:spPr>
            <a:xfrm flipH="false" flipV="false" rot="0">
              <a:off x="0" y="0"/>
              <a:ext cx="4008718" cy="2017938"/>
            </a:xfrm>
            <a:custGeom>
              <a:avLst/>
              <a:gdLst/>
              <a:ahLst/>
              <a:cxnLst/>
              <a:rect r="r" b="b" t="t" l="l"/>
              <a:pathLst>
                <a:path h="2017938" w="4008718">
                  <a:moveTo>
                    <a:pt x="25941" y="0"/>
                  </a:moveTo>
                  <a:lnTo>
                    <a:pt x="3982777" y="0"/>
                  </a:lnTo>
                  <a:cubicBezTo>
                    <a:pt x="3997104" y="0"/>
                    <a:pt x="4008718" y="11614"/>
                    <a:pt x="4008718" y="25941"/>
                  </a:cubicBezTo>
                  <a:lnTo>
                    <a:pt x="4008718" y="1991997"/>
                  </a:lnTo>
                  <a:cubicBezTo>
                    <a:pt x="4008718" y="1998877"/>
                    <a:pt x="4005985" y="2005476"/>
                    <a:pt x="4001121" y="2010340"/>
                  </a:cubicBezTo>
                  <a:cubicBezTo>
                    <a:pt x="3996256" y="2015205"/>
                    <a:pt x="3989658" y="2017938"/>
                    <a:pt x="3982777" y="2017938"/>
                  </a:cubicBezTo>
                  <a:lnTo>
                    <a:pt x="25941" y="2017938"/>
                  </a:lnTo>
                  <a:cubicBezTo>
                    <a:pt x="19061" y="2017938"/>
                    <a:pt x="12463" y="2015205"/>
                    <a:pt x="7598" y="2010340"/>
                  </a:cubicBezTo>
                  <a:cubicBezTo>
                    <a:pt x="2733" y="2005476"/>
                    <a:pt x="0" y="1998877"/>
                    <a:pt x="0" y="1991997"/>
                  </a:cubicBezTo>
                  <a:lnTo>
                    <a:pt x="0" y="25941"/>
                  </a:lnTo>
                  <a:cubicBezTo>
                    <a:pt x="0" y="19061"/>
                    <a:pt x="2733" y="12463"/>
                    <a:pt x="7598" y="7598"/>
                  </a:cubicBezTo>
                  <a:cubicBezTo>
                    <a:pt x="12463" y="2733"/>
                    <a:pt x="19061" y="0"/>
                    <a:pt x="25941"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008719" cy="2056038"/>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5" id="25"/>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8820249" y="1897884"/>
            <a:ext cx="7315200" cy="1582743"/>
          </a:xfrm>
          <a:custGeom>
            <a:avLst/>
            <a:gdLst/>
            <a:ahLst/>
            <a:cxnLst/>
            <a:rect r="r" b="b" t="t" l="l"/>
            <a:pathLst>
              <a:path h="1582743" w="7315200">
                <a:moveTo>
                  <a:pt x="0" y="0"/>
                </a:moveTo>
                <a:lnTo>
                  <a:pt x="7315200" y="0"/>
                </a:lnTo>
                <a:lnTo>
                  <a:pt x="7315200" y="1582744"/>
                </a:lnTo>
                <a:lnTo>
                  <a:pt x="0" y="158274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7" id="27"/>
          <p:cNvSpPr/>
          <p:nvPr/>
        </p:nvSpPr>
        <p:spPr>
          <a:xfrm flipH="false" flipV="false" rot="0">
            <a:off x="8833272" y="3647094"/>
            <a:ext cx="7315200" cy="1582743"/>
          </a:xfrm>
          <a:custGeom>
            <a:avLst/>
            <a:gdLst/>
            <a:ahLst/>
            <a:cxnLst/>
            <a:rect r="r" b="b" t="t" l="l"/>
            <a:pathLst>
              <a:path h="1582743" w="7315200">
                <a:moveTo>
                  <a:pt x="0" y="0"/>
                </a:moveTo>
                <a:lnTo>
                  <a:pt x="7315200" y="0"/>
                </a:lnTo>
                <a:lnTo>
                  <a:pt x="7315200" y="1582743"/>
                </a:lnTo>
                <a:lnTo>
                  <a:pt x="0" y="158274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8" id="28"/>
          <p:cNvSpPr/>
          <p:nvPr/>
        </p:nvSpPr>
        <p:spPr>
          <a:xfrm flipH="false" flipV="false" rot="0">
            <a:off x="8846294" y="5396303"/>
            <a:ext cx="7315200" cy="1582743"/>
          </a:xfrm>
          <a:custGeom>
            <a:avLst/>
            <a:gdLst/>
            <a:ahLst/>
            <a:cxnLst/>
            <a:rect r="r" b="b" t="t" l="l"/>
            <a:pathLst>
              <a:path h="1582743" w="7315200">
                <a:moveTo>
                  <a:pt x="0" y="0"/>
                </a:moveTo>
                <a:lnTo>
                  <a:pt x="7315200" y="0"/>
                </a:lnTo>
                <a:lnTo>
                  <a:pt x="7315200" y="1582743"/>
                </a:lnTo>
                <a:lnTo>
                  <a:pt x="0" y="158274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9" id="29"/>
          <p:cNvSpPr/>
          <p:nvPr/>
        </p:nvSpPr>
        <p:spPr>
          <a:xfrm flipH="false" flipV="false" rot="0">
            <a:off x="8859317" y="7145512"/>
            <a:ext cx="7315200" cy="1582743"/>
          </a:xfrm>
          <a:custGeom>
            <a:avLst/>
            <a:gdLst/>
            <a:ahLst/>
            <a:cxnLst/>
            <a:rect r="r" b="b" t="t" l="l"/>
            <a:pathLst>
              <a:path h="1582743" w="7315200">
                <a:moveTo>
                  <a:pt x="0" y="0"/>
                </a:moveTo>
                <a:lnTo>
                  <a:pt x="7315200" y="0"/>
                </a:lnTo>
                <a:lnTo>
                  <a:pt x="7315200" y="1582744"/>
                </a:lnTo>
                <a:lnTo>
                  <a:pt x="0" y="158274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30" id="30"/>
          <p:cNvSpPr/>
          <p:nvPr/>
        </p:nvSpPr>
        <p:spPr>
          <a:xfrm flipH="false" flipV="false" rot="0">
            <a:off x="7746873" y="2298735"/>
            <a:ext cx="837374" cy="781042"/>
          </a:xfrm>
          <a:custGeom>
            <a:avLst/>
            <a:gdLst/>
            <a:ahLst/>
            <a:cxnLst/>
            <a:rect r="r" b="b" t="t" l="l"/>
            <a:pathLst>
              <a:path h="781042" w="837374">
                <a:moveTo>
                  <a:pt x="0" y="0"/>
                </a:moveTo>
                <a:lnTo>
                  <a:pt x="837374" y="0"/>
                </a:lnTo>
                <a:lnTo>
                  <a:pt x="837374" y="781042"/>
                </a:lnTo>
                <a:lnTo>
                  <a:pt x="0" y="78104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31" id="31"/>
          <p:cNvSpPr txBox="true"/>
          <p:nvPr/>
        </p:nvSpPr>
        <p:spPr>
          <a:xfrm rot="0">
            <a:off x="1910111" y="5585066"/>
            <a:ext cx="5879036" cy="1238250"/>
          </a:xfrm>
          <a:prstGeom prst="rect">
            <a:avLst/>
          </a:prstGeom>
        </p:spPr>
        <p:txBody>
          <a:bodyPr anchor="t" rtlCol="false" tIns="0" lIns="0" bIns="0" rIns="0">
            <a:spAutoFit/>
          </a:bodyPr>
          <a:lstStyle/>
          <a:p>
            <a:pPr algn="ctr" marL="0" indent="0" lvl="0">
              <a:lnSpc>
                <a:spcPts val="9600"/>
              </a:lnSpc>
              <a:spcBef>
                <a:spcPct val="0"/>
              </a:spcBef>
            </a:pPr>
            <a:r>
              <a:rPr lang="en-US" sz="8000">
                <a:solidFill>
                  <a:srgbClr val="FFFFFF"/>
                </a:solidFill>
                <a:latin typeface="VT323"/>
                <a:ea typeface="VT323"/>
                <a:cs typeface="VT323"/>
                <a:sym typeface="VT323"/>
              </a:rPr>
              <a:t>OVERVIEW</a:t>
            </a:r>
          </a:p>
        </p:txBody>
      </p:sp>
      <p:sp>
        <p:nvSpPr>
          <p:cNvPr name="Freeform 32" id="32"/>
          <p:cNvSpPr/>
          <p:nvPr/>
        </p:nvSpPr>
        <p:spPr>
          <a:xfrm flipH="false" flipV="false" rot="0">
            <a:off x="7746873" y="4047944"/>
            <a:ext cx="837374" cy="781042"/>
          </a:xfrm>
          <a:custGeom>
            <a:avLst/>
            <a:gdLst/>
            <a:ahLst/>
            <a:cxnLst/>
            <a:rect r="r" b="b" t="t" l="l"/>
            <a:pathLst>
              <a:path h="781042" w="837374">
                <a:moveTo>
                  <a:pt x="0" y="0"/>
                </a:moveTo>
                <a:lnTo>
                  <a:pt x="837374" y="0"/>
                </a:lnTo>
                <a:lnTo>
                  <a:pt x="837374" y="781042"/>
                </a:lnTo>
                <a:lnTo>
                  <a:pt x="0" y="78104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3" id="33"/>
          <p:cNvSpPr/>
          <p:nvPr/>
        </p:nvSpPr>
        <p:spPr>
          <a:xfrm flipH="false" flipV="false" rot="0">
            <a:off x="7746873" y="5797154"/>
            <a:ext cx="837374" cy="781042"/>
          </a:xfrm>
          <a:custGeom>
            <a:avLst/>
            <a:gdLst/>
            <a:ahLst/>
            <a:cxnLst/>
            <a:rect r="r" b="b" t="t" l="l"/>
            <a:pathLst>
              <a:path h="781042" w="837374">
                <a:moveTo>
                  <a:pt x="0" y="0"/>
                </a:moveTo>
                <a:lnTo>
                  <a:pt x="837374" y="0"/>
                </a:lnTo>
                <a:lnTo>
                  <a:pt x="837374" y="781042"/>
                </a:lnTo>
                <a:lnTo>
                  <a:pt x="0" y="78104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4" id="34"/>
          <p:cNvSpPr/>
          <p:nvPr/>
        </p:nvSpPr>
        <p:spPr>
          <a:xfrm flipH="false" flipV="false" rot="0">
            <a:off x="7746873" y="7546363"/>
            <a:ext cx="837374" cy="781042"/>
          </a:xfrm>
          <a:custGeom>
            <a:avLst/>
            <a:gdLst/>
            <a:ahLst/>
            <a:cxnLst/>
            <a:rect r="r" b="b" t="t" l="l"/>
            <a:pathLst>
              <a:path h="781042" w="837374">
                <a:moveTo>
                  <a:pt x="0" y="0"/>
                </a:moveTo>
                <a:lnTo>
                  <a:pt x="837374" y="0"/>
                </a:lnTo>
                <a:lnTo>
                  <a:pt x="837374" y="781042"/>
                </a:lnTo>
                <a:lnTo>
                  <a:pt x="0" y="78104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5" id="35"/>
          <p:cNvSpPr/>
          <p:nvPr/>
        </p:nvSpPr>
        <p:spPr>
          <a:xfrm flipH="false" flipV="false" rot="0">
            <a:off x="3963271" y="3802824"/>
            <a:ext cx="1772717" cy="1772717"/>
          </a:xfrm>
          <a:custGeom>
            <a:avLst/>
            <a:gdLst/>
            <a:ahLst/>
            <a:cxnLst/>
            <a:rect r="r" b="b" t="t" l="l"/>
            <a:pathLst>
              <a:path h="1772717" w="1772717">
                <a:moveTo>
                  <a:pt x="0" y="0"/>
                </a:moveTo>
                <a:lnTo>
                  <a:pt x="1772717" y="0"/>
                </a:lnTo>
                <a:lnTo>
                  <a:pt x="1772717" y="1772717"/>
                </a:lnTo>
                <a:lnTo>
                  <a:pt x="0" y="177271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36" id="36"/>
          <p:cNvSpPr txBox="true"/>
          <p:nvPr/>
        </p:nvSpPr>
        <p:spPr>
          <a:xfrm rot="0">
            <a:off x="9140777" y="2274918"/>
            <a:ext cx="6674145" cy="714375"/>
          </a:xfrm>
          <a:prstGeom prst="rect">
            <a:avLst/>
          </a:prstGeom>
        </p:spPr>
        <p:txBody>
          <a:bodyPr anchor="t" rtlCol="false" tIns="0" lIns="0" bIns="0" rIns="0">
            <a:spAutoFit/>
          </a:bodyPr>
          <a:lstStyle/>
          <a:p>
            <a:pPr algn="ctr" marL="0" indent="0" lvl="0">
              <a:lnSpc>
                <a:spcPts val="5999"/>
              </a:lnSpc>
              <a:spcBef>
                <a:spcPct val="0"/>
              </a:spcBef>
            </a:pPr>
            <a:r>
              <a:rPr lang="en-US" sz="3999">
                <a:solidFill>
                  <a:srgbClr val="000000"/>
                </a:solidFill>
                <a:latin typeface="Pixelated"/>
                <a:ea typeface="Pixelated"/>
                <a:cs typeface="Pixelated"/>
                <a:sym typeface="Pixelated"/>
              </a:rPr>
              <a:t>Local Database</a:t>
            </a:r>
          </a:p>
        </p:txBody>
      </p:sp>
      <p:sp>
        <p:nvSpPr>
          <p:cNvPr name="TextBox 37" id="37"/>
          <p:cNvSpPr txBox="true"/>
          <p:nvPr/>
        </p:nvSpPr>
        <p:spPr>
          <a:xfrm rot="0">
            <a:off x="9166822" y="4024128"/>
            <a:ext cx="6674145" cy="714375"/>
          </a:xfrm>
          <a:prstGeom prst="rect">
            <a:avLst/>
          </a:prstGeom>
        </p:spPr>
        <p:txBody>
          <a:bodyPr anchor="t" rtlCol="false" tIns="0" lIns="0" bIns="0" rIns="0">
            <a:spAutoFit/>
          </a:bodyPr>
          <a:lstStyle/>
          <a:p>
            <a:pPr algn="ctr" marL="0" indent="0" lvl="0">
              <a:lnSpc>
                <a:spcPts val="5999"/>
              </a:lnSpc>
              <a:spcBef>
                <a:spcPct val="0"/>
              </a:spcBef>
            </a:pPr>
            <a:r>
              <a:rPr lang="en-US" sz="3999">
                <a:solidFill>
                  <a:srgbClr val="000000"/>
                </a:solidFill>
                <a:latin typeface="Pixelated"/>
                <a:ea typeface="Pixelated"/>
                <a:cs typeface="Pixelated"/>
                <a:sym typeface="Pixelated"/>
              </a:rPr>
              <a:t>SQLite and Hive</a:t>
            </a:r>
          </a:p>
        </p:txBody>
      </p:sp>
      <p:sp>
        <p:nvSpPr>
          <p:cNvPr name="TextBox 38" id="38"/>
          <p:cNvSpPr txBox="true"/>
          <p:nvPr/>
        </p:nvSpPr>
        <p:spPr>
          <a:xfrm rot="0">
            <a:off x="9166822" y="5782287"/>
            <a:ext cx="6674145" cy="714375"/>
          </a:xfrm>
          <a:prstGeom prst="rect">
            <a:avLst/>
          </a:prstGeom>
        </p:spPr>
        <p:txBody>
          <a:bodyPr anchor="t" rtlCol="false" tIns="0" lIns="0" bIns="0" rIns="0">
            <a:spAutoFit/>
          </a:bodyPr>
          <a:lstStyle/>
          <a:p>
            <a:pPr algn="ctr" marL="0" indent="0" lvl="0">
              <a:lnSpc>
                <a:spcPts val="5999"/>
              </a:lnSpc>
              <a:spcBef>
                <a:spcPct val="0"/>
              </a:spcBef>
            </a:pPr>
            <a:r>
              <a:rPr lang="en-US" sz="3999">
                <a:solidFill>
                  <a:srgbClr val="000000"/>
                </a:solidFill>
                <a:latin typeface="Pixelated"/>
                <a:ea typeface="Pixelated"/>
                <a:cs typeface="Pixelated"/>
                <a:sym typeface="Pixelated"/>
              </a:rPr>
              <a:t>Local Caching</a:t>
            </a:r>
          </a:p>
        </p:txBody>
      </p:sp>
      <p:sp>
        <p:nvSpPr>
          <p:cNvPr name="TextBox 39" id="39"/>
          <p:cNvSpPr txBox="true"/>
          <p:nvPr/>
        </p:nvSpPr>
        <p:spPr>
          <a:xfrm rot="0">
            <a:off x="9166822" y="7540446"/>
            <a:ext cx="6674145" cy="714375"/>
          </a:xfrm>
          <a:prstGeom prst="rect">
            <a:avLst/>
          </a:prstGeom>
        </p:spPr>
        <p:txBody>
          <a:bodyPr anchor="t" rtlCol="false" tIns="0" lIns="0" bIns="0" rIns="0">
            <a:spAutoFit/>
          </a:bodyPr>
          <a:lstStyle/>
          <a:p>
            <a:pPr algn="ctr" marL="0" indent="0" lvl="0">
              <a:lnSpc>
                <a:spcPts val="5999"/>
              </a:lnSpc>
              <a:spcBef>
                <a:spcPct val="0"/>
              </a:spcBef>
            </a:pPr>
            <a:r>
              <a:rPr lang="en-US" sz="3999">
                <a:solidFill>
                  <a:srgbClr val="000000"/>
                </a:solidFill>
                <a:latin typeface="Pixelated"/>
                <a:ea typeface="Pixelated"/>
                <a:cs typeface="Pixelated"/>
                <a:sym typeface="Pixelated"/>
              </a:rPr>
              <a:t>Offline First Architecture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766849" y="720090"/>
            <a:ext cx="16754302" cy="9163357"/>
            <a:chOff x="0" y="0"/>
            <a:chExt cx="4412656" cy="2413395"/>
          </a:xfrm>
        </p:grpSpPr>
        <p:sp>
          <p:nvSpPr>
            <p:cNvPr name="Freeform 16" id="16"/>
            <p:cNvSpPr/>
            <p:nvPr/>
          </p:nvSpPr>
          <p:spPr>
            <a:xfrm flipH="false" flipV="false" rot="0">
              <a:off x="0" y="0"/>
              <a:ext cx="4412655" cy="2413395"/>
            </a:xfrm>
            <a:custGeom>
              <a:avLst/>
              <a:gdLst/>
              <a:ahLst/>
              <a:cxnLst/>
              <a:rect r="r" b="b" t="t" l="l"/>
              <a:pathLst>
                <a:path h="2413395" w="4412655">
                  <a:moveTo>
                    <a:pt x="23566" y="0"/>
                  </a:moveTo>
                  <a:lnTo>
                    <a:pt x="4389089" y="0"/>
                  </a:lnTo>
                  <a:cubicBezTo>
                    <a:pt x="4395339" y="0"/>
                    <a:pt x="4401334" y="2483"/>
                    <a:pt x="4405753" y="6902"/>
                  </a:cubicBezTo>
                  <a:cubicBezTo>
                    <a:pt x="4410173" y="11322"/>
                    <a:pt x="4412655" y="17316"/>
                    <a:pt x="4412655" y="23566"/>
                  </a:cubicBezTo>
                  <a:lnTo>
                    <a:pt x="4412655" y="2389828"/>
                  </a:lnTo>
                  <a:cubicBezTo>
                    <a:pt x="4412655" y="2396078"/>
                    <a:pt x="4410173" y="2402073"/>
                    <a:pt x="4405753" y="2406492"/>
                  </a:cubicBezTo>
                  <a:cubicBezTo>
                    <a:pt x="4401334" y="2410912"/>
                    <a:pt x="4395339" y="2413395"/>
                    <a:pt x="4389089" y="2413395"/>
                  </a:cubicBezTo>
                  <a:lnTo>
                    <a:pt x="23566" y="2413395"/>
                  </a:lnTo>
                  <a:cubicBezTo>
                    <a:pt x="17316" y="2413395"/>
                    <a:pt x="11322" y="2410912"/>
                    <a:pt x="6902" y="2406492"/>
                  </a:cubicBezTo>
                  <a:cubicBezTo>
                    <a:pt x="2483" y="2402073"/>
                    <a:pt x="0" y="2396078"/>
                    <a:pt x="0" y="2389828"/>
                  </a:cubicBezTo>
                  <a:lnTo>
                    <a:pt x="0" y="23566"/>
                  </a:lnTo>
                  <a:cubicBezTo>
                    <a:pt x="0" y="17316"/>
                    <a:pt x="2483" y="11322"/>
                    <a:pt x="6902" y="6902"/>
                  </a:cubicBezTo>
                  <a:cubicBezTo>
                    <a:pt x="11322" y="2483"/>
                    <a:pt x="17316" y="0"/>
                    <a:pt x="23566"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412656" cy="2451495"/>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5" id="25"/>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028700" y="5143500"/>
            <a:ext cx="1990882" cy="2906397"/>
          </a:xfrm>
          <a:custGeom>
            <a:avLst/>
            <a:gdLst/>
            <a:ahLst/>
            <a:cxnLst/>
            <a:rect r="r" b="b" t="t" l="l"/>
            <a:pathLst>
              <a:path h="2906397" w="1990882">
                <a:moveTo>
                  <a:pt x="0" y="0"/>
                </a:moveTo>
                <a:lnTo>
                  <a:pt x="1990882" y="0"/>
                </a:lnTo>
                <a:lnTo>
                  <a:pt x="1990882" y="2906397"/>
                </a:lnTo>
                <a:lnTo>
                  <a:pt x="0" y="290639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aphicFrame>
        <p:nvGraphicFramePr>
          <p:cNvPr name="Table 27" id="27"/>
          <p:cNvGraphicFramePr>
            <a:graphicFrameLocks noGrp="true"/>
          </p:cNvGraphicFramePr>
          <p:nvPr/>
        </p:nvGraphicFramePr>
        <p:xfrm>
          <a:off x="3327784" y="4572000"/>
          <a:ext cx="7315200" cy="4114800"/>
        </p:xfrm>
        <a:graphic>
          <a:graphicData uri="http://schemas.openxmlformats.org/drawingml/2006/table">
            <a:tbl>
              <a:tblPr/>
              <a:tblGrid>
                <a:gridCol w="3657600"/>
                <a:gridCol w="3657600"/>
              </a:tblGrid>
              <a:tr h="710029">
                <a:tc>
                  <a:txBody>
                    <a:bodyPr anchor="t" rtlCol="false"/>
                    <a:lstStyle/>
                    <a:p>
                      <a:pPr algn="ctr">
                        <a:lnSpc>
                          <a:spcPts val="2520"/>
                        </a:lnSpc>
                        <a:defRPr/>
                      </a:pPr>
                      <a:r>
                        <a:rPr lang="en-US" sz="1800" b="true">
                          <a:solidFill>
                            <a:srgbClr val="FCFCFC"/>
                          </a:solidFill>
                          <a:latin typeface="Canva Sans Bold"/>
                          <a:ea typeface="Canva Sans Bold"/>
                          <a:cs typeface="Canva Sans Bold"/>
                          <a:sym typeface="Canva Sans Bold"/>
                        </a:rPr>
                        <a:t>SQLite</a:t>
                      </a:r>
                      <a:endParaRPr lang="en-US" sz="1100"/>
                    </a:p>
                  </a:txBody>
                  <a:tcPr marL="47625" marR="47625" marT="47625" marB="47625"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A6A6A6"/>
                      </a:solidFill>
                      <a:prstDash val="solid"/>
                      <a:round/>
                      <a:headEnd type="none" w="med" len="med"/>
                      <a:tailEnd type="none" w="med" len="med"/>
                    </a:lnB>
                    <a:solidFill>
                      <a:srgbClr val="8D62D3"/>
                    </a:solidFill>
                  </a:tcPr>
                </a:tc>
                <a:tc>
                  <a:txBody>
                    <a:bodyPr anchor="t" rtlCol="false"/>
                    <a:lstStyle/>
                    <a:p>
                      <a:pPr algn="ctr">
                        <a:lnSpc>
                          <a:spcPts val="2520"/>
                        </a:lnSpc>
                        <a:defRPr/>
                      </a:pPr>
                      <a:r>
                        <a:rPr lang="en-US" sz="1800" b="true">
                          <a:solidFill>
                            <a:srgbClr val="FCFCFC"/>
                          </a:solidFill>
                          <a:latin typeface="Canva Sans Bold"/>
                          <a:ea typeface="Canva Sans Bold"/>
                          <a:cs typeface="Canva Sans Bold"/>
                          <a:sym typeface="Canva Sans Bold"/>
                        </a:rPr>
                        <a:t>Hive</a:t>
                      </a:r>
                      <a:endParaRPr lang="en-US" sz="1100"/>
                    </a:p>
                  </a:txBody>
                  <a:tcPr marL="47625" marR="47625" marT="47625" marB="47625" anchor="ctr">
                    <a:lnL cmpd="sng" algn="ctr" cap="flat" w="9525">
                      <a:solidFill>
                        <a:srgbClr val="5B3FC4"/>
                      </a:solidFill>
                      <a:prstDash val="solid"/>
                      <a:round/>
                      <a:headEnd type="none" w="med" len="med"/>
                      <a:tailEnd type="none" w="med" len="med"/>
                    </a:lnL>
                    <a:lnR cmpd="sng" algn="ctr" cap="flat" w="9525">
                      <a:solidFill>
                        <a:srgbClr val="5B3FC4"/>
                      </a:solidFill>
                      <a:prstDash val="solid"/>
                      <a:round/>
                      <a:headEnd type="none" w="med" len="med"/>
                      <a:tailEnd type="none" w="med" len="med"/>
                    </a:lnR>
                    <a:lnT cmpd="sng" algn="ctr" cap="flat" w="9525">
                      <a:solidFill>
                        <a:srgbClr val="5B3FC4"/>
                      </a:solidFill>
                      <a:prstDash val="solid"/>
                      <a:round/>
                      <a:headEnd type="none" w="med" len="med"/>
                      <a:tailEnd type="none" w="med" len="med"/>
                    </a:lnT>
                    <a:lnB cmpd="sng" algn="ctr" cap="flat" w="9525">
                      <a:solidFill>
                        <a:srgbClr val="5B3FC4"/>
                      </a:solidFill>
                      <a:prstDash val="solid"/>
                      <a:round/>
                      <a:headEnd type="none" w="med" len="med"/>
                      <a:tailEnd type="none" w="med" len="med"/>
                    </a:lnB>
                    <a:solidFill>
                      <a:srgbClr val="8D62D3"/>
                    </a:solidFill>
                  </a:tcPr>
                </a:tc>
              </a:tr>
              <a:tr h="1149677">
                <a:tc>
                  <a:txBody>
                    <a:bodyPr anchor="t" rtlCol="false"/>
                    <a:lstStyle/>
                    <a:p>
                      <a:pPr algn="ctr">
                        <a:lnSpc>
                          <a:spcPts val="2520"/>
                        </a:lnSpc>
                        <a:defRPr/>
                      </a:pPr>
                      <a:r>
                        <a:rPr lang="en-US" sz="1800">
                          <a:solidFill>
                            <a:srgbClr val="000000"/>
                          </a:solidFill>
                          <a:latin typeface="Canva Sans"/>
                          <a:ea typeface="Canva Sans"/>
                          <a:cs typeface="Canva Sans"/>
                          <a:sym typeface="Canva Sans"/>
                        </a:rPr>
                        <a:t>Relational database</a:t>
                      </a:r>
                      <a:endParaRPr lang="en-US" sz="1100"/>
                    </a:p>
                  </a:txBody>
                  <a:tcPr marL="47625" marR="47625" marT="47625" marB="47625" anchor="ctr">
                    <a:lnL cmpd="sng" algn="ctr" cap="flat" w="0">
                      <a:solidFill>
                        <a:srgbClr val="A6A6A6"/>
                      </a:solidFill>
                      <a:prstDash val="solid"/>
                      <a:round/>
                      <a:headEnd type="none" w="med" len="med"/>
                      <a:tailEnd type="none" w="med" len="med"/>
                    </a:lnL>
                    <a:lnR cmpd="sng" algn="ctr" cap="flat" w="0">
                      <a:solidFill>
                        <a:srgbClr val="A6A6A6"/>
                      </a:solidFill>
                      <a:prstDash val="solid"/>
                      <a:round/>
                      <a:headEnd type="none" w="med" len="med"/>
                      <a:tailEnd type="none" w="med" len="med"/>
                    </a:lnR>
                    <a:lnT cmpd="sng" algn="ctr" cap="flat" w="0">
                      <a:solidFill>
                        <a:srgbClr val="A6A6A6"/>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BBAD8"/>
                    </a:solidFill>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NoSQL / key-value style database</a:t>
                      </a:r>
                      <a:endParaRPr lang="en-US" sz="1100"/>
                    </a:p>
                  </a:txBody>
                  <a:tcPr marL="47625" marR="47625" marT="47625" marB="47625" anchor="ctr">
                    <a:lnL cmpd="sng" algn="ctr" cap="flat" w="0">
                      <a:solidFill>
                        <a:srgbClr val="A6A6A6"/>
                      </a:solidFill>
                      <a:prstDash val="solid"/>
                      <a:round/>
                      <a:headEnd type="none" w="med" len="med"/>
                      <a:tailEnd type="none" w="med" len="med"/>
                    </a:lnL>
                    <a:lnR cmpd="sng" algn="ctr" cap="flat" w="0">
                      <a:solidFill>
                        <a:srgbClr val="A6A6A6"/>
                      </a:solidFill>
                      <a:prstDash val="solid"/>
                      <a:round/>
                      <a:headEnd type="none" w="med" len="med"/>
                      <a:tailEnd type="none" w="med" len="med"/>
                    </a:lnR>
                    <a:lnT cmpd="sng" algn="ctr" cap="flat" w="0">
                      <a:solidFill>
                        <a:srgbClr val="A6A6A6"/>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BBAD8"/>
                    </a:solidFill>
                  </a:tcPr>
                </a:tc>
              </a:tr>
              <a:tr h="1129874">
                <a:tc>
                  <a:txBody>
                    <a:bodyPr anchor="t" rtlCol="false"/>
                    <a:lstStyle/>
                    <a:p>
                      <a:pPr algn="ctr">
                        <a:lnSpc>
                          <a:spcPts val="2520"/>
                        </a:lnSpc>
                        <a:defRPr/>
                      </a:pPr>
                      <a:r>
                        <a:rPr lang="en-US" sz="1800">
                          <a:solidFill>
                            <a:srgbClr val="000000"/>
                          </a:solidFill>
                          <a:latin typeface="Canva Sans"/>
                          <a:ea typeface="Canva Sans"/>
                          <a:cs typeface="Canva Sans"/>
                          <a:sym typeface="Canva Sans"/>
                        </a:rPr>
                        <a:t>Uses tables and SQL</a:t>
                      </a:r>
                      <a:endParaRPr lang="en-US" sz="1100"/>
                    </a:p>
                  </a:txBody>
                  <a:tcPr marL="47625" marR="47625" marT="47625" marB="47625" anchor="ctr">
                    <a:lnL cmpd="sng" algn="ctr" cap="flat" w="0">
                      <a:solidFill>
                        <a:srgbClr val="A6A6A6"/>
                      </a:solidFill>
                      <a:prstDash val="solid"/>
                      <a:round/>
                      <a:headEnd type="none" w="med" len="med"/>
                      <a:tailEnd type="none" w="med" len="med"/>
                    </a:lnL>
                    <a:lnR cmpd="sng" algn="ctr" cap="flat" w="0">
                      <a:solidFill>
                        <a:srgbClr val="A6A6A6"/>
                      </a:solidFill>
                      <a:prstDash val="solid"/>
                      <a:round/>
                      <a:headEnd type="none" w="med" len="med"/>
                      <a:tailEnd type="none" w="med" len="med"/>
                    </a:lnR>
                    <a:lnT cmpd="sng" algn="ctr" cap="flat" w="0">
                      <a:solidFill>
                        <a:srgbClr val="A6A6A6"/>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BBAD8"/>
                    </a:solidFill>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Simple and lightweight</a:t>
                      </a:r>
                      <a:endParaRPr lang="en-US" sz="1100"/>
                    </a:p>
                  </a:txBody>
                  <a:tcPr marL="47625" marR="47625" marT="47625" marB="47625" anchor="ctr">
                    <a:lnL cmpd="sng" algn="ctr" cap="flat" w="0">
                      <a:solidFill>
                        <a:srgbClr val="A6A6A6"/>
                      </a:solidFill>
                      <a:prstDash val="solid"/>
                      <a:round/>
                      <a:headEnd type="none" w="med" len="med"/>
                      <a:tailEnd type="none" w="med" len="med"/>
                    </a:lnL>
                    <a:lnR cmpd="sng" algn="ctr" cap="flat" w="0">
                      <a:solidFill>
                        <a:srgbClr val="A6A6A6"/>
                      </a:solidFill>
                      <a:prstDash val="solid"/>
                      <a:round/>
                      <a:headEnd type="none" w="med" len="med"/>
                      <a:tailEnd type="none" w="med" len="med"/>
                    </a:lnR>
                    <a:lnT cmpd="sng" algn="ctr" cap="flat" w="0">
                      <a:solidFill>
                        <a:srgbClr val="A6A6A6"/>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BBAD8"/>
                    </a:solidFill>
                  </a:tcPr>
                </a:tc>
              </a:tr>
              <a:tr h="1125221">
                <a:tc>
                  <a:txBody>
                    <a:bodyPr anchor="t" rtlCol="false"/>
                    <a:lstStyle/>
                    <a:p>
                      <a:pPr algn="ctr">
                        <a:lnSpc>
                          <a:spcPts val="2520"/>
                        </a:lnSpc>
                        <a:defRPr/>
                      </a:pPr>
                      <a:r>
                        <a:rPr lang="en-US" sz="1800">
                          <a:solidFill>
                            <a:srgbClr val="000000"/>
                          </a:solidFill>
                          <a:latin typeface="Canva Sans"/>
                          <a:ea typeface="Canva Sans"/>
                          <a:cs typeface="Canva Sans"/>
                          <a:sym typeface="Canva Sans"/>
                        </a:rPr>
                        <a:t>Suitable for structured and relational data</a:t>
                      </a:r>
                      <a:endParaRPr lang="en-US" sz="1100"/>
                    </a:p>
                  </a:txBody>
                  <a:tcPr marL="47625" marR="47625" marT="47625" marB="47625" anchor="ctr">
                    <a:lnL cmpd="sng" algn="ctr" cap="flat" w="0">
                      <a:solidFill>
                        <a:srgbClr val="A6A6A6"/>
                      </a:solidFill>
                      <a:prstDash val="solid"/>
                      <a:round/>
                      <a:headEnd type="none" w="med" len="med"/>
                      <a:tailEnd type="none" w="med" len="med"/>
                    </a:lnL>
                    <a:lnR cmpd="sng" algn="ctr" cap="flat" w="0">
                      <a:solidFill>
                        <a:srgbClr val="A6A6A6"/>
                      </a:solidFill>
                      <a:prstDash val="solid"/>
                      <a:round/>
                      <a:headEnd type="none" w="med" len="med"/>
                      <a:tailEnd type="none" w="med" len="med"/>
                    </a:lnR>
                    <a:lnT cmpd="sng" algn="ctr" cap="flat" w="0">
                      <a:solidFill>
                        <a:srgbClr val="A6A6A6"/>
                      </a:solidFill>
                      <a:prstDash val="solid"/>
                      <a:round/>
                      <a:headEnd type="none" w="med" len="med"/>
                      <a:tailEnd type="none" w="med" len="med"/>
                    </a:lnT>
                    <a:lnB cmpd="sng" algn="ctr" cap="flat" w="0">
                      <a:solidFill>
                        <a:srgbClr val="D9D9D9"/>
                      </a:solidFill>
                      <a:prstDash val="solid"/>
                      <a:round/>
                      <a:headEnd type="none" w="med" len="med"/>
                      <a:tailEnd type="none" w="med" len="med"/>
                    </a:lnB>
                    <a:solidFill>
                      <a:srgbClr val="FBBAD8"/>
                    </a:solidFill>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Convenient for local objects and simpler data structures</a:t>
                      </a:r>
                      <a:endParaRPr lang="en-US" sz="1100"/>
                    </a:p>
                  </a:txBody>
                  <a:tcPr marL="47625" marR="47625" marT="47625" marB="47625" anchor="ctr">
                    <a:lnL cmpd="sng" algn="ctr" cap="flat" w="0">
                      <a:solidFill>
                        <a:srgbClr val="A6A6A6"/>
                      </a:solidFill>
                      <a:prstDash val="solid"/>
                      <a:round/>
                      <a:headEnd type="none" w="med" len="med"/>
                      <a:tailEnd type="none" w="med" len="med"/>
                    </a:lnL>
                    <a:lnR cmpd="sng" algn="ctr" cap="flat" w="0">
                      <a:solidFill>
                        <a:srgbClr val="A6A6A6"/>
                      </a:solidFill>
                      <a:prstDash val="solid"/>
                      <a:round/>
                      <a:headEnd type="none" w="med" len="med"/>
                      <a:tailEnd type="none" w="med" len="med"/>
                    </a:lnR>
                    <a:lnT cmpd="sng" algn="ctr" cap="flat" w="0">
                      <a:solidFill>
                        <a:srgbClr val="A6A6A6"/>
                      </a:solidFill>
                      <a:prstDash val="solid"/>
                      <a:round/>
                      <a:headEnd type="none" w="med" len="med"/>
                      <a:tailEnd type="none" w="med" len="med"/>
                    </a:lnT>
                    <a:lnB cmpd="sng" algn="ctr" cap="flat" w="0">
                      <a:solidFill>
                        <a:srgbClr val="D9D9D9"/>
                      </a:solidFill>
                      <a:prstDash val="solid"/>
                      <a:round/>
                      <a:headEnd type="none" w="med" len="med"/>
                      <a:tailEnd type="none" w="med" len="med"/>
                    </a:lnB>
                    <a:solidFill>
                      <a:srgbClr val="FBBAD8"/>
                    </a:solidFill>
                  </a:tcPr>
                </a:tc>
              </a:tr>
            </a:tbl>
          </a:graphicData>
        </a:graphic>
      </p:graphicFrame>
      <p:sp>
        <p:nvSpPr>
          <p:cNvPr name="TextBox 28" id="28"/>
          <p:cNvSpPr txBox="true"/>
          <p:nvPr/>
        </p:nvSpPr>
        <p:spPr>
          <a:xfrm rot="0">
            <a:off x="1705126" y="1123950"/>
            <a:ext cx="14411112" cy="933450"/>
          </a:xfrm>
          <a:prstGeom prst="rect">
            <a:avLst/>
          </a:prstGeom>
        </p:spPr>
        <p:txBody>
          <a:bodyPr anchor="t" rtlCol="false" tIns="0" lIns="0" bIns="0" rIns="0">
            <a:spAutoFit/>
          </a:bodyPr>
          <a:lstStyle/>
          <a:p>
            <a:pPr algn="ctr" marL="0" indent="0" lvl="0">
              <a:lnSpc>
                <a:spcPts val="7320"/>
              </a:lnSpc>
              <a:spcBef>
                <a:spcPct val="0"/>
              </a:spcBef>
            </a:pPr>
            <a:r>
              <a:rPr lang="en-US" sz="6100">
                <a:solidFill>
                  <a:srgbClr val="FFFFFF"/>
                </a:solidFill>
                <a:latin typeface="VT323"/>
                <a:ea typeface="VT323"/>
                <a:cs typeface="VT323"/>
                <a:sym typeface="VT323"/>
              </a:rPr>
              <a:t>WHAT IS LOCAL DATABASE?</a:t>
            </a:r>
          </a:p>
        </p:txBody>
      </p:sp>
      <p:sp>
        <p:nvSpPr>
          <p:cNvPr name="TextBox 29" id="29"/>
          <p:cNvSpPr txBox="true"/>
          <p:nvPr/>
        </p:nvSpPr>
        <p:spPr>
          <a:xfrm rot="0">
            <a:off x="1705126" y="2105025"/>
            <a:ext cx="15209781" cy="1967231"/>
          </a:xfrm>
          <a:prstGeom prst="rect">
            <a:avLst/>
          </a:prstGeom>
        </p:spPr>
        <p:txBody>
          <a:bodyPr anchor="t" rtlCol="false" tIns="0" lIns="0" bIns="0" rIns="0">
            <a:spAutoFit/>
          </a:bodyPr>
          <a:lstStyle/>
          <a:p>
            <a:pPr algn="ctr">
              <a:lnSpc>
                <a:spcPts val="3919"/>
              </a:lnSpc>
              <a:spcBef>
                <a:spcPct val="0"/>
              </a:spcBef>
            </a:pPr>
            <a:r>
              <a:rPr lang="en-US" sz="2799">
                <a:solidFill>
                  <a:srgbClr val="FFFFFF"/>
                </a:solidFill>
                <a:latin typeface="Open Sans"/>
                <a:ea typeface="Open Sans"/>
                <a:cs typeface="Open Sans"/>
                <a:sym typeface="Open Sans"/>
              </a:rPr>
              <a:t>A l</a:t>
            </a:r>
            <a:r>
              <a:rPr lang="en-US" sz="2799">
                <a:solidFill>
                  <a:srgbClr val="FFFFFF"/>
                </a:solidFill>
                <a:latin typeface="Open Sans"/>
                <a:ea typeface="Open Sans"/>
                <a:cs typeface="Open Sans"/>
                <a:sym typeface="Open Sans"/>
              </a:rPr>
              <a:t>ocal database is a structured storage system that keeps application data directly on the user's device. Unlike simple preference storage, databases are designed to handle larger amounts of structured data and support operations such as querying, updating, and deleting records</a:t>
            </a:r>
          </a:p>
        </p:txBody>
      </p:sp>
      <p:sp>
        <p:nvSpPr>
          <p:cNvPr name="TextBox 30" id="30"/>
          <p:cNvSpPr txBox="true"/>
          <p:nvPr/>
        </p:nvSpPr>
        <p:spPr>
          <a:xfrm rot="0">
            <a:off x="10642984" y="3822787"/>
            <a:ext cx="6438691" cy="5503372"/>
          </a:xfrm>
          <a:prstGeom prst="rect">
            <a:avLst/>
          </a:prstGeom>
        </p:spPr>
        <p:txBody>
          <a:bodyPr anchor="t" rtlCol="false" tIns="0" lIns="0" bIns="0" rIns="0">
            <a:spAutoFit/>
          </a:bodyPr>
          <a:lstStyle/>
          <a:p>
            <a:pPr algn="ctr">
              <a:lnSpc>
                <a:spcPts val="5889"/>
              </a:lnSpc>
            </a:pPr>
            <a:r>
              <a:rPr lang="en-US" sz="4206">
                <a:solidFill>
                  <a:srgbClr val="FFFFFF"/>
                </a:solidFill>
                <a:latin typeface="Nine by Five"/>
                <a:ea typeface="Nine by Five"/>
                <a:cs typeface="Nine by Five"/>
                <a:sym typeface="Nine by Five"/>
              </a:rPr>
              <a:t>WHY LOCAL STORAGE?</a:t>
            </a:r>
          </a:p>
          <a:p>
            <a:pPr algn="l" marL="584404" indent="-292202" lvl="1">
              <a:lnSpc>
                <a:spcPts val="3789"/>
              </a:lnSpc>
              <a:buFont typeface="Arial"/>
              <a:buChar char="•"/>
            </a:pPr>
            <a:r>
              <a:rPr lang="en-US" sz="2706">
                <a:solidFill>
                  <a:srgbClr val="FFFFFF"/>
                </a:solidFill>
                <a:latin typeface="Pixelated"/>
                <a:ea typeface="Pixelated"/>
                <a:cs typeface="Pixelated"/>
                <a:sym typeface="Pixelated"/>
              </a:rPr>
              <a:t>Applications need to store hundreds of records</a:t>
            </a:r>
          </a:p>
          <a:p>
            <a:pPr algn="l" marL="584404" indent="-292202" lvl="1">
              <a:lnSpc>
                <a:spcPts val="3789"/>
              </a:lnSpc>
              <a:buFont typeface="Arial"/>
              <a:buChar char="•"/>
            </a:pPr>
            <a:r>
              <a:rPr lang="en-US" sz="2706">
                <a:solidFill>
                  <a:srgbClr val="FFFFFF"/>
                </a:solidFill>
                <a:latin typeface="Pixelated"/>
                <a:ea typeface="Pixelated"/>
                <a:cs typeface="Pixelated"/>
                <a:sym typeface="Pixelated"/>
              </a:rPr>
              <a:t>M</a:t>
            </a:r>
            <a:r>
              <a:rPr lang="en-US" sz="2706">
                <a:solidFill>
                  <a:srgbClr val="FFFFFF"/>
                </a:solidFill>
                <a:latin typeface="Pixelated"/>
                <a:ea typeface="Pixelated"/>
                <a:cs typeface="Pixelated"/>
                <a:sym typeface="Pixelated"/>
              </a:rPr>
              <a:t>ultiple fields and relationships of data</a:t>
            </a:r>
          </a:p>
          <a:p>
            <a:pPr algn="l" marL="584404" indent="-292202" lvl="1">
              <a:lnSpc>
                <a:spcPts val="3789"/>
              </a:lnSpc>
              <a:buFont typeface="Arial"/>
              <a:buChar char="•"/>
            </a:pPr>
            <a:r>
              <a:rPr lang="en-US" sz="2706">
                <a:solidFill>
                  <a:srgbClr val="FFFFFF"/>
                </a:solidFill>
                <a:latin typeface="Pixelated"/>
                <a:ea typeface="Pixelated"/>
                <a:cs typeface="Pixelated"/>
                <a:sym typeface="Pixelated"/>
              </a:rPr>
              <a:t>T</a:t>
            </a:r>
            <a:r>
              <a:rPr lang="en-US" sz="2706">
                <a:solidFill>
                  <a:srgbClr val="FFFFFF"/>
                </a:solidFill>
                <a:latin typeface="Pixelated"/>
                <a:ea typeface="Pixelated"/>
                <a:cs typeface="Pixelated"/>
                <a:sym typeface="Pixelated"/>
              </a:rPr>
              <a:t>o search, filter, sort, update, and delete records</a:t>
            </a:r>
          </a:p>
          <a:p>
            <a:pPr algn="l" marL="584404" indent="-292202" lvl="1">
              <a:lnSpc>
                <a:spcPts val="3789"/>
              </a:lnSpc>
              <a:buFont typeface="Arial"/>
              <a:buChar char="•"/>
            </a:pPr>
            <a:r>
              <a:rPr lang="en-US" sz="2706">
                <a:solidFill>
                  <a:srgbClr val="FFFFFF"/>
                </a:solidFill>
                <a:latin typeface="Pixelated"/>
                <a:ea typeface="Pixelated"/>
                <a:cs typeface="Pixelated"/>
                <a:sym typeface="Pixelated"/>
              </a:rPr>
              <a:t>T</a:t>
            </a:r>
            <a:r>
              <a:rPr lang="en-US" sz="2706">
                <a:solidFill>
                  <a:srgbClr val="FFFFFF"/>
                </a:solidFill>
                <a:latin typeface="Pixelated"/>
                <a:ea typeface="Pixelated"/>
                <a:cs typeface="Pixelated"/>
                <a:sym typeface="Pixelated"/>
              </a:rPr>
              <a:t>o remain data available even without network connectivity</a:t>
            </a:r>
          </a:p>
          <a:p>
            <a:pPr algn="l" marL="584404" indent="-292202" lvl="1">
              <a:lnSpc>
                <a:spcPts val="3789"/>
              </a:lnSpc>
              <a:spcBef>
                <a:spcPct val="0"/>
              </a:spcBef>
              <a:buFont typeface="Arial"/>
              <a:buChar char="•"/>
            </a:pPr>
            <a:r>
              <a:rPr lang="en-US" sz="2706">
                <a:solidFill>
                  <a:srgbClr val="FFFFFF"/>
                </a:solidFill>
                <a:latin typeface="Pixelated"/>
                <a:ea typeface="Pixelated"/>
                <a:cs typeface="Pixelated"/>
                <a:sym typeface="Pixelated"/>
              </a:rPr>
              <a:t>Local databases can also be used to cache API data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3447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7" id="17"/>
          <p:cNvGrpSpPr/>
          <p:nvPr/>
        </p:nvGrpSpPr>
        <p:grpSpPr>
          <a:xfrm rot="0">
            <a:off x="223138" y="720090"/>
            <a:ext cx="17863473" cy="9250351"/>
            <a:chOff x="0" y="0"/>
            <a:chExt cx="4704783" cy="2436306"/>
          </a:xfrm>
        </p:grpSpPr>
        <p:sp>
          <p:nvSpPr>
            <p:cNvPr name="Freeform 18" id="18"/>
            <p:cNvSpPr/>
            <p:nvPr/>
          </p:nvSpPr>
          <p:spPr>
            <a:xfrm flipH="false" flipV="false" rot="0">
              <a:off x="0" y="0"/>
              <a:ext cx="4704783" cy="2436307"/>
            </a:xfrm>
            <a:custGeom>
              <a:avLst/>
              <a:gdLst/>
              <a:ahLst/>
              <a:cxnLst/>
              <a:rect r="r" b="b" t="t" l="l"/>
              <a:pathLst>
                <a:path h="2436307" w="4704783">
                  <a:moveTo>
                    <a:pt x="22103" y="0"/>
                  </a:moveTo>
                  <a:lnTo>
                    <a:pt x="4682680" y="0"/>
                  </a:lnTo>
                  <a:cubicBezTo>
                    <a:pt x="4694887" y="0"/>
                    <a:pt x="4704783" y="9896"/>
                    <a:pt x="4704783" y="22103"/>
                  </a:cubicBezTo>
                  <a:lnTo>
                    <a:pt x="4704783" y="2414203"/>
                  </a:lnTo>
                  <a:cubicBezTo>
                    <a:pt x="4704783" y="2420065"/>
                    <a:pt x="4702454" y="2425688"/>
                    <a:pt x="4698309" y="2429833"/>
                  </a:cubicBezTo>
                  <a:cubicBezTo>
                    <a:pt x="4694164" y="2433978"/>
                    <a:pt x="4688542" y="2436307"/>
                    <a:pt x="4682680" y="2436307"/>
                  </a:cubicBezTo>
                  <a:lnTo>
                    <a:pt x="22103" y="2436307"/>
                  </a:lnTo>
                  <a:cubicBezTo>
                    <a:pt x="16241" y="2436307"/>
                    <a:pt x="10619" y="2433978"/>
                    <a:pt x="6474" y="2429833"/>
                  </a:cubicBezTo>
                  <a:cubicBezTo>
                    <a:pt x="2329" y="2425688"/>
                    <a:pt x="0" y="2420065"/>
                    <a:pt x="0" y="2414203"/>
                  </a:cubicBezTo>
                  <a:lnTo>
                    <a:pt x="0" y="22103"/>
                  </a:lnTo>
                  <a:cubicBezTo>
                    <a:pt x="0" y="16241"/>
                    <a:pt x="2329" y="10619"/>
                    <a:pt x="6474" y="6474"/>
                  </a:cubicBezTo>
                  <a:cubicBezTo>
                    <a:pt x="10619" y="2329"/>
                    <a:pt x="16241" y="0"/>
                    <a:pt x="22103" y="0"/>
                  </a:cubicBezTo>
                  <a:close/>
                </a:path>
              </a:pathLst>
            </a:custGeom>
            <a:solidFill>
              <a:srgbClr val="5B3FC4">
                <a:alpha val="84706"/>
              </a:srgbClr>
            </a:solidFill>
            <a:ln w="76200" cap="rnd">
              <a:solidFill>
                <a:srgbClr val="000000">
                  <a:alpha val="84706"/>
                </a:srgbClr>
              </a:solidFill>
              <a:prstDash val="solid"/>
              <a:round/>
            </a:ln>
          </p:spPr>
        </p:sp>
        <p:sp>
          <p:nvSpPr>
            <p:cNvPr name="TextBox 19" id="19"/>
            <p:cNvSpPr txBox="true"/>
            <p:nvPr/>
          </p:nvSpPr>
          <p:spPr>
            <a:xfrm>
              <a:off x="0" y="-38100"/>
              <a:ext cx="4704783" cy="2474406"/>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4" id="24"/>
          <p:cNvSpPr txBox="true"/>
          <p:nvPr/>
        </p:nvSpPr>
        <p:spPr>
          <a:xfrm rot="0">
            <a:off x="2031352" y="989667"/>
            <a:ext cx="14084886" cy="1238250"/>
          </a:xfrm>
          <a:prstGeom prst="rect">
            <a:avLst/>
          </a:prstGeom>
        </p:spPr>
        <p:txBody>
          <a:bodyPr anchor="t" rtlCol="false" tIns="0" lIns="0" bIns="0" rIns="0">
            <a:spAutoFit/>
          </a:bodyPr>
          <a:lstStyle/>
          <a:p>
            <a:pPr algn="ctr" marL="0" indent="0" lvl="0">
              <a:lnSpc>
                <a:spcPts val="9600"/>
              </a:lnSpc>
              <a:spcBef>
                <a:spcPct val="0"/>
              </a:spcBef>
            </a:pPr>
            <a:r>
              <a:rPr lang="en-US" sz="8000">
                <a:solidFill>
                  <a:srgbClr val="FFFFFF"/>
                </a:solidFill>
                <a:latin typeface="VT323"/>
                <a:ea typeface="VT323"/>
                <a:cs typeface="VT323"/>
                <a:sym typeface="VT323"/>
              </a:rPr>
              <a:t>DATABASE OPERATIONS &amp; CRUD</a:t>
            </a:r>
          </a:p>
        </p:txBody>
      </p:sp>
      <p:sp>
        <p:nvSpPr>
          <p:cNvPr name="Freeform 25" id="25"/>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7" id="27"/>
          <p:cNvSpPr/>
          <p:nvPr/>
        </p:nvSpPr>
        <p:spPr>
          <a:xfrm flipH="false" flipV="false" rot="0">
            <a:off x="7378147" y="2739505"/>
            <a:ext cx="4876244" cy="2438122"/>
          </a:xfrm>
          <a:custGeom>
            <a:avLst/>
            <a:gdLst/>
            <a:ahLst/>
            <a:cxnLst/>
            <a:rect r="r" b="b" t="t" l="l"/>
            <a:pathLst>
              <a:path h="2438122" w="4876244">
                <a:moveTo>
                  <a:pt x="0" y="0"/>
                </a:moveTo>
                <a:lnTo>
                  <a:pt x="4876244" y="0"/>
                </a:lnTo>
                <a:lnTo>
                  <a:pt x="4876244" y="2438121"/>
                </a:lnTo>
                <a:lnTo>
                  <a:pt x="0" y="2438121"/>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8" id="28"/>
          <p:cNvSpPr/>
          <p:nvPr/>
        </p:nvSpPr>
        <p:spPr>
          <a:xfrm flipH="false" flipV="false" rot="0">
            <a:off x="6932904" y="2828983"/>
            <a:ext cx="1219949" cy="2259166"/>
          </a:xfrm>
          <a:custGeom>
            <a:avLst/>
            <a:gdLst/>
            <a:ahLst/>
            <a:cxnLst/>
            <a:rect r="r" b="b" t="t" l="l"/>
            <a:pathLst>
              <a:path h="2259166" w="1219949">
                <a:moveTo>
                  <a:pt x="0" y="0"/>
                </a:moveTo>
                <a:lnTo>
                  <a:pt x="1219949" y="0"/>
                </a:lnTo>
                <a:lnTo>
                  <a:pt x="1219949" y="2259165"/>
                </a:lnTo>
                <a:lnTo>
                  <a:pt x="0" y="225916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9" id="29"/>
          <p:cNvSpPr/>
          <p:nvPr/>
        </p:nvSpPr>
        <p:spPr>
          <a:xfrm flipH="false" flipV="false" rot="0">
            <a:off x="12790270" y="2828983"/>
            <a:ext cx="4876244" cy="2438122"/>
          </a:xfrm>
          <a:custGeom>
            <a:avLst/>
            <a:gdLst/>
            <a:ahLst/>
            <a:cxnLst/>
            <a:rect r="r" b="b" t="t" l="l"/>
            <a:pathLst>
              <a:path h="2438122" w="4876244">
                <a:moveTo>
                  <a:pt x="0" y="0"/>
                </a:moveTo>
                <a:lnTo>
                  <a:pt x="4876243" y="0"/>
                </a:lnTo>
                <a:lnTo>
                  <a:pt x="4876243" y="2438121"/>
                </a:lnTo>
                <a:lnTo>
                  <a:pt x="0" y="2438121"/>
                </a:lnTo>
                <a:lnTo>
                  <a:pt x="0" y="0"/>
                </a:lnTo>
                <a:close/>
              </a:path>
            </a:pathLst>
          </a:custGeom>
          <a:blipFill>
            <a:blip r:embed="rId23"/>
            <a:stretch>
              <a:fillRect l="0" t="0" r="0" b="0"/>
            </a:stretch>
          </a:blipFill>
        </p:spPr>
      </p:sp>
      <p:sp>
        <p:nvSpPr>
          <p:cNvPr name="Freeform 30" id="30"/>
          <p:cNvSpPr/>
          <p:nvPr/>
        </p:nvSpPr>
        <p:spPr>
          <a:xfrm flipH="false" flipV="false" rot="0">
            <a:off x="12331067" y="2918461"/>
            <a:ext cx="1219949" cy="2259166"/>
          </a:xfrm>
          <a:custGeom>
            <a:avLst/>
            <a:gdLst/>
            <a:ahLst/>
            <a:cxnLst/>
            <a:rect r="r" b="b" t="t" l="l"/>
            <a:pathLst>
              <a:path h="2259166" w="1219949">
                <a:moveTo>
                  <a:pt x="0" y="0"/>
                </a:moveTo>
                <a:lnTo>
                  <a:pt x="1219949" y="0"/>
                </a:lnTo>
                <a:lnTo>
                  <a:pt x="1219949" y="2259165"/>
                </a:lnTo>
                <a:lnTo>
                  <a:pt x="0" y="225916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1" id="31"/>
          <p:cNvSpPr/>
          <p:nvPr/>
        </p:nvSpPr>
        <p:spPr>
          <a:xfrm flipH="false" flipV="false" rot="0">
            <a:off x="12790270" y="6359483"/>
            <a:ext cx="4876244" cy="2438122"/>
          </a:xfrm>
          <a:custGeom>
            <a:avLst/>
            <a:gdLst/>
            <a:ahLst/>
            <a:cxnLst/>
            <a:rect r="r" b="b" t="t" l="l"/>
            <a:pathLst>
              <a:path h="2438122" w="4876244">
                <a:moveTo>
                  <a:pt x="0" y="0"/>
                </a:moveTo>
                <a:lnTo>
                  <a:pt x="4876243" y="0"/>
                </a:lnTo>
                <a:lnTo>
                  <a:pt x="4876243" y="2438122"/>
                </a:lnTo>
                <a:lnTo>
                  <a:pt x="0" y="2438122"/>
                </a:lnTo>
                <a:lnTo>
                  <a:pt x="0" y="0"/>
                </a:lnTo>
                <a:close/>
              </a:path>
            </a:pathLst>
          </a:custGeom>
          <a:blipFill>
            <a:blip r:embed="rId23"/>
            <a:stretch>
              <a:fillRect l="0" t="0" r="0" b="0"/>
            </a:stretch>
          </a:blipFill>
        </p:spPr>
      </p:sp>
      <p:sp>
        <p:nvSpPr>
          <p:cNvPr name="Freeform 32" id="32"/>
          <p:cNvSpPr/>
          <p:nvPr/>
        </p:nvSpPr>
        <p:spPr>
          <a:xfrm flipH="false" flipV="false" rot="0">
            <a:off x="7542879" y="6359483"/>
            <a:ext cx="4876244" cy="2438122"/>
          </a:xfrm>
          <a:custGeom>
            <a:avLst/>
            <a:gdLst/>
            <a:ahLst/>
            <a:cxnLst/>
            <a:rect r="r" b="b" t="t" l="l"/>
            <a:pathLst>
              <a:path h="2438122" w="4876244">
                <a:moveTo>
                  <a:pt x="0" y="0"/>
                </a:moveTo>
                <a:lnTo>
                  <a:pt x="4876243" y="0"/>
                </a:lnTo>
                <a:lnTo>
                  <a:pt x="4876243" y="2438122"/>
                </a:lnTo>
                <a:lnTo>
                  <a:pt x="0" y="2438122"/>
                </a:lnTo>
                <a:lnTo>
                  <a:pt x="0" y="0"/>
                </a:lnTo>
                <a:close/>
              </a:path>
            </a:pathLst>
          </a:custGeom>
          <a:blipFill>
            <a:blip r:embed="rId23"/>
            <a:stretch>
              <a:fillRect l="0" t="0" r="0" b="0"/>
            </a:stretch>
          </a:blipFill>
        </p:spPr>
      </p:sp>
      <p:sp>
        <p:nvSpPr>
          <p:cNvPr name="Freeform 33" id="33"/>
          <p:cNvSpPr/>
          <p:nvPr/>
        </p:nvSpPr>
        <p:spPr>
          <a:xfrm flipH="false" flipV="false" rot="0">
            <a:off x="6932904" y="6359483"/>
            <a:ext cx="1219949" cy="2259166"/>
          </a:xfrm>
          <a:custGeom>
            <a:avLst/>
            <a:gdLst/>
            <a:ahLst/>
            <a:cxnLst/>
            <a:rect r="r" b="b" t="t" l="l"/>
            <a:pathLst>
              <a:path h="2259166" w="1219949">
                <a:moveTo>
                  <a:pt x="0" y="0"/>
                </a:moveTo>
                <a:lnTo>
                  <a:pt x="1219949" y="0"/>
                </a:lnTo>
                <a:lnTo>
                  <a:pt x="1219949" y="2259165"/>
                </a:lnTo>
                <a:lnTo>
                  <a:pt x="0" y="225916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4" id="34"/>
          <p:cNvSpPr/>
          <p:nvPr/>
        </p:nvSpPr>
        <p:spPr>
          <a:xfrm flipH="false" flipV="false" rot="0">
            <a:off x="12486526" y="6359483"/>
            <a:ext cx="1219949" cy="2259166"/>
          </a:xfrm>
          <a:custGeom>
            <a:avLst/>
            <a:gdLst/>
            <a:ahLst/>
            <a:cxnLst/>
            <a:rect r="r" b="b" t="t" l="l"/>
            <a:pathLst>
              <a:path h="2259166" w="1219949">
                <a:moveTo>
                  <a:pt x="0" y="0"/>
                </a:moveTo>
                <a:lnTo>
                  <a:pt x="1219949" y="0"/>
                </a:lnTo>
                <a:lnTo>
                  <a:pt x="1219949" y="2259165"/>
                </a:lnTo>
                <a:lnTo>
                  <a:pt x="0" y="225916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5" id="35"/>
          <p:cNvSpPr/>
          <p:nvPr/>
        </p:nvSpPr>
        <p:spPr>
          <a:xfrm flipH="false" flipV="false" rot="0">
            <a:off x="843844" y="2618496"/>
            <a:ext cx="5993810" cy="5993810"/>
          </a:xfrm>
          <a:custGeom>
            <a:avLst/>
            <a:gdLst/>
            <a:ahLst/>
            <a:cxnLst/>
            <a:rect r="r" b="b" t="t" l="l"/>
            <a:pathLst>
              <a:path h="5993810" w="5993810">
                <a:moveTo>
                  <a:pt x="0" y="0"/>
                </a:moveTo>
                <a:lnTo>
                  <a:pt x="5993810" y="0"/>
                </a:lnTo>
                <a:lnTo>
                  <a:pt x="5993810" y="5993810"/>
                </a:lnTo>
                <a:lnTo>
                  <a:pt x="0" y="5993810"/>
                </a:lnTo>
                <a:lnTo>
                  <a:pt x="0" y="0"/>
                </a:lnTo>
                <a:close/>
              </a:path>
            </a:pathLst>
          </a:custGeom>
          <a:blipFill>
            <a:blip r:embed="rId24"/>
            <a:stretch>
              <a:fillRect l="0" t="0" r="0" b="0"/>
            </a:stretch>
          </a:blipFill>
        </p:spPr>
      </p:sp>
      <p:sp>
        <p:nvSpPr>
          <p:cNvPr name="TextBox 36" id="36"/>
          <p:cNvSpPr txBox="true"/>
          <p:nvPr/>
        </p:nvSpPr>
        <p:spPr>
          <a:xfrm rot="0">
            <a:off x="7542879" y="2983230"/>
            <a:ext cx="4379719" cy="1748789"/>
          </a:xfrm>
          <a:prstGeom prst="rect">
            <a:avLst/>
          </a:prstGeom>
        </p:spPr>
        <p:txBody>
          <a:bodyPr anchor="t" rtlCol="false" tIns="0" lIns="0" bIns="0" rIns="0">
            <a:spAutoFit/>
          </a:bodyPr>
          <a:lstStyle/>
          <a:p>
            <a:pPr algn="r">
              <a:lnSpc>
                <a:spcPts val="4650"/>
              </a:lnSpc>
            </a:pPr>
            <a:r>
              <a:rPr lang="en-US" sz="3100">
                <a:solidFill>
                  <a:srgbClr val="FFFFFF"/>
                </a:solidFill>
                <a:latin typeface="Pixelated"/>
                <a:ea typeface="Pixelated"/>
                <a:cs typeface="Pixelated"/>
                <a:sym typeface="Pixelated"/>
              </a:rPr>
              <a:t>CREATE</a:t>
            </a:r>
          </a:p>
          <a:p>
            <a:pPr algn="r">
              <a:lnSpc>
                <a:spcPts val="4650"/>
              </a:lnSpc>
              <a:spcBef>
                <a:spcPct val="0"/>
              </a:spcBef>
            </a:pPr>
            <a:r>
              <a:rPr lang="en-US" sz="3100">
                <a:solidFill>
                  <a:srgbClr val="FFFFFF"/>
                </a:solidFill>
                <a:latin typeface="Pixelated"/>
                <a:ea typeface="Pixelated"/>
                <a:cs typeface="Pixelated"/>
                <a:sym typeface="Pixelated"/>
              </a:rPr>
              <a:t>Add</a:t>
            </a:r>
            <a:r>
              <a:rPr lang="en-US" sz="3100">
                <a:solidFill>
                  <a:srgbClr val="FFFFFF"/>
                </a:solidFill>
                <a:latin typeface="Pixelated"/>
                <a:ea typeface="Pixelated"/>
                <a:cs typeface="Pixelated"/>
                <a:sym typeface="Pixelated"/>
              </a:rPr>
              <a:t> a new record to </a:t>
            </a:r>
          </a:p>
          <a:p>
            <a:pPr algn="r">
              <a:lnSpc>
                <a:spcPts val="4650"/>
              </a:lnSpc>
              <a:spcBef>
                <a:spcPct val="0"/>
              </a:spcBef>
            </a:pPr>
            <a:r>
              <a:rPr lang="en-US" sz="3100">
                <a:solidFill>
                  <a:srgbClr val="FFFFFF"/>
                </a:solidFill>
                <a:latin typeface="Pixelated"/>
                <a:ea typeface="Pixelated"/>
                <a:cs typeface="Pixelated"/>
                <a:sym typeface="Pixelated"/>
              </a:rPr>
              <a:t>the database.</a:t>
            </a:r>
          </a:p>
        </p:txBody>
      </p:sp>
      <p:sp>
        <p:nvSpPr>
          <p:cNvPr name="TextBox 37" id="37"/>
          <p:cNvSpPr txBox="true"/>
          <p:nvPr/>
        </p:nvSpPr>
        <p:spPr>
          <a:xfrm rot="0">
            <a:off x="14192695" y="2983230"/>
            <a:ext cx="3025855" cy="2301240"/>
          </a:xfrm>
          <a:prstGeom prst="rect">
            <a:avLst/>
          </a:prstGeom>
        </p:spPr>
        <p:txBody>
          <a:bodyPr anchor="t" rtlCol="false" tIns="0" lIns="0" bIns="0" rIns="0">
            <a:spAutoFit/>
          </a:bodyPr>
          <a:lstStyle/>
          <a:p>
            <a:pPr algn="r">
              <a:lnSpc>
                <a:spcPts val="4649"/>
              </a:lnSpc>
            </a:pPr>
            <a:r>
              <a:rPr lang="en-US" sz="3099">
                <a:solidFill>
                  <a:srgbClr val="FFFFFF"/>
                </a:solidFill>
                <a:latin typeface="Pixelated"/>
                <a:ea typeface="Pixelated"/>
                <a:cs typeface="Pixelated"/>
                <a:sym typeface="Pixelated"/>
              </a:rPr>
              <a:t>READ</a:t>
            </a:r>
          </a:p>
          <a:p>
            <a:pPr algn="r">
              <a:lnSpc>
                <a:spcPts val="4649"/>
              </a:lnSpc>
              <a:spcBef>
                <a:spcPct val="0"/>
              </a:spcBef>
            </a:pPr>
            <a:r>
              <a:rPr lang="en-US" sz="3099">
                <a:solidFill>
                  <a:srgbClr val="FFFFFF"/>
                </a:solidFill>
                <a:latin typeface="Pixelated"/>
                <a:ea typeface="Pixelated"/>
                <a:cs typeface="Pixelated"/>
                <a:sym typeface="Pixelated"/>
              </a:rPr>
              <a:t>Ret</a:t>
            </a:r>
            <a:r>
              <a:rPr lang="en-US" sz="3099">
                <a:solidFill>
                  <a:srgbClr val="FFFFFF"/>
                </a:solidFill>
                <a:latin typeface="Pixelated"/>
                <a:ea typeface="Pixelated"/>
                <a:cs typeface="Pixelated"/>
                <a:sym typeface="Pixelated"/>
              </a:rPr>
              <a:t>rieve existing </a:t>
            </a:r>
          </a:p>
          <a:p>
            <a:pPr algn="r">
              <a:lnSpc>
                <a:spcPts val="4649"/>
              </a:lnSpc>
              <a:spcBef>
                <a:spcPct val="0"/>
              </a:spcBef>
            </a:pPr>
            <a:r>
              <a:rPr lang="en-US" sz="3099">
                <a:solidFill>
                  <a:srgbClr val="FFFFFF"/>
                </a:solidFill>
                <a:latin typeface="Pixelated"/>
                <a:ea typeface="Pixelated"/>
                <a:cs typeface="Pixelated"/>
                <a:sym typeface="Pixelated"/>
              </a:rPr>
              <a:t>records.</a:t>
            </a:r>
          </a:p>
          <a:p>
            <a:pPr algn="r">
              <a:lnSpc>
                <a:spcPts val="4649"/>
              </a:lnSpc>
              <a:spcBef>
                <a:spcPct val="0"/>
              </a:spcBef>
            </a:pPr>
          </a:p>
        </p:txBody>
      </p:sp>
      <p:sp>
        <p:nvSpPr>
          <p:cNvPr name="TextBox 38" id="38"/>
          <p:cNvSpPr txBox="true"/>
          <p:nvPr/>
        </p:nvSpPr>
        <p:spPr>
          <a:xfrm rot="0">
            <a:off x="7046354" y="6670811"/>
            <a:ext cx="4876244" cy="1720215"/>
          </a:xfrm>
          <a:prstGeom prst="rect">
            <a:avLst/>
          </a:prstGeom>
        </p:spPr>
        <p:txBody>
          <a:bodyPr anchor="t" rtlCol="false" tIns="0" lIns="0" bIns="0" rIns="0">
            <a:spAutoFit/>
          </a:bodyPr>
          <a:lstStyle/>
          <a:p>
            <a:pPr algn="r">
              <a:lnSpc>
                <a:spcPts val="4649"/>
              </a:lnSpc>
            </a:pPr>
            <a:r>
              <a:rPr lang="en-US" sz="3099">
                <a:solidFill>
                  <a:srgbClr val="FFFFFF"/>
                </a:solidFill>
                <a:latin typeface="Pixelated"/>
                <a:ea typeface="Pixelated"/>
                <a:cs typeface="Pixelated"/>
                <a:sym typeface="Pixelated"/>
              </a:rPr>
              <a:t>UPDATE</a:t>
            </a:r>
          </a:p>
          <a:p>
            <a:pPr algn="r">
              <a:lnSpc>
                <a:spcPts val="4649"/>
              </a:lnSpc>
            </a:pPr>
            <a:r>
              <a:rPr lang="en-US" sz="3099">
                <a:solidFill>
                  <a:srgbClr val="FFFFFF"/>
                </a:solidFill>
                <a:latin typeface="Pixelated"/>
                <a:ea typeface="Pixelated"/>
                <a:cs typeface="Pixelated"/>
                <a:sym typeface="Pixelated"/>
              </a:rPr>
              <a:t>Modify an existing</a:t>
            </a:r>
          </a:p>
          <a:p>
            <a:pPr algn="r">
              <a:lnSpc>
                <a:spcPts val="4649"/>
              </a:lnSpc>
              <a:spcBef>
                <a:spcPct val="0"/>
              </a:spcBef>
            </a:pPr>
            <a:r>
              <a:rPr lang="en-US" sz="3099">
                <a:solidFill>
                  <a:srgbClr val="FFFFFF"/>
                </a:solidFill>
                <a:latin typeface="Pixelated"/>
                <a:ea typeface="Pixelated"/>
                <a:cs typeface="Pixelated"/>
                <a:sym typeface="Pixelated"/>
              </a:rPr>
              <a:t> record.</a:t>
            </a:r>
          </a:p>
        </p:txBody>
      </p:sp>
      <p:sp>
        <p:nvSpPr>
          <p:cNvPr name="TextBox 39" id="39"/>
          <p:cNvSpPr txBox="true"/>
          <p:nvPr/>
        </p:nvSpPr>
        <p:spPr>
          <a:xfrm rot="0">
            <a:off x="14268450" y="6488430"/>
            <a:ext cx="3040023" cy="1720215"/>
          </a:xfrm>
          <a:prstGeom prst="rect">
            <a:avLst/>
          </a:prstGeom>
        </p:spPr>
        <p:txBody>
          <a:bodyPr anchor="t" rtlCol="false" tIns="0" lIns="0" bIns="0" rIns="0">
            <a:spAutoFit/>
          </a:bodyPr>
          <a:lstStyle/>
          <a:p>
            <a:pPr algn="r">
              <a:lnSpc>
                <a:spcPts val="4649"/>
              </a:lnSpc>
            </a:pPr>
            <a:r>
              <a:rPr lang="en-US" sz="3099">
                <a:solidFill>
                  <a:srgbClr val="FFFFFF"/>
                </a:solidFill>
                <a:latin typeface="Pixelated"/>
                <a:ea typeface="Pixelated"/>
                <a:cs typeface="Pixelated"/>
                <a:sym typeface="Pixelated"/>
              </a:rPr>
              <a:t>DELETE</a:t>
            </a:r>
          </a:p>
          <a:p>
            <a:pPr algn="r">
              <a:lnSpc>
                <a:spcPts val="4649"/>
              </a:lnSpc>
              <a:spcBef>
                <a:spcPct val="0"/>
              </a:spcBef>
            </a:pPr>
            <a:r>
              <a:rPr lang="en-US" sz="3099">
                <a:solidFill>
                  <a:srgbClr val="FFFFFF"/>
                </a:solidFill>
                <a:latin typeface="Pixelated"/>
                <a:ea typeface="Pixelated"/>
                <a:cs typeface="Pixelated"/>
                <a:sym typeface="Pixelated"/>
              </a:rPr>
              <a:t>Rem</a:t>
            </a:r>
            <a:r>
              <a:rPr lang="en-US" sz="3099">
                <a:solidFill>
                  <a:srgbClr val="FFFFFF"/>
                </a:solidFill>
                <a:latin typeface="Pixelated"/>
                <a:ea typeface="Pixelated"/>
                <a:cs typeface="Pixelated"/>
                <a:sym typeface="Pixelated"/>
              </a:rPr>
              <a:t>ove a record.</a:t>
            </a:r>
          </a:p>
          <a:p>
            <a:pPr algn="r">
              <a:lnSpc>
                <a:spcPts val="4649"/>
              </a:lnSpc>
              <a:spcBef>
                <a:spcPct val="0"/>
              </a:spcBef>
            </a:pPr>
          </a:p>
        </p:txBody>
      </p:sp>
      <p:sp>
        <p:nvSpPr>
          <p:cNvPr name="TextBox 40" id="40"/>
          <p:cNvSpPr txBox="true"/>
          <p:nvPr/>
        </p:nvSpPr>
        <p:spPr>
          <a:xfrm rot="0">
            <a:off x="7188968" y="5082376"/>
            <a:ext cx="5087541" cy="558165"/>
          </a:xfrm>
          <a:prstGeom prst="rect">
            <a:avLst/>
          </a:prstGeom>
        </p:spPr>
        <p:txBody>
          <a:bodyPr anchor="t" rtlCol="false" tIns="0" lIns="0" bIns="0" rIns="0">
            <a:spAutoFit/>
          </a:bodyPr>
          <a:lstStyle/>
          <a:p>
            <a:pPr algn="ctr">
              <a:lnSpc>
                <a:spcPts val="4649"/>
              </a:lnSpc>
              <a:spcBef>
                <a:spcPct val="0"/>
              </a:spcBef>
            </a:pPr>
            <a:r>
              <a:rPr lang="en-US" sz="3099">
                <a:solidFill>
                  <a:srgbClr val="FFFFFF"/>
                </a:solidFill>
                <a:latin typeface="Pixelated"/>
                <a:ea typeface="Pixelated"/>
                <a:cs typeface="Pixelated"/>
                <a:sym typeface="Pixelated"/>
              </a:rPr>
              <a:t>Eg: create a note study flutter</a:t>
            </a:r>
          </a:p>
        </p:txBody>
      </p:sp>
      <p:sp>
        <p:nvSpPr>
          <p:cNvPr name="TextBox 41" id="41"/>
          <p:cNvSpPr txBox="true"/>
          <p:nvPr/>
        </p:nvSpPr>
        <p:spPr>
          <a:xfrm rot="0">
            <a:off x="13220832" y="5107791"/>
            <a:ext cx="2969181" cy="558165"/>
          </a:xfrm>
          <a:prstGeom prst="rect">
            <a:avLst/>
          </a:prstGeom>
        </p:spPr>
        <p:txBody>
          <a:bodyPr anchor="t" rtlCol="false" tIns="0" lIns="0" bIns="0" rIns="0">
            <a:spAutoFit/>
          </a:bodyPr>
          <a:lstStyle/>
          <a:p>
            <a:pPr algn="ctr">
              <a:lnSpc>
                <a:spcPts val="4649"/>
              </a:lnSpc>
              <a:spcBef>
                <a:spcPct val="0"/>
              </a:spcBef>
            </a:pPr>
            <a:r>
              <a:rPr lang="en-US" sz="3099">
                <a:solidFill>
                  <a:srgbClr val="FFFFFF"/>
                </a:solidFill>
                <a:latin typeface="Pixelated"/>
                <a:ea typeface="Pixelated"/>
                <a:cs typeface="Pixelated"/>
                <a:sym typeface="Pixelated"/>
              </a:rPr>
              <a:t>Eg: view all notes:</a:t>
            </a:r>
          </a:p>
        </p:txBody>
      </p:sp>
      <p:sp>
        <p:nvSpPr>
          <p:cNvPr name="TextBox 42" id="42"/>
          <p:cNvSpPr txBox="true"/>
          <p:nvPr/>
        </p:nvSpPr>
        <p:spPr>
          <a:xfrm rot="0">
            <a:off x="7257038" y="8702355"/>
            <a:ext cx="4665560" cy="1139190"/>
          </a:xfrm>
          <a:prstGeom prst="rect">
            <a:avLst/>
          </a:prstGeom>
        </p:spPr>
        <p:txBody>
          <a:bodyPr anchor="t" rtlCol="false" tIns="0" lIns="0" bIns="0" rIns="0">
            <a:spAutoFit/>
          </a:bodyPr>
          <a:lstStyle/>
          <a:p>
            <a:pPr algn="ctr">
              <a:lnSpc>
                <a:spcPts val="4649"/>
              </a:lnSpc>
              <a:spcBef>
                <a:spcPct val="0"/>
              </a:spcBef>
            </a:pPr>
            <a:r>
              <a:rPr lang="en-US" sz="3099">
                <a:solidFill>
                  <a:srgbClr val="FFFFFF"/>
                </a:solidFill>
                <a:latin typeface="Pixelated"/>
                <a:ea typeface="Pixelated"/>
                <a:cs typeface="Pixelated"/>
                <a:sym typeface="Pixelated"/>
              </a:rPr>
              <a:t>Eg: update “study flutter” to “flutter +Sqlite”</a:t>
            </a:r>
          </a:p>
        </p:txBody>
      </p:sp>
      <p:sp>
        <p:nvSpPr>
          <p:cNvPr name="TextBox 43" id="43"/>
          <p:cNvSpPr txBox="true"/>
          <p:nvPr/>
        </p:nvSpPr>
        <p:spPr>
          <a:xfrm rot="0">
            <a:off x="13220832" y="8702355"/>
            <a:ext cx="4153614" cy="558165"/>
          </a:xfrm>
          <a:prstGeom prst="rect">
            <a:avLst/>
          </a:prstGeom>
        </p:spPr>
        <p:txBody>
          <a:bodyPr anchor="t" rtlCol="false" tIns="0" lIns="0" bIns="0" rIns="0">
            <a:spAutoFit/>
          </a:bodyPr>
          <a:lstStyle/>
          <a:p>
            <a:pPr algn="ctr">
              <a:lnSpc>
                <a:spcPts val="4649"/>
              </a:lnSpc>
              <a:spcBef>
                <a:spcPct val="0"/>
              </a:spcBef>
            </a:pPr>
            <a:r>
              <a:rPr lang="en-US" sz="3099">
                <a:solidFill>
                  <a:srgbClr val="FFFFFF"/>
                </a:solidFill>
                <a:latin typeface="Pixelated"/>
                <a:ea typeface="Pixelated"/>
                <a:cs typeface="Pixelated"/>
                <a:sym typeface="Pixelated"/>
              </a:rPr>
              <a:t>Eg: delete “study flutter”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766849" y="720090"/>
            <a:ext cx="16754302" cy="9337345"/>
            <a:chOff x="0" y="0"/>
            <a:chExt cx="4412656" cy="2459218"/>
          </a:xfrm>
        </p:grpSpPr>
        <p:sp>
          <p:nvSpPr>
            <p:cNvPr name="Freeform 16" id="16"/>
            <p:cNvSpPr/>
            <p:nvPr/>
          </p:nvSpPr>
          <p:spPr>
            <a:xfrm flipH="false" flipV="false" rot="0">
              <a:off x="0" y="0"/>
              <a:ext cx="4412655" cy="2459218"/>
            </a:xfrm>
            <a:custGeom>
              <a:avLst/>
              <a:gdLst/>
              <a:ahLst/>
              <a:cxnLst/>
              <a:rect r="r" b="b" t="t" l="l"/>
              <a:pathLst>
                <a:path h="2459218" w="4412655">
                  <a:moveTo>
                    <a:pt x="23566" y="0"/>
                  </a:moveTo>
                  <a:lnTo>
                    <a:pt x="4389089" y="0"/>
                  </a:lnTo>
                  <a:cubicBezTo>
                    <a:pt x="4395339" y="0"/>
                    <a:pt x="4401334" y="2483"/>
                    <a:pt x="4405753" y="6902"/>
                  </a:cubicBezTo>
                  <a:cubicBezTo>
                    <a:pt x="4410173" y="11322"/>
                    <a:pt x="4412655" y="17316"/>
                    <a:pt x="4412655" y="23566"/>
                  </a:cubicBezTo>
                  <a:lnTo>
                    <a:pt x="4412655" y="2435652"/>
                  </a:lnTo>
                  <a:cubicBezTo>
                    <a:pt x="4412655" y="2441902"/>
                    <a:pt x="4410173" y="2447897"/>
                    <a:pt x="4405753" y="2452316"/>
                  </a:cubicBezTo>
                  <a:cubicBezTo>
                    <a:pt x="4401334" y="2456736"/>
                    <a:pt x="4395339" y="2459218"/>
                    <a:pt x="4389089" y="2459218"/>
                  </a:cubicBezTo>
                  <a:lnTo>
                    <a:pt x="23566" y="2459218"/>
                  </a:lnTo>
                  <a:cubicBezTo>
                    <a:pt x="17316" y="2459218"/>
                    <a:pt x="11322" y="2456736"/>
                    <a:pt x="6902" y="2452316"/>
                  </a:cubicBezTo>
                  <a:cubicBezTo>
                    <a:pt x="2483" y="2447897"/>
                    <a:pt x="0" y="2441902"/>
                    <a:pt x="0" y="2435652"/>
                  </a:cubicBezTo>
                  <a:lnTo>
                    <a:pt x="0" y="23566"/>
                  </a:lnTo>
                  <a:cubicBezTo>
                    <a:pt x="0" y="17316"/>
                    <a:pt x="2483" y="11322"/>
                    <a:pt x="6902" y="6902"/>
                  </a:cubicBezTo>
                  <a:cubicBezTo>
                    <a:pt x="11322" y="2483"/>
                    <a:pt x="17316" y="0"/>
                    <a:pt x="23566"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412656" cy="2497318"/>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5" id="25"/>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6" id="26"/>
          <p:cNvSpPr txBox="true"/>
          <p:nvPr/>
        </p:nvSpPr>
        <p:spPr>
          <a:xfrm rot="0">
            <a:off x="1896549" y="1009650"/>
            <a:ext cx="14084886" cy="1238250"/>
          </a:xfrm>
          <a:prstGeom prst="rect">
            <a:avLst/>
          </a:prstGeom>
        </p:spPr>
        <p:txBody>
          <a:bodyPr anchor="t" rtlCol="false" tIns="0" lIns="0" bIns="0" rIns="0">
            <a:spAutoFit/>
          </a:bodyPr>
          <a:lstStyle/>
          <a:p>
            <a:pPr algn="ctr" marL="0" indent="0" lvl="0">
              <a:lnSpc>
                <a:spcPts val="9600"/>
              </a:lnSpc>
              <a:spcBef>
                <a:spcPct val="0"/>
              </a:spcBef>
            </a:pPr>
            <a:r>
              <a:rPr lang="en-US" sz="8000">
                <a:solidFill>
                  <a:srgbClr val="FFFFFF"/>
                </a:solidFill>
                <a:latin typeface="VT323"/>
                <a:ea typeface="VT323"/>
                <a:cs typeface="VT323"/>
                <a:sym typeface="VT323"/>
              </a:rPr>
              <a:t>CODE FOR CRUD</a:t>
            </a:r>
          </a:p>
        </p:txBody>
      </p:sp>
      <p:sp>
        <p:nvSpPr>
          <p:cNvPr name="Freeform 27" id="27"/>
          <p:cNvSpPr/>
          <p:nvPr/>
        </p:nvSpPr>
        <p:spPr>
          <a:xfrm flipH="false" flipV="false" rot="0">
            <a:off x="15462671" y="2057400"/>
            <a:ext cx="653567" cy="609600"/>
          </a:xfrm>
          <a:custGeom>
            <a:avLst/>
            <a:gdLst/>
            <a:ahLst/>
            <a:cxnLst/>
            <a:rect r="r" b="b" t="t" l="l"/>
            <a:pathLst>
              <a:path h="609600" w="653567">
                <a:moveTo>
                  <a:pt x="0" y="0"/>
                </a:moveTo>
                <a:lnTo>
                  <a:pt x="653567" y="0"/>
                </a:lnTo>
                <a:lnTo>
                  <a:pt x="653567" y="609600"/>
                </a:lnTo>
                <a:lnTo>
                  <a:pt x="0" y="60960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8" id="28"/>
          <p:cNvSpPr/>
          <p:nvPr/>
        </p:nvSpPr>
        <p:spPr>
          <a:xfrm flipH="false" flipV="false" rot="0">
            <a:off x="2488386" y="2249893"/>
            <a:ext cx="6450606" cy="7214147"/>
          </a:xfrm>
          <a:custGeom>
            <a:avLst/>
            <a:gdLst/>
            <a:ahLst/>
            <a:cxnLst/>
            <a:rect r="r" b="b" t="t" l="l"/>
            <a:pathLst>
              <a:path h="7214147" w="6450606">
                <a:moveTo>
                  <a:pt x="0" y="0"/>
                </a:moveTo>
                <a:lnTo>
                  <a:pt x="6450606" y="0"/>
                </a:lnTo>
                <a:lnTo>
                  <a:pt x="6450606" y="7214147"/>
                </a:lnTo>
                <a:lnTo>
                  <a:pt x="0" y="7214147"/>
                </a:lnTo>
                <a:lnTo>
                  <a:pt x="0" y="0"/>
                </a:lnTo>
                <a:close/>
              </a:path>
            </a:pathLst>
          </a:custGeom>
          <a:blipFill>
            <a:blip r:embed="rId21"/>
            <a:stretch>
              <a:fillRect l="0" t="0" r="0" b="0"/>
            </a:stretch>
          </a:blipFill>
        </p:spPr>
      </p:sp>
      <p:sp>
        <p:nvSpPr>
          <p:cNvPr name="Freeform 29" id="29"/>
          <p:cNvSpPr/>
          <p:nvPr/>
        </p:nvSpPr>
        <p:spPr>
          <a:xfrm flipH="false" flipV="false" rot="0">
            <a:off x="9685048" y="2247900"/>
            <a:ext cx="6391190" cy="7216140"/>
          </a:xfrm>
          <a:custGeom>
            <a:avLst/>
            <a:gdLst/>
            <a:ahLst/>
            <a:cxnLst/>
            <a:rect r="r" b="b" t="t" l="l"/>
            <a:pathLst>
              <a:path h="7216140" w="6391190">
                <a:moveTo>
                  <a:pt x="0" y="0"/>
                </a:moveTo>
                <a:lnTo>
                  <a:pt x="6391190" y="0"/>
                </a:lnTo>
                <a:lnTo>
                  <a:pt x="6391190" y="7216140"/>
                </a:lnTo>
                <a:lnTo>
                  <a:pt x="0" y="7216140"/>
                </a:lnTo>
                <a:lnTo>
                  <a:pt x="0" y="0"/>
                </a:lnTo>
                <a:close/>
              </a:path>
            </a:pathLst>
          </a:custGeom>
          <a:blipFill>
            <a:blip r:embed="rId2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3447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766849" y="568705"/>
            <a:ext cx="16754302" cy="9271245"/>
            <a:chOff x="0" y="0"/>
            <a:chExt cx="4412656" cy="2441809"/>
          </a:xfrm>
        </p:grpSpPr>
        <p:sp>
          <p:nvSpPr>
            <p:cNvPr name="Freeform 16" id="16"/>
            <p:cNvSpPr/>
            <p:nvPr/>
          </p:nvSpPr>
          <p:spPr>
            <a:xfrm flipH="false" flipV="false" rot="0">
              <a:off x="0" y="0"/>
              <a:ext cx="4412655" cy="2441809"/>
            </a:xfrm>
            <a:custGeom>
              <a:avLst/>
              <a:gdLst/>
              <a:ahLst/>
              <a:cxnLst/>
              <a:rect r="r" b="b" t="t" l="l"/>
              <a:pathLst>
                <a:path h="2441809" w="4412655">
                  <a:moveTo>
                    <a:pt x="23566" y="0"/>
                  </a:moveTo>
                  <a:lnTo>
                    <a:pt x="4389089" y="0"/>
                  </a:lnTo>
                  <a:cubicBezTo>
                    <a:pt x="4395339" y="0"/>
                    <a:pt x="4401334" y="2483"/>
                    <a:pt x="4405753" y="6902"/>
                  </a:cubicBezTo>
                  <a:cubicBezTo>
                    <a:pt x="4410173" y="11322"/>
                    <a:pt x="4412655" y="17316"/>
                    <a:pt x="4412655" y="23566"/>
                  </a:cubicBezTo>
                  <a:lnTo>
                    <a:pt x="4412655" y="2418243"/>
                  </a:lnTo>
                  <a:cubicBezTo>
                    <a:pt x="4412655" y="2424493"/>
                    <a:pt x="4410173" y="2430487"/>
                    <a:pt x="4405753" y="2434907"/>
                  </a:cubicBezTo>
                  <a:cubicBezTo>
                    <a:pt x="4401334" y="2439327"/>
                    <a:pt x="4395339" y="2441809"/>
                    <a:pt x="4389089" y="2441809"/>
                  </a:cubicBezTo>
                  <a:lnTo>
                    <a:pt x="23566" y="2441809"/>
                  </a:lnTo>
                  <a:cubicBezTo>
                    <a:pt x="17316" y="2441809"/>
                    <a:pt x="11322" y="2439327"/>
                    <a:pt x="6902" y="2434907"/>
                  </a:cubicBezTo>
                  <a:cubicBezTo>
                    <a:pt x="2483" y="2430487"/>
                    <a:pt x="0" y="2424493"/>
                    <a:pt x="0" y="2418243"/>
                  </a:cubicBezTo>
                  <a:lnTo>
                    <a:pt x="0" y="23566"/>
                  </a:lnTo>
                  <a:cubicBezTo>
                    <a:pt x="0" y="17316"/>
                    <a:pt x="2483" y="11322"/>
                    <a:pt x="6902" y="6902"/>
                  </a:cubicBezTo>
                  <a:cubicBezTo>
                    <a:pt x="11322" y="2483"/>
                    <a:pt x="17316" y="0"/>
                    <a:pt x="23566"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47625"/>
              <a:ext cx="4412656" cy="2489434"/>
            </a:xfrm>
            <a:prstGeom prst="rect">
              <a:avLst/>
            </a:prstGeom>
          </p:spPr>
          <p:txBody>
            <a:bodyPr anchor="ctr" rtlCol="false" tIns="50800" lIns="50800" bIns="50800" rIns="50800"/>
            <a:lstStyle/>
            <a:p>
              <a:pPr algn="ctr">
                <a:lnSpc>
                  <a:spcPts val="349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5" id="25"/>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5462671" y="2057400"/>
            <a:ext cx="653567" cy="609600"/>
          </a:xfrm>
          <a:custGeom>
            <a:avLst/>
            <a:gdLst/>
            <a:ahLst/>
            <a:cxnLst/>
            <a:rect r="r" b="b" t="t" l="l"/>
            <a:pathLst>
              <a:path h="609600" w="653567">
                <a:moveTo>
                  <a:pt x="0" y="0"/>
                </a:moveTo>
                <a:lnTo>
                  <a:pt x="653567" y="0"/>
                </a:lnTo>
                <a:lnTo>
                  <a:pt x="653567" y="609600"/>
                </a:lnTo>
                <a:lnTo>
                  <a:pt x="0" y="60960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27" id="27"/>
          <p:cNvGrpSpPr/>
          <p:nvPr/>
        </p:nvGrpSpPr>
        <p:grpSpPr>
          <a:xfrm rot="0">
            <a:off x="1784734" y="2028825"/>
            <a:ext cx="6740385" cy="7561593"/>
            <a:chOff x="0" y="0"/>
            <a:chExt cx="1775245" cy="1991531"/>
          </a:xfrm>
        </p:grpSpPr>
        <p:sp>
          <p:nvSpPr>
            <p:cNvPr name="Freeform 28" id="28"/>
            <p:cNvSpPr/>
            <p:nvPr/>
          </p:nvSpPr>
          <p:spPr>
            <a:xfrm flipH="false" flipV="false" rot="0">
              <a:off x="0" y="0"/>
              <a:ext cx="1775246" cy="1991531"/>
            </a:xfrm>
            <a:custGeom>
              <a:avLst/>
              <a:gdLst/>
              <a:ahLst/>
              <a:cxnLst/>
              <a:rect r="r" b="b" t="t" l="l"/>
              <a:pathLst>
                <a:path h="1991531" w="1775246">
                  <a:moveTo>
                    <a:pt x="58578" y="0"/>
                  </a:moveTo>
                  <a:lnTo>
                    <a:pt x="1716668" y="0"/>
                  </a:lnTo>
                  <a:cubicBezTo>
                    <a:pt x="1749019" y="0"/>
                    <a:pt x="1775246" y="26226"/>
                    <a:pt x="1775246" y="58578"/>
                  </a:cubicBezTo>
                  <a:lnTo>
                    <a:pt x="1775246" y="1932953"/>
                  </a:lnTo>
                  <a:cubicBezTo>
                    <a:pt x="1775246" y="1965304"/>
                    <a:pt x="1749019" y="1991531"/>
                    <a:pt x="1716668" y="1991531"/>
                  </a:cubicBezTo>
                  <a:lnTo>
                    <a:pt x="58578" y="1991531"/>
                  </a:lnTo>
                  <a:cubicBezTo>
                    <a:pt x="26226" y="1991531"/>
                    <a:pt x="0" y="1965304"/>
                    <a:pt x="0" y="1932953"/>
                  </a:cubicBezTo>
                  <a:lnTo>
                    <a:pt x="0" y="58578"/>
                  </a:lnTo>
                  <a:cubicBezTo>
                    <a:pt x="0" y="26226"/>
                    <a:pt x="26226" y="0"/>
                    <a:pt x="58578" y="0"/>
                  </a:cubicBezTo>
                  <a:close/>
                </a:path>
              </a:pathLst>
            </a:custGeom>
            <a:solidFill>
              <a:srgbClr val="C63BB6"/>
            </a:solidFill>
          </p:spPr>
        </p:sp>
        <p:sp>
          <p:nvSpPr>
            <p:cNvPr name="TextBox 29" id="29"/>
            <p:cNvSpPr txBox="true"/>
            <p:nvPr/>
          </p:nvSpPr>
          <p:spPr>
            <a:xfrm>
              <a:off x="0" y="-38100"/>
              <a:ext cx="1775245" cy="2029631"/>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8764334" y="2028825"/>
            <a:ext cx="7217101" cy="6295488"/>
            <a:chOff x="0" y="0"/>
            <a:chExt cx="1900800" cy="1658071"/>
          </a:xfrm>
        </p:grpSpPr>
        <p:sp>
          <p:nvSpPr>
            <p:cNvPr name="Freeform 31" id="31"/>
            <p:cNvSpPr/>
            <p:nvPr/>
          </p:nvSpPr>
          <p:spPr>
            <a:xfrm flipH="false" flipV="false" rot="0">
              <a:off x="0" y="0"/>
              <a:ext cx="1900800" cy="1658071"/>
            </a:xfrm>
            <a:custGeom>
              <a:avLst/>
              <a:gdLst/>
              <a:ahLst/>
              <a:cxnLst/>
              <a:rect r="r" b="b" t="t" l="l"/>
              <a:pathLst>
                <a:path h="1658071" w="1900800">
                  <a:moveTo>
                    <a:pt x="54709" y="0"/>
                  </a:moveTo>
                  <a:lnTo>
                    <a:pt x="1846092" y="0"/>
                  </a:lnTo>
                  <a:cubicBezTo>
                    <a:pt x="1876306" y="0"/>
                    <a:pt x="1900800" y="24494"/>
                    <a:pt x="1900800" y="54709"/>
                  </a:cubicBezTo>
                  <a:lnTo>
                    <a:pt x="1900800" y="1603362"/>
                  </a:lnTo>
                  <a:cubicBezTo>
                    <a:pt x="1900800" y="1617872"/>
                    <a:pt x="1895036" y="1631787"/>
                    <a:pt x="1884776" y="1642047"/>
                  </a:cubicBezTo>
                  <a:cubicBezTo>
                    <a:pt x="1874517" y="1652307"/>
                    <a:pt x="1860601" y="1658071"/>
                    <a:pt x="1846092" y="1658071"/>
                  </a:cubicBezTo>
                  <a:lnTo>
                    <a:pt x="54709" y="1658071"/>
                  </a:lnTo>
                  <a:cubicBezTo>
                    <a:pt x="40199" y="1658071"/>
                    <a:pt x="26284" y="1652307"/>
                    <a:pt x="16024" y="1642047"/>
                  </a:cubicBezTo>
                  <a:cubicBezTo>
                    <a:pt x="5764" y="1631787"/>
                    <a:pt x="0" y="1617872"/>
                    <a:pt x="0" y="1603362"/>
                  </a:cubicBezTo>
                  <a:lnTo>
                    <a:pt x="0" y="54709"/>
                  </a:lnTo>
                  <a:cubicBezTo>
                    <a:pt x="0" y="40199"/>
                    <a:pt x="5764" y="26284"/>
                    <a:pt x="16024" y="16024"/>
                  </a:cubicBezTo>
                  <a:cubicBezTo>
                    <a:pt x="26284" y="5764"/>
                    <a:pt x="40199" y="0"/>
                    <a:pt x="54709" y="0"/>
                  </a:cubicBezTo>
                  <a:close/>
                </a:path>
              </a:pathLst>
            </a:custGeom>
            <a:solidFill>
              <a:srgbClr val="C63BB6"/>
            </a:solidFill>
          </p:spPr>
        </p:sp>
        <p:sp>
          <p:nvSpPr>
            <p:cNvPr name="TextBox 32" id="32"/>
            <p:cNvSpPr txBox="true"/>
            <p:nvPr/>
          </p:nvSpPr>
          <p:spPr>
            <a:xfrm>
              <a:off x="0" y="-38100"/>
              <a:ext cx="1900800" cy="1696171"/>
            </a:xfrm>
            <a:prstGeom prst="rect">
              <a:avLst/>
            </a:prstGeom>
          </p:spPr>
          <p:txBody>
            <a:bodyPr anchor="ctr" rtlCol="false" tIns="50800" lIns="50800" bIns="50800" rIns="50800"/>
            <a:lstStyle/>
            <a:p>
              <a:pPr algn="ctr">
                <a:lnSpc>
                  <a:spcPts val="2659"/>
                </a:lnSpc>
              </a:pPr>
            </a:p>
          </p:txBody>
        </p:sp>
      </p:grpSp>
      <p:sp>
        <p:nvSpPr>
          <p:cNvPr name="TextBox 33" id="33"/>
          <p:cNvSpPr txBox="true"/>
          <p:nvPr/>
        </p:nvSpPr>
        <p:spPr>
          <a:xfrm rot="0">
            <a:off x="1896549" y="790575"/>
            <a:ext cx="14084886" cy="1238250"/>
          </a:xfrm>
          <a:prstGeom prst="rect">
            <a:avLst/>
          </a:prstGeom>
        </p:spPr>
        <p:txBody>
          <a:bodyPr anchor="t" rtlCol="false" tIns="0" lIns="0" bIns="0" rIns="0">
            <a:spAutoFit/>
          </a:bodyPr>
          <a:lstStyle/>
          <a:p>
            <a:pPr algn="ctr" marL="0" indent="0" lvl="0">
              <a:lnSpc>
                <a:spcPts val="9600"/>
              </a:lnSpc>
              <a:spcBef>
                <a:spcPct val="0"/>
              </a:spcBef>
            </a:pPr>
            <a:r>
              <a:rPr lang="en-US" sz="8000">
                <a:solidFill>
                  <a:srgbClr val="FFFFFF"/>
                </a:solidFill>
                <a:latin typeface="VT323"/>
                <a:ea typeface="VT323"/>
                <a:cs typeface="VT323"/>
                <a:sym typeface="VT323"/>
              </a:rPr>
              <a:t>SQLITE- RELATIONAL LOCAL DATABASE</a:t>
            </a:r>
          </a:p>
        </p:txBody>
      </p:sp>
      <p:sp>
        <p:nvSpPr>
          <p:cNvPr name="TextBox 34" id="34"/>
          <p:cNvSpPr txBox="true"/>
          <p:nvPr/>
        </p:nvSpPr>
        <p:spPr>
          <a:xfrm rot="0">
            <a:off x="1533698" y="2194560"/>
            <a:ext cx="6991421" cy="6949440"/>
          </a:xfrm>
          <a:prstGeom prst="rect">
            <a:avLst/>
          </a:prstGeom>
        </p:spPr>
        <p:txBody>
          <a:bodyPr anchor="t" rtlCol="false" tIns="0" lIns="0" bIns="0" rIns="0">
            <a:spAutoFit/>
          </a:bodyPr>
          <a:lstStyle/>
          <a:p>
            <a:pPr algn="ctr">
              <a:lnSpc>
                <a:spcPts val="4649"/>
              </a:lnSpc>
            </a:pPr>
            <a:r>
              <a:rPr lang="en-US" sz="3099">
                <a:solidFill>
                  <a:srgbClr val="FFFFFF"/>
                </a:solidFill>
                <a:latin typeface="Pixelated"/>
                <a:ea typeface="Pixelated"/>
                <a:cs typeface="Pixelated"/>
                <a:sym typeface="Pixelated"/>
              </a:rPr>
              <a:t>Key characteristics</a:t>
            </a:r>
          </a:p>
          <a:p>
            <a:pPr algn="l" marL="669289" indent="-334645" lvl="1">
              <a:lnSpc>
                <a:spcPts val="4649"/>
              </a:lnSpc>
              <a:spcBef>
                <a:spcPct val="0"/>
              </a:spcBef>
              <a:buFont typeface="Arial"/>
              <a:buChar char="•"/>
            </a:pPr>
            <a:r>
              <a:rPr lang="en-US" sz="3099">
                <a:solidFill>
                  <a:srgbClr val="FFFFFF"/>
                </a:solidFill>
                <a:latin typeface="Pixelated"/>
                <a:ea typeface="Pixelated"/>
                <a:cs typeface="Pixelated"/>
                <a:sym typeface="Pixelated"/>
              </a:rPr>
              <a:t>Data is </a:t>
            </a:r>
            <a:r>
              <a:rPr lang="en-US" sz="3099">
                <a:solidFill>
                  <a:srgbClr val="FFFFFF"/>
                </a:solidFill>
                <a:latin typeface="Pixelated"/>
                <a:ea typeface="Pixelated"/>
                <a:cs typeface="Pixelated"/>
                <a:sym typeface="Pixelated"/>
              </a:rPr>
              <a:t>organized into tables</a:t>
            </a:r>
          </a:p>
          <a:p>
            <a:pPr algn="l" marL="669289" indent="-334645" lvl="1">
              <a:lnSpc>
                <a:spcPts val="4649"/>
              </a:lnSpc>
              <a:spcBef>
                <a:spcPct val="0"/>
              </a:spcBef>
              <a:buFont typeface="Arial"/>
              <a:buChar char="•"/>
            </a:pPr>
            <a:r>
              <a:rPr lang="en-US" sz="3099">
                <a:solidFill>
                  <a:srgbClr val="FFFFFF"/>
                </a:solidFill>
                <a:latin typeface="Pixelated"/>
                <a:ea typeface="Pixelated"/>
                <a:cs typeface="Pixelated"/>
                <a:sym typeface="Pixelated"/>
              </a:rPr>
              <a:t>Tables contain rows and columns</a:t>
            </a:r>
          </a:p>
          <a:p>
            <a:pPr algn="l" marL="669289" indent="-334645" lvl="1">
              <a:lnSpc>
                <a:spcPts val="4649"/>
              </a:lnSpc>
              <a:spcBef>
                <a:spcPct val="0"/>
              </a:spcBef>
              <a:buFont typeface="Arial"/>
              <a:buChar char="•"/>
            </a:pPr>
            <a:r>
              <a:rPr lang="en-US" sz="3099">
                <a:solidFill>
                  <a:srgbClr val="FFFFFF"/>
                </a:solidFill>
                <a:latin typeface="Pixelated"/>
                <a:ea typeface="Pixelated"/>
                <a:cs typeface="Pixelated"/>
                <a:sym typeface="Pixelated"/>
              </a:rPr>
              <a:t>Each record can have a primary key</a:t>
            </a:r>
          </a:p>
          <a:p>
            <a:pPr algn="l" marL="669289" indent="-334645" lvl="1">
              <a:lnSpc>
                <a:spcPts val="4649"/>
              </a:lnSpc>
              <a:spcBef>
                <a:spcPct val="0"/>
              </a:spcBef>
              <a:buFont typeface="Arial"/>
              <a:buChar char="•"/>
            </a:pPr>
            <a:r>
              <a:rPr lang="en-US" sz="3099">
                <a:solidFill>
                  <a:srgbClr val="FFFFFF"/>
                </a:solidFill>
                <a:latin typeface="Pixelated"/>
                <a:ea typeface="Pixelated"/>
                <a:cs typeface="Pixelated"/>
                <a:sym typeface="Pixelated"/>
              </a:rPr>
              <a:t>Supports SQL for querying and manipulating data</a:t>
            </a:r>
          </a:p>
          <a:p>
            <a:pPr algn="l" marL="669289" indent="-334645" lvl="1">
              <a:lnSpc>
                <a:spcPts val="4649"/>
              </a:lnSpc>
              <a:spcBef>
                <a:spcPct val="0"/>
              </a:spcBef>
              <a:buFont typeface="Arial"/>
              <a:buChar char="•"/>
            </a:pPr>
            <a:r>
              <a:rPr lang="en-US" sz="3099">
                <a:solidFill>
                  <a:srgbClr val="FFFFFF"/>
                </a:solidFill>
                <a:latin typeface="Pixelated"/>
                <a:ea typeface="Pixelated"/>
                <a:cs typeface="Pixelated"/>
                <a:sym typeface="Pixelated"/>
              </a:rPr>
              <a:t>Supports relationships between structured data</a:t>
            </a:r>
          </a:p>
          <a:p>
            <a:pPr algn="l" marL="669289" indent="-334645" lvl="1">
              <a:lnSpc>
                <a:spcPts val="4649"/>
              </a:lnSpc>
              <a:spcBef>
                <a:spcPct val="0"/>
              </a:spcBef>
              <a:buFont typeface="Arial"/>
              <a:buChar char="•"/>
            </a:pPr>
            <a:r>
              <a:rPr lang="en-US" sz="3099">
                <a:solidFill>
                  <a:srgbClr val="FFFFFF"/>
                </a:solidFill>
                <a:latin typeface="Pixelated"/>
                <a:ea typeface="Pixelated"/>
                <a:cs typeface="Pixelated"/>
                <a:sym typeface="Pixelated"/>
              </a:rPr>
              <a:t>Works completely offline on the device</a:t>
            </a:r>
          </a:p>
          <a:p>
            <a:pPr algn="l" marL="669289" indent="-334645" lvl="1">
              <a:lnSpc>
                <a:spcPts val="4649"/>
              </a:lnSpc>
              <a:spcBef>
                <a:spcPct val="0"/>
              </a:spcBef>
              <a:buFont typeface="Arial"/>
              <a:buChar char="•"/>
            </a:pPr>
            <a:r>
              <a:rPr lang="en-US" sz="3099">
                <a:solidFill>
                  <a:srgbClr val="FFFFFF"/>
                </a:solidFill>
                <a:latin typeface="Pixelated"/>
                <a:ea typeface="Pixelated"/>
                <a:cs typeface="Pixelated"/>
                <a:sym typeface="Pixelated"/>
              </a:rPr>
              <a:t>Suitable for applications requiring complex queries</a:t>
            </a:r>
          </a:p>
        </p:txBody>
      </p:sp>
      <p:sp>
        <p:nvSpPr>
          <p:cNvPr name="TextBox 35" id="35"/>
          <p:cNvSpPr txBox="true"/>
          <p:nvPr/>
        </p:nvSpPr>
        <p:spPr>
          <a:xfrm rot="0">
            <a:off x="9091117" y="2266950"/>
            <a:ext cx="6698337" cy="5206365"/>
          </a:xfrm>
          <a:prstGeom prst="rect">
            <a:avLst/>
          </a:prstGeom>
        </p:spPr>
        <p:txBody>
          <a:bodyPr anchor="t" rtlCol="false" tIns="0" lIns="0" bIns="0" rIns="0">
            <a:spAutoFit/>
          </a:bodyPr>
          <a:lstStyle/>
          <a:p>
            <a:pPr algn="l">
              <a:lnSpc>
                <a:spcPts val="4649"/>
              </a:lnSpc>
            </a:pPr>
            <a:r>
              <a:rPr lang="en-US" sz="3099">
                <a:solidFill>
                  <a:srgbClr val="FFFFFF"/>
                </a:solidFill>
                <a:latin typeface="Glacial Indifference"/>
                <a:ea typeface="Glacial Indifference"/>
                <a:cs typeface="Glacial Indifference"/>
                <a:sym typeface="Glacial Indifference"/>
              </a:rPr>
              <a:t>SQLite in flutter: </a:t>
            </a:r>
          </a:p>
          <a:p>
            <a:pPr algn="l">
              <a:lnSpc>
                <a:spcPts val="4649"/>
              </a:lnSpc>
            </a:pPr>
            <a:r>
              <a:rPr lang="en-US" sz="3099">
                <a:solidFill>
                  <a:srgbClr val="FFFFFF"/>
                </a:solidFill>
                <a:latin typeface="Glacial Indifference"/>
                <a:ea typeface="Glacial Indifference"/>
                <a:cs typeface="Glacial Indifference"/>
                <a:sym typeface="Glacial Indifference"/>
              </a:rPr>
              <a:t>sqflite (commonly used flutter package)</a:t>
            </a:r>
          </a:p>
          <a:p>
            <a:pPr algn="l">
              <a:lnSpc>
                <a:spcPts val="4649"/>
              </a:lnSpc>
            </a:pPr>
            <a:r>
              <a:rPr lang="en-US" sz="3099">
                <a:solidFill>
                  <a:srgbClr val="FFFFFF"/>
                </a:solidFill>
                <a:latin typeface="Glacial Indifference"/>
                <a:ea typeface="Glacial Indifference"/>
                <a:cs typeface="Glacial Indifference"/>
                <a:sym typeface="Glacial Indifference"/>
              </a:rPr>
              <a:t>It allows Flutter applications to:</a:t>
            </a:r>
          </a:p>
          <a:p>
            <a:pPr algn="l" marL="669289" indent="-334645" lvl="1">
              <a:lnSpc>
                <a:spcPts val="4649"/>
              </a:lnSpc>
              <a:buFont typeface="Arial"/>
              <a:buChar char="•"/>
            </a:pPr>
            <a:r>
              <a:rPr lang="en-US" sz="3099">
                <a:solidFill>
                  <a:srgbClr val="FFFFFF"/>
                </a:solidFill>
                <a:latin typeface="Glacial Indifference"/>
                <a:ea typeface="Glacial Indifference"/>
                <a:cs typeface="Glacial Indifference"/>
                <a:sym typeface="Glacial Indifference"/>
              </a:rPr>
              <a:t>Open/create databases</a:t>
            </a:r>
          </a:p>
          <a:p>
            <a:pPr algn="l" marL="669289" indent="-334645" lvl="1">
              <a:lnSpc>
                <a:spcPts val="4649"/>
              </a:lnSpc>
              <a:buFont typeface="Arial"/>
              <a:buChar char="•"/>
            </a:pPr>
            <a:r>
              <a:rPr lang="en-US" sz="3099">
                <a:solidFill>
                  <a:srgbClr val="FFFFFF"/>
                </a:solidFill>
                <a:latin typeface="Glacial Indifference"/>
                <a:ea typeface="Glacial Indifference"/>
                <a:cs typeface="Glacial Indifference"/>
                <a:sym typeface="Glacial Indifference"/>
              </a:rPr>
              <a:t>Create tables</a:t>
            </a:r>
          </a:p>
          <a:p>
            <a:pPr algn="l" marL="669289" indent="-334645" lvl="1">
              <a:lnSpc>
                <a:spcPts val="4649"/>
              </a:lnSpc>
              <a:buFont typeface="Arial"/>
              <a:buChar char="•"/>
            </a:pPr>
            <a:r>
              <a:rPr lang="en-US" sz="3099">
                <a:solidFill>
                  <a:srgbClr val="FFFFFF"/>
                </a:solidFill>
                <a:latin typeface="Glacial Indifference"/>
                <a:ea typeface="Glacial Indifference"/>
                <a:cs typeface="Glacial Indifference"/>
                <a:sym typeface="Glacial Indifference"/>
              </a:rPr>
              <a:t>Insert records</a:t>
            </a:r>
          </a:p>
          <a:p>
            <a:pPr algn="l" marL="669289" indent="-334645" lvl="1">
              <a:lnSpc>
                <a:spcPts val="4649"/>
              </a:lnSpc>
              <a:buFont typeface="Arial"/>
              <a:buChar char="•"/>
            </a:pPr>
            <a:r>
              <a:rPr lang="en-US" sz="3099">
                <a:solidFill>
                  <a:srgbClr val="FFFFFF"/>
                </a:solidFill>
                <a:latin typeface="Glacial Indifference"/>
                <a:ea typeface="Glacial Indifference"/>
                <a:cs typeface="Glacial Indifference"/>
                <a:sym typeface="Glacial Indifference"/>
              </a:rPr>
              <a:t>Query records</a:t>
            </a:r>
          </a:p>
          <a:p>
            <a:pPr algn="l" marL="669289" indent="-334645" lvl="1">
              <a:lnSpc>
                <a:spcPts val="4649"/>
              </a:lnSpc>
              <a:buFont typeface="Arial"/>
              <a:buChar char="•"/>
            </a:pPr>
            <a:r>
              <a:rPr lang="en-US" sz="3099">
                <a:solidFill>
                  <a:srgbClr val="FFFFFF"/>
                </a:solidFill>
                <a:latin typeface="Glacial Indifference"/>
                <a:ea typeface="Glacial Indifference"/>
                <a:cs typeface="Glacial Indifference"/>
                <a:sym typeface="Glacial Indifference"/>
              </a:rPr>
              <a:t>Update records</a:t>
            </a:r>
          </a:p>
          <a:p>
            <a:pPr algn="l" marL="669289" indent="-334645" lvl="1">
              <a:lnSpc>
                <a:spcPts val="4649"/>
              </a:lnSpc>
              <a:spcBef>
                <a:spcPct val="0"/>
              </a:spcBef>
              <a:buFont typeface="Arial"/>
              <a:buChar char="•"/>
            </a:pPr>
            <a:r>
              <a:rPr lang="en-US" sz="3099">
                <a:solidFill>
                  <a:srgbClr val="FFFFFF"/>
                </a:solidFill>
                <a:latin typeface="Glacial Indifference"/>
                <a:ea typeface="Glacial Indifference"/>
                <a:cs typeface="Glacial Indifference"/>
                <a:sym typeface="Glacial Indifference"/>
              </a:rPr>
              <a:t>Delete records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766849" y="198127"/>
            <a:ext cx="16754302" cy="9946301"/>
            <a:chOff x="0" y="0"/>
            <a:chExt cx="4412656" cy="2619602"/>
          </a:xfrm>
        </p:grpSpPr>
        <p:sp>
          <p:nvSpPr>
            <p:cNvPr name="Freeform 16" id="16"/>
            <p:cNvSpPr/>
            <p:nvPr/>
          </p:nvSpPr>
          <p:spPr>
            <a:xfrm flipH="false" flipV="false" rot="0">
              <a:off x="0" y="0"/>
              <a:ext cx="4412655" cy="2619602"/>
            </a:xfrm>
            <a:custGeom>
              <a:avLst/>
              <a:gdLst/>
              <a:ahLst/>
              <a:cxnLst/>
              <a:rect r="r" b="b" t="t" l="l"/>
              <a:pathLst>
                <a:path h="2619602" w="4412655">
                  <a:moveTo>
                    <a:pt x="23566" y="0"/>
                  </a:moveTo>
                  <a:lnTo>
                    <a:pt x="4389089" y="0"/>
                  </a:lnTo>
                  <a:cubicBezTo>
                    <a:pt x="4395339" y="0"/>
                    <a:pt x="4401334" y="2483"/>
                    <a:pt x="4405753" y="6902"/>
                  </a:cubicBezTo>
                  <a:cubicBezTo>
                    <a:pt x="4410173" y="11322"/>
                    <a:pt x="4412655" y="17316"/>
                    <a:pt x="4412655" y="23566"/>
                  </a:cubicBezTo>
                  <a:lnTo>
                    <a:pt x="4412655" y="2596036"/>
                  </a:lnTo>
                  <a:cubicBezTo>
                    <a:pt x="4412655" y="2602286"/>
                    <a:pt x="4410173" y="2608280"/>
                    <a:pt x="4405753" y="2612700"/>
                  </a:cubicBezTo>
                  <a:cubicBezTo>
                    <a:pt x="4401334" y="2617119"/>
                    <a:pt x="4395339" y="2619602"/>
                    <a:pt x="4389089" y="2619602"/>
                  </a:cubicBezTo>
                  <a:lnTo>
                    <a:pt x="23566" y="2619602"/>
                  </a:lnTo>
                  <a:cubicBezTo>
                    <a:pt x="17316" y="2619602"/>
                    <a:pt x="11322" y="2617119"/>
                    <a:pt x="6902" y="2612700"/>
                  </a:cubicBezTo>
                  <a:cubicBezTo>
                    <a:pt x="2483" y="2608280"/>
                    <a:pt x="0" y="2602286"/>
                    <a:pt x="0" y="2596036"/>
                  </a:cubicBezTo>
                  <a:lnTo>
                    <a:pt x="0" y="23566"/>
                  </a:lnTo>
                  <a:cubicBezTo>
                    <a:pt x="0" y="17316"/>
                    <a:pt x="2483" y="11322"/>
                    <a:pt x="6902" y="6902"/>
                  </a:cubicBezTo>
                  <a:cubicBezTo>
                    <a:pt x="11322" y="2483"/>
                    <a:pt x="17316" y="0"/>
                    <a:pt x="23566"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412656" cy="2657702"/>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141883"/>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141883"/>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141883"/>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5" id="25"/>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2585822" y="2844260"/>
            <a:ext cx="4427213" cy="3011526"/>
          </a:xfrm>
          <a:custGeom>
            <a:avLst/>
            <a:gdLst/>
            <a:ahLst/>
            <a:cxnLst/>
            <a:rect r="r" b="b" t="t" l="l"/>
            <a:pathLst>
              <a:path h="3011526" w="4427213">
                <a:moveTo>
                  <a:pt x="0" y="0"/>
                </a:moveTo>
                <a:lnTo>
                  <a:pt x="4427213" y="0"/>
                </a:lnTo>
                <a:lnTo>
                  <a:pt x="4427213" y="3011527"/>
                </a:lnTo>
                <a:lnTo>
                  <a:pt x="0" y="3011527"/>
                </a:lnTo>
                <a:lnTo>
                  <a:pt x="0" y="0"/>
                </a:lnTo>
                <a:close/>
              </a:path>
            </a:pathLst>
          </a:custGeom>
          <a:blipFill>
            <a:blip r:embed="rId19"/>
            <a:stretch>
              <a:fillRect l="0" t="-18676" r="0" b="0"/>
            </a:stretch>
          </a:blipFill>
        </p:spPr>
      </p:sp>
      <p:sp>
        <p:nvSpPr>
          <p:cNvPr name="Freeform 27" id="27"/>
          <p:cNvSpPr/>
          <p:nvPr/>
        </p:nvSpPr>
        <p:spPr>
          <a:xfrm flipH="false" flipV="false" rot="0">
            <a:off x="8393428" y="2844260"/>
            <a:ext cx="6314017" cy="1777430"/>
          </a:xfrm>
          <a:custGeom>
            <a:avLst/>
            <a:gdLst/>
            <a:ahLst/>
            <a:cxnLst/>
            <a:rect r="r" b="b" t="t" l="l"/>
            <a:pathLst>
              <a:path h="1777430" w="6314017">
                <a:moveTo>
                  <a:pt x="0" y="0"/>
                </a:moveTo>
                <a:lnTo>
                  <a:pt x="6314017" y="0"/>
                </a:lnTo>
                <a:lnTo>
                  <a:pt x="6314017" y="1777430"/>
                </a:lnTo>
                <a:lnTo>
                  <a:pt x="0" y="1777430"/>
                </a:lnTo>
                <a:lnTo>
                  <a:pt x="0" y="0"/>
                </a:lnTo>
                <a:close/>
              </a:path>
            </a:pathLst>
          </a:custGeom>
          <a:blipFill>
            <a:blip r:embed="rId20"/>
            <a:stretch>
              <a:fillRect l="0" t="-42825" r="0" b="0"/>
            </a:stretch>
          </a:blipFill>
        </p:spPr>
      </p:sp>
      <p:sp>
        <p:nvSpPr>
          <p:cNvPr name="Freeform 28" id="28"/>
          <p:cNvSpPr/>
          <p:nvPr/>
        </p:nvSpPr>
        <p:spPr>
          <a:xfrm flipH="false" flipV="false" rot="0">
            <a:off x="2595932" y="7138989"/>
            <a:ext cx="4406994" cy="2867098"/>
          </a:xfrm>
          <a:custGeom>
            <a:avLst/>
            <a:gdLst/>
            <a:ahLst/>
            <a:cxnLst/>
            <a:rect r="r" b="b" t="t" l="l"/>
            <a:pathLst>
              <a:path h="2867098" w="4406994">
                <a:moveTo>
                  <a:pt x="0" y="0"/>
                </a:moveTo>
                <a:lnTo>
                  <a:pt x="4406994" y="0"/>
                </a:lnTo>
                <a:lnTo>
                  <a:pt x="4406994" y="2867098"/>
                </a:lnTo>
                <a:lnTo>
                  <a:pt x="0" y="2867098"/>
                </a:lnTo>
                <a:lnTo>
                  <a:pt x="0" y="0"/>
                </a:lnTo>
                <a:close/>
              </a:path>
            </a:pathLst>
          </a:custGeom>
          <a:blipFill>
            <a:blip r:embed="rId21"/>
            <a:stretch>
              <a:fillRect l="0" t="-26841" r="0" b="0"/>
            </a:stretch>
          </a:blipFill>
        </p:spPr>
      </p:sp>
      <p:sp>
        <p:nvSpPr>
          <p:cNvPr name="Freeform 29" id="29"/>
          <p:cNvSpPr/>
          <p:nvPr/>
        </p:nvSpPr>
        <p:spPr>
          <a:xfrm flipH="false" flipV="false" rot="0">
            <a:off x="8393428" y="7138989"/>
            <a:ext cx="4806829" cy="2823304"/>
          </a:xfrm>
          <a:custGeom>
            <a:avLst/>
            <a:gdLst/>
            <a:ahLst/>
            <a:cxnLst/>
            <a:rect r="r" b="b" t="t" l="l"/>
            <a:pathLst>
              <a:path h="2823304" w="4806829">
                <a:moveTo>
                  <a:pt x="0" y="0"/>
                </a:moveTo>
                <a:lnTo>
                  <a:pt x="4806829" y="0"/>
                </a:lnTo>
                <a:lnTo>
                  <a:pt x="4806829" y="2823304"/>
                </a:lnTo>
                <a:lnTo>
                  <a:pt x="0" y="2823304"/>
                </a:lnTo>
                <a:lnTo>
                  <a:pt x="0" y="0"/>
                </a:lnTo>
                <a:close/>
              </a:path>
            </a:pathLst>
          </a:custGeom>
          <a:blipFill>
            <a:blip r:embed="rId22"/>
            <a:stretch>
              <a:fillRect l="0" t="-29855" r="0" b="0"/>
            </a:stretch>
          </a:blipFill>
        </p:spPr>
      </p:sp>
      <p:grpSp>
        <p:nvGrpSpPr>
          <p:cNvPr name="Group 30" id="30"/>
          <p:cNvGrpSpPr/>
          <p:nvPr/>
        </p:nvGrpSpPr>
        <p:grpSpPr>
          <a:xfrm rot="0">
            <a:off x="2577429" y="1561058"/>
            <a:ext cx="4008193" cy="992684"/>
            <a:chOff x="0" y="0"/>
            <a:chExt cx="1055656" cy="261448"/>
          </a:xfrm>
        </p:grpSpPr>
        <p:sp>
          <p:nvSpPr>
            <p:cNvPr name="Freeform 31" id="31"/>
            <p:cNvSpPr/>
            <p:nvPr/>
          </p:nvSpPr>
          <p:spPr>
            <a:xfrm flipH="false" flipV="false" rot="0">
              <a:off x="0" y="0"/>
              <a:ext cx="1055656" cy="261448"/>
            </a:xfrm>
            <a:custGeom>
              <a:avLst/>
              <a:gdLst/>
              <a:ahLst/>
              <a:cxnLst/>
              <a:rect r="r" b="b" t="t" l="l"/>
              <a:pathLst>
                <a:path h="261448" w="1055656">
                  <a:moveTo>
                    <a:pt x="98508" y="0"/>
                  </a:moveTo>
                  <a:lnTo>
                    <a:pt x="957148" y="0"/>
                  </a:lnTo>
                  <a:cubicBezTo>
                    <a:pt x="1011552" y="0"/>
                    <a:pt x="1055656" y="44103"/>
                    <a:pt x="1055656" y="98508"/>
                  </a:cubicBezTo>
                  <a:lnTo>
                    <a:pt x="1055656" y="162940"/>
                  </a:lnTo>
                  <a:cubicBezTo>
                    <a:pt x="1055656" y="217344"/>
                    <a:pt x="1011552" y="261448"/>
                    <a:pt x="957148" y="261448"/>
                  </a:cubicBezTo>
                  <a:lnTo>
                    <a:pt x="98508" y="261448"/>
                  </a:lnTo>
                  <a:cubicBezTo>
                    <a:pt x="44103" y="261448"/>
                    <a:pt x="0" y="217344"/>
                    <a:pt x="0" y="162940"/>
                  </a:cubicBezTo>
                  <a:lnTo>
                    <a:pt x="0" y="98508"/>
                  </a:lnTo>
                  <a:cubicBezTo>
                    <a:pt x="0" y="44103"/>
                    <a:pt x="44103" y="0"/>
                    <a:pt x="98508" y="0"/>
                  </a:cubicBezTo>
                  <a:close/>
                </a:path>
              </a:pathLst>
            </a:custGeom>
            <a:solidFill>
              <a:srgbClr val="094466"/>
            </a:solidFill>
          </p:spPr>
        </p:sp>
        <p:sp>
          <p:nvSpPr>
            <p:cNvPr name="TextBox 32" id="32"/>
            <p:cNvSpPr txBox="true"/>
            <p:nvPr/>
          </p:nvSpPr>
          <p:spPr>
            <a:xfrm>
              <a:off x="0" y="-47625"/>
              <a:ext cx="1055656" cy="309073"/>
            </a:xfrm>
            <a:prstGeom prst="rect">
              <a:avLst/>
            </a:prstGeom>
          </p:spPr>
          <p:txBody>
            <a:bodyPr anchor="ctr" rtlCol="false" tIns="50800" lIns="50800" bIns="50800" rIns="50800"/>
            <a:lstStyle/>
            <a:p>
              <a:pPr algn="ctr">
                <a:lnSpc>
                  <a:spcPts val="4339"/>
                </a:lnSpc>
              </a:pPr>
              <a:r>
                <a:rPr lang="en-US" sz="3099">
                  <a:solidFill>
                    <a:srgbClr val="FFFFFF"/>
                  </a:solidFill>
                  <a:latin typeface="Open Sans"/>
                  <a:ea typeface="Open Sans"/>
                  <a:cs typeface="Open Sans"/>
                  <a:sym typeface="Open Sans"/>
                </a:rPr>
                <a:t>CREATE</a:t>
              </a:r>
            </a:p>
          </p:txBody>
        </p:sp>
      </p:grpSp>
      <p:sp>
        <p:nvSpPr>
          <p:cNvPr name="TextBox 33" id="33"/>
          <p:cNvSpPr txBox="true"/>
          <p:nvPr/>
        </p:nvSpPr>
        <p:spPr>
          <a:xfrm rot="0">
            <a:off x="1705126" y="557213"/>
            <a:ext cx="14411112" cy="933450"/>
          </a:xfrm>
          <a:prstGeom prst="rect">
            <a:avLst/>
          </a:prstGeom>
        </p:spPr>
        <p:txBody>
          <a:bodyPr anchor="t" rtlCol="false" tIns="0" lIns="0" bIns="0" rIns="0">
            <a:spAutoFit/>
          </a:bodyPr>
          <a:lstStyle/>
          <a:p>
            <a:pPr algn="ctr" marL="0" indent="0" lvl="0">
              <a:lnSpc>
                <a:spcPts val="7320"/>
              </a:lnSpc>
              <a:spcBef>
                <a:spcPct val="0"/>
              </a:spcBef>
            </a:pPr>
            <a:r>
              <a:rPr lang="en-US" sz="6100">
                <a:solidFill>
                  <a:srgbClr val="FFFFFF"/>
                </a:solidFill>
                <a:latin typeface="VT323"/>
                <a:ea typeface="VT323"/>
                <a:cs typeface="VT323"/>
                <a:sym typeface="VT323"/>
              </a:rPr>
              <a:t>SQLITE IN FLUTTER</a:t>
            </a:r>
          </a:p>
        </p:txBody>
      </p:sp>
      <p:grpSp>
        <p:nvGrpSpPr>
          <p:cNvPr name="Group 34" id="34"/>
          <p:cNvGrpSpPr/>
          <p:nvPr/>
        </p:nvGrpSpPr>
        <p:grpSpPr>
          <a:xfrm rot="0">
            <a:off x="8393428" y="6035317"/>
            <a:ext cx="4008193" cy="992684"/>
            <a:chOff x="0" y="0"/>
            <a:chExt cx="1055656" cy="261448"/>
          </a:xfrm>
        </p:grpSpPr>
        <p:sp>
          <p:nvSpPr>
            <p:cNvPr name="Freeform 35" id="35"/>
            <p:cNvSpPr/>
            <p:nvPr/>
          </p:nvSpPr>
          <p:spPr>
            <a:xfrm flipH="false" flipV="false" rot="0">
              <a:off x="0" y="0"/>
              <a:ext cx="1055656" cy="261448"/>
            </a:xfrm>
            <a:custGeom>
              <a:avLst/>
              <a:gdLst/>
              <a:ahLst/>
              <a:cxnLst/>
              <a:rect r="r" b="b" t="t" l="l"/>
              <a:pathLst>
                <a:path h="261448" w="1055656">
                  <a:moveTo>
                    <a:pt x="98508" y="0"/>
                  </a:moveTo>
                  <a:lnTo>
                    <a:pt x="957148" y="0"/>
                  </a:lnTo>
                  <a:cubicBezTo>
                    <a:pt x="1011552" y="0"/>
                    <a:pt x="1055656" y="44103"/>
                    <a:pt x="1055656" y="98508"/>
                  </a:cubicBezTo>
                  <a:lnTo>
                    <a:pt x="1055656" y="162940"/>
                  </a:lnTo>
                  <a:cubicBezTo>
                    <a:pt x="1055656" y="217344"/>
                    <a:pt x="1011552" y="261448"/>
                    <a:pt x="957148" y="261448"/>
                  </a:cubicBezTo>
                  <a:lnTo>
                    <a:pt x="98508" y="261448"/>
                  </a:lnTo>
                  <a:cubicBezTo>
                    <a:pt x="44103" y="261448"/>
                    <a:pt x="0" y="217344"/>
                    <a:pt x="0" y="162940"/>
                  </a:cubicBezTo>
                  <a:lnTo>
                    <a:pt x="0" y="98508"/>
                  </a:lnTo>
                  <a:cubicBezTo>
                    <a:pt x="0" y="44103"/>
                    <a:pt x="44103" y="0"/>
                    <a:pt x="98508" y="0"/>
                  </a:cubicBezTo>
                  <a:close/>
                </a:path>
              </a:pathLst>
            </a:custGeom>
            <a:solidFill>
              <a:srgbClr val="094466"/>
            </a:solidFill>
          </p:spPr>
        </p:sp>
        <p:sp>
          <p:nvSpPr>
            <p:cNvPr name="TextBox 36" id="36"/>
            <p:cNvSpPr txBox="true"/>
            <p:nvPr/>
          </p:nvSpPr>
          <p:spPr>
            <a:xfrm>
              <a:off x="0" y="-47625"/>
              <a:ext cx="1055656" cy="309073"/>
            </a:xfrm>
            <a:prstGeom prst="rect">
              <a:avLst/>
            </a:prstGeom>
          </p:spPr>
          <p:txBody>
            <a:bodyPr anchor="ctr" rtlCol="false" tIns="50800" lIns="50800" bIns="50800" rIns="50800"/>
            <a:lstStyle/>
            <a:p>
              <a:pPr algn="ctr">
                <a:lnSpc>
                  <a:spcPts val="4339"/>
                </a:lnSpc>
              </a:pPr>
              <a:r>
                <a:rPr lang="en-US" sz="3099">
                  <a:solidFill>
                    <a:srgbClr val="FFFFFF"/>
                  </a:solidFill>
                  <a:latin typeface="Open Sans"/>
                  <a:ea typeface="Open Sans"/>
                  <a:cs typeface="Open Sans"/>
                  <a:sym typeface="Open Sans"/>
                </a:rPr>
                <a:t>DELETE</a:t>
              </a:r>
            </a:p>
          </p:txBody>
        </p:sp>
      </p:grpSp>
      <p:grpSp>
        <p:nvGrpSpPr>
          <p:cNvPr name="Group 37" id="37"/>
          <p:cNvGrpSpPr/>
          <p:nvPr/>
        </p:nvGrpSpPr>
        <p:grpSpPr>
          <a:xfrm rot="0">
            <a:off x="2612166" y="6035317"/>
            <a:ext cx="4008193" cy="992684"/>
            <a:chOff x="0" y="0"/>
            <a:chExt cx="1055656" cy="261448"/>
          </a:xfrm>
        </p:grpSpPr>
        <p:sp>
          <p:nvSpPr>
            <p:cNvPr name="Freeform 38" id="38"/>
            <p:cNvSpPr/>
            <p:nvPr/>
          </p:nvSpPr>
          <p:spPr>
            <a:xfrm flipH="false" flipV="false" rot="0">
              <a:off x="0" y="0"/>
              <a:ext cx="1055656" cy="261448"/>
            </a:xfrm>
            <a:custGeom>
              <a:avLst/>
              <a:gdLst/>
              <a:ahLst/>
              <a:cxnLst/>
              <a:rect r="r" b="b" t="t" l="l"/>
              <a:pathLst>
                <a:path h="261448" w="1055656">
                  <a:moveTo>
                    <a:pt x="98508" y="0"/>
                  </a:moveTo>
                  <a:lnTo>
                    <a:pt x="957148" y="0"/>
                  </a:lnTo>
                  <a:cubicBezTo>
                    <a:pt x="1011552" y="0"/>
                    <a:pt x="1055656" y="44103"/>
                    <a:pt x="1055656" y="98508"/>
                  </a:cubicBezTo>
                  <a:lnTo>
                    <a:pt x="1055656" y="162940"/>
                  </a:lnTo>
                  <a:cubicBezTo>
                    <a:pt x="1055656" y="217344"/>
                    <a:pt x="1011552" y="261448"/>
                    <a:pt x="957148" y="261448"/>
                  </a:cubicBezTo>
                  <a:lnTo>
                    <a:pt x="98508" y="261448"/>
                  </a:lnTo>
                  <a:cubicBezTo>
                    <a:pt x="44103" y="261448"/>
                    <a:pt x="0" y="217344"/>
                    <a:pt x="0" y="162940"/>
                  </a:cubicBezTo>
                  <a:lnTo>
                    <a:pt x="0" y="98508"/>
                  </a:lnTo>
                  <a:cubicBezTo>
                    <a:pt x="0" y="44103"/>
                    <a:pt x="44103" y="0"/>
                    <a:pt x="98508" y="0"/>
                  </a:cubicBezTo>
                  <a:close/>
                </a:path>
              </a:pathLst>
            </a:custGeom>
            <a:solidFill>
              <a:srgbClr val="094466"/>
            </a:solidFill>
          </p:spPr>
        </p:sp>
        <p:sp>
          <p:nvSpPr>
            <p:cNvPr name="TextBox 39" id="39"/>
            <p:cNvSpPr txBox="true"/>
            <p:nvPr/>
          </p:nvSpPr>
          <p:spPr>
            <a:xfrm>
              <a:off x="0" y="-47625"/>
              <a:ext cx="1055656" cy="309073"/>
            </a:xfrm>
            <a:prstGeom prst="rect">
              <a:avLst/>
            </a:prstGeom>
          </p:spPr>
          <p:txBody>
            <a:bodyPr anchor="ctr" rtlCol="false" tIns="50800" lIns="50800" bIns="50800" rIns="50800"/>
            <a:lstStyle/>
            <a:p>
              <a:pPr algn="ctr">
                <a:lnSpc>
                  <a:spcPts val="4339"/>
                </a:lnSpc>
              </a:pPr>
              <a:r>
                <a:rPr lang="en-US" sz="3099">
                  <a:solidFill>
                    <a:srgbClr val="FFFFFF"/>
                  </a:solidFill>
                  <a:latin typeface="Open Sans"/>
                  <a:ea typeface="Open Sans"/>
                  <a:cs typeface="Open Sans"/>
                  <a:sym typeface="Open Sans"/>
                </a:rPr>
                <a:t>UPDATE</a:t>
              </a:r>
            </a:p>
          </p:txBody>
        </p:sp>
      </p:grpSp>
      <p:grpSp>
        <p:nvGrpSpPr>
          <p:cNvPr name="Group 40" id="40"/>
          <p:cNvGrpSpPr/>
          <p:nvPr/>
        </p:nvGrpSpPr>
        <p:grpSpPr>
          <a:xfrm rot="0">
            <a:off x="8393428" y="1561058"/>
            <a:ext cx="4008193" cy="992684"/>
            <a:chOff x="0" y="0"/>
            <a:chExt cx="1055656" cy="261448"/>
          </a:xfrm>
        </p:grpSpPr>
        <p:sp>
          <p:nvSpPr>
            <p:cNvPr name="Freeform 41" id="41"/>
            <p:cNvSpPr/>
            <p:nvPr/>
          </p:nvSpPr>
          <p:spPr>
            <a:xfrm flipH="false" flipV="false" rot="0">
              <a:off x="0" y="0"/>
              <a:ext cx="1055656" cy="261448"/>
            </a:xfrm>
            <a:custGeom>
              <a:avLst/>
              <a:gdLst/>
              <a:ahLst/>
              <a:cxnLst/>
              <a:rect r="r" b="b" t="t" l="l"/>
              <a:pathLst>
                <a:path h="261448" w="1055656">
                  <a:moveTo>
                    <a:pt x="98508" y="0"/>
                  </a:moveTo>
                  <a:lnTo>
                    <a:pt x="957148" y="0"/>
                  </a:lnTo>
                  <a:cubicBezTo>
                    <a:pt x="1011552" y="0"/>
                    <a:pt x="1055656" y="44103"/>
                    <a:pt x="1055656" y="98508"/>
                  </a:cubicBezTo>
                  <a:lnTo>
                    <a:pt x="1055656" y="162940"/>
                  </a:lnTo>
                  <a:cubicBezTo>
                    <a:pt x="1055656" y="217344"/>
                    <a:pt x="1011552" y="261448"/>
                    <a:pt x="957148" y="261448"/>
                  </a:cubicBezTo>
                  <a:lnTo>
                    <a:pt x="98508" y="261448"/>
                  </a:lnTo>
                  <a:cubicBezTo>
                    <a:pt x="44103" y="261448"/>
                    <a:pt x="0" y="217344"/>
                    <a:pt x="0" y="162940"/>
                  </a:cubicBezTo>
                  <a:lnTo>
                    <a:pt x="0" y="98508"/>
                  </a:lnTo>
                  <a:cubicBezTo>
                    <a:pt x="0" y="44103"/>
                    <a:pt x="44103" y="0"/>
                    <a:pt x="98508" y="0"/>
                  </a:cubicBezTo>
                  <a:close/>
                </a:path>
              </a:pathLst>
            </a:custGeom>
            <a:solidFill>
              <a:srgbClr val="094466"/>
            </a:solidFill>
          </p:spPr>
        </p:sp>
        <p:sp>
          <p:nvSpPr>
            <p:cNvPr name="TextBox 42" id="42"/>
            <p:cNvSpPr txBox="true"/>
            <p:nvPr/>
          </p:nvSpPr>
          <p:spPr>
            <a:xfrm>
              <a:off x="0" y="-47625"/>
              <a:ext cx="1055656" cy="309073"/>
            </a:xfrm>
            <a:prstGeom prst="rect">
              <a:avLst/>
            </a:prstGeom>
          </p:spPr>
          <p:txBody>
            <a:bodyPr anchor="ctr" rtlCol="false" tIns="50800" lIns="50800" bIns="50800" rIns="50800"/>
            <a:lstStyle/>
            <a:p>
              <a:pPr algn="ctr">
                <a:lnSpc>
                  <a:spcPts val="4339"/>
                </a:lnSpc>
              </a:pPr>
              <a:r>
                <a:rPr lang="en-US" sz="3099">
                  <a:solidFill>
                    <a:srgbClr val="FFFFFF"/>
                  </a:solidFill>
                  <a:latin typeface="Open Sans"/>
                  <a:ea typeface="Open Sans"/>
                  <a:cs typeface="Open Sans"/>
                  <a:sym typeface="Open Sans"/>
                </a:rPr>
                <a:t>READ</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3447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766849" y="568705"/>
            <a:ext cx="16754302" cy="9271245"/>
            <a:chOff x="0" y="0"/>
            <a:chExt cx="4412656" cy="2441809"/>
          </a:xfrm>
        </p:grpSpPr>
        <p:sp>
          <p:nvSpPr>
            <p:cNvPr name="Freeform 16" id="16"/>
            <p:cNvSpPr/>
            <p:nvPr/>
          </p:nvSpPr>
          <p:spPr>
            <a:xfrm flipH="false" flipV="false" rot="0">
              <a:off x="0" y="0"/>
              <a:ext cx="4412655" cy="2441809"/>
            </a:xfrm>
            <a:custGeom>
              <a:avLst/>
              <a:gdLst/>
              <a:ahLst/>
              <a:cxnLst/>
              <a:rect r="r" b="b" t="t" l="l"/>
              <a:pathLst>
                <a:path h="2441809" w="4412655">
                  <a:moveTo>
                    <a:pt x="23566" y="0"/>
                  </a:moveTo>
                  <a:lnTo>
                    <a:pt x="4389089" y="0"/>
                  </a:lnTo>
                  <a:cubicBezTo>
                    <a:pt x="4395339" y="0"/>
                    <a:pt x="4401334" y="2483"/>
                    <a:pt x="4405753" y="6902"/>
                  </a:cubicBezTo>
                  <a:cubicBezTo>
                    <a:pt x="4410173" y="11322"/>
                    <a:pt x="4412655" y="17316"/>
                    <a:pt x="4412655" y="23566"/>
                  </a:cubicBezTo>
                  <a:lnTo>
                    <a:pt x="4412655" y="2418243"/>
                  </a:lnTo>
                  <a:cubicBezTo>
                    <a:pt x="4412655" y="2424493"/>
                    <a:pt x="4410173" y="2430487"/>
                    <a:pt x="4405753" y="2434907"/>
                  </a:cubicBezTo>
                  <a:cubicBezTo>
                    <a:pt x="4401334" y="2439327"/>
                    <a:pt x="4395339" y="2441809"/>
                    <a:pt x="4389089" y="2441809"/>
                  </a:cubicBezTo>
                  <a:lnTo>
                    <a:pt x="23566" y="2441809"/>
                  </a:lnTo>
                  <a:cubicBezTo>
                    <a:pt x="17316" y="2441809"/>
                    <a:pt x="11322" y="2439327"/>
                    <a:pt x="6902" y="2434907"/>
                  </a:cubicBezTo>
                  <a:cubicBezTo>
                    <a:pt x="2483" y="2430487"/>
                    <a:pt x="0" y="2424493"/>
                    <a:pt x="0" y="2418243"/>
                  </a:cubicBezTo>
                  <a:lnTo>
                    <a:pt x="0" y="23566"/>
                  </a:lnTo>
                  <a:cubicBezTo>
                    <a:pt x="0" y="17316"/>
                    <a:pt x="2483" y="11322"/>
                    <a:pt x="6902" y="6902"/>
                  </a:cubicBezTo>
                  <a:cubicBezTo>
                    <a:pt x="11322" y="2483"/>
                    <a:pt x="17316" y="0"/>
                    <a:pt x="23566"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47625"/>
              <a:ext cx="4412656" cy="2489434"/>
            </a:xfrm>
            <a:prstGeom prst="rect">
              <a:avLst/>
            </a:prstGeom>
          </p:spPr>
          <p:txBody>
            <a:bodyPr anchor="ctr" rtlCol="false" tIns="50800" lIns="50800" bIns="50800" rIns="50800"/>
            <a:lstStyle/>
            <a:p>
              <a:pPr algn="ctr">
                <a:lnSpc>
                  <a:spcPts val="349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5" id="25"/>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5462671" y="2057400"/>
            <a:ext cx="653567" cy="609600"/>
          </a:xfrm>
          <a:custGeom>
            <a:avLst/>
            <a:gdLst/>
            <a:ahLst/>
            <a:cxnLst/>
            <a:rect r="r" b="b" t="t" l="l"/>
            <a:pathLst>
              <a:path h="609600" w="653567">
                <a:moveTo>
                  <a:pt x="0" y="0"/>
                </a:moveTo>
                <a:lnTo>
                  <a:pt x="653567" y="0"/>
                </a:lnTo>
                <a:lnTo>
                  <a:pt x="653567" y="609600"/>
                </a:lnTo>
                <a:lnTo>
                  <a:pt x="0" y="60960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7" id="27"/>
          <p:cNvSpPr/>
          <p:nvPr/>
        </p:nvSpPr>
        <p:spPr>
          <a:xfrm flipH="false" flipV="false" rot="0">
            <a:off x="1558007" y="5458834"/>
            <a:ext cx="7380984" cy="3799466"/>
          </a:xfrm>
          <a:custGeom>
            <a:avLst/>
            <a:gdLst/>
            <a:ahLst/>
            <a:cxnLst/>
            <a:rect r="r" b="b" t="t" l="l"/>
            <a:pathLst>
              <a:path h="3799466" w="7380984">
                <a:moveTo>
                  <a:pt x="0" y="0"/>
                </a:moveTo>
                <a:lnTo>
                  <a:pt x="7380985" y="0"/>
                </a:lnTo>
                <a:lnTo>
                  <a:pt x="7380985" y="3799466"/>
                </a:lnTo>
                <a:lnTo>
                  <a:pt x="0" y="3799466"/>
                </a:lnTo>
                <a:lnTo>
                  <a:pt x="0" y="0"/>
                </a:lnTo>
                <a:close/>
              </a:path>
            </a:pathLst>
          </a:custGeom>
          <a:blipFill>
            <a:blip r:embed="rId21"/>
            <a:stretch>
              <a:fillRect l="0" t="-5403" r="0" b="-40293"/>
            </a:stretch>
          </a:blipFill>
        </p:spPr>
      </p:sp>
      <p:sp>
        <p:nvSpPr>
          <p:cNvPr name="Freeform 28" id="28"/>
          <p:cNvSpPr/>
          <p:nvPr/>
        </p:nvSpPr>
        <p:spPr>
          <a:xfrm flipH="false" flipV="false" rot="0">
            <a:off x="1558007" y="1884941"/>
            <a:ext cx="6938293" cy="3258559"/>
          </a:xfrm>
          <a:custGeom>
            <a:avLst/>
            <a:gdLst/>
            <a:ahLst/>
            <a:cxnLst/>
            <a:rect r="r" b="b" t="t" l="l"/>
            <a:pathLst>
              <a:path h="3258559" w="6938293">
                <a:moveTo>
                  <a:pt x="0" y="0"/>
                </a:moveTo>
                <a:lnTo>
                  <a:pt x="6938293" y="0"/>
                </a:lnTo>
                <a:lnTo>
                  <a:pt x="6938293" y="3258559"/>
                </a:lnTo>
                <a:lnTo>
                  <a:pt x="0" y="3258559"/>
                </a:lnTo>
                <a:lnTo>
                  <a:pt x="0" y="0"/>
                </a:lnTo>
                <a:close/>
              </a:path>
            </a:pathLst>
          </a:custGeom>
          <a:blipFill>
            <a:blip r:embed="rId22"/>
            <a:stretch>
              <a:fillRect l="0" t="0" r="0" b="0"/>
            </a:stretch>
          </a:blipFill>
        </p:spPr>
      </p:sp>
      <p:sp>
        <p:nvSpPr>
          <p:cNvPr name="TextBox 29" id="29"/>
          <p:cNvSpPr txBox="true"/>
          <p:nvPr/>
        </p:nvSpPr>
        <p:spPr>
          <a:xfrm rot="0">
            <a:off x="1896549" y="790575"/>
            <a:ext cx="14084886" cy="1238250"/>
          </a:xfrm>
          <a:prstGeom prst="rect">
            <a:avLst/>
          </a:prstGeom>
        </p:spPr>
        <p:txBody>
          <a:bodyPr anchor="t" rtlCol="false" tIns="0" lIns="0" bIns="0" rIns="0">
            <a:spAutoFit/>
          </a:bodyPr>
          <a:lstStyle/>
          <a:p>
            <a:pPr algn="ctr" marL="0" indent="0" lvl="0">
              <a:lnSpc>
                <a:spcPts val="9600"/>
              </a:lnSpc>
              <a:spcBef>
                <a:spcPct val="0"/>
              </a:spcBef>
            </a:pPr>
            <a:r>
              <a:rPr lang="en-US" sz="8000">
                <a:solidFill>
                  <a:srgbClr val="FFFFFF"/>
                </a:solidFill>
                <a:latin typeface="VT323"/>
                <a:ea typeface="VT323"/>
                <a:cs typeface="VT323"/>
                <a:sym typeface="VT323"/>
              </a:rPr>
              <a:t>HIVE</a:t>
            </a:r>
          </a:p>
        </p:txBody>
      </p:sp>
      <p:sp>
        <p:nvSpPr>
          <p:cNvPr name="TextBox 30" id="30"/>
          <p:cNvSpPr txBox="true"/>
          <p:nvPr/>
        </p:nvSpPr>
        <p:spPr>
          <a:xfrm rot="0">
            <a:off x="8938992" y="2564635"/>
            <a:ext cx="6523679" cy="2282190"/>
          </a:xfrm>
          <a:prstGeom prst="rect">
            <a:avLst/>
          </a:prstGeom>
        </p:spPr>
        <p:txBody>
          <a:bodyPr anchor="t" rtlCol="false" tIns="0" lIns="0" bIns="0" rIns="0">
            <a:spAutoFit/>
          </a:bodyPr>
          <a:lstStyle/>
          <a:p>
            <a:pPr algn="l">
              <a:lnSpc>
                <a:spcPts val="4649"/>
              </a:lnSpc>
              <a:spcBef>
                <a:spcPct val="0"/>
              </a:spcBef>
            </a:pPr>
            <a:r>
              <a:rPr lang="en-US" sz="3099">
                <a:solidFill>
                  <a:srgbClr val="FFFFFF"/>
                </a:solidFill>
                <a:latin typeface="Canva Sans"/>
                <a:ea typeface="Canva Sans"/>
                <a:cs typeface="Canva Sans"/>
                <a:sym typeface="Canva Sans"/>
              </a:rPr>
              <a:t>Instead </a:t>
            </a:r>
            <a:r>
              <a:rPr lang="en-US" sz="3099">
                <a:solidFill>
                  <a:srgbClr val="FFFFFF"/>
                </a:solidFill>
                <a:latin typeface="Canva Sans"/>
                <a:ea typeface="Canva Sans"/>
                <a:cs typeface="Canva Sans"/>
                <a:sym typeface="Canva Sans"/>
              </a:rPr>
              <a:t>of thinking primarily in terms of tables and SQL, we can think of Hive as a NoSQL or key-value style local database.</a:t>
            </a:r>
          </a:p>
        </p:txBody>
      </p:sp>
      <p:sp>
        <p:nvSpPr>
          <p:cNvPr name="TextBox 31" id="31"/>
          <p:cNvSpPr txBox="true"/>
          <p:nvPr/>
        </p:nvSpPr>
        <p:spPr>
          <a:xfrm rot="0">
            <a:off x="9402304" y="5482142"/>
            <a:ext cx="6956679" cy="3743325"/>
          </a:xfrm>
          <a:prstGeom prst="rect">
            <a:avLst/>
          </a:prstGeom>
        </p:spPr>
        <p:txBody>
          <a:bodyPr anchor="t" rtlCol="false" tIns="0" lIns="0" bIns="0" rIns="0">
            <a:spAutoFit/>
          </a:bodyPr>
          <a:lstStyle/>
          <a:p>
            <a:pPr algn="ctr">
              <a:lnSpc>
                <a:spcPts val="4200"/>
              </a:lnSpc>
            </a:pPr>
            <a:r>
              <a:rPr lang="en-US" sz="3500">
                <a:solidFill>
                  <a:srgbClr val="FFFFFF"/>
                </a:solidFill>
                <a:latin typeface="VT323"/>
                <a:ea typeface="VT323"/>
                <a:cs typeface="VT323"/>
                <a:sym typeface="VT323"/>
              </a:rPr>
              <a:t>WHY USE HIVE?</a:t>
            </a:r>
          </a:p>
          <a:p>
            <a:pPr algn="l">
              <a:lnSpc>
                <a:spcPts val="4200"/>
              </a:lnSpc>
            </a:pPr>
            <a:r>
              <a:rPr lang="en-US" sz="3500">
                <a:solidFill>
                  <a:srgbClr val="FFFFFF"/>
                </a:solidFill>
                <a:latin typeface="VT323"/>
                <a:ea typeface="VT323"/>
                <a:cs typeface="VT323"/>
                <a:sym typeface="VT323"/>
              </a:rPr>
              <a:t>1.HIVE IS ATTRACTIVE WHEN WE WANT SOMETHING SIMPLE AND LIGHTWEIGHT</a:t>
            </a:r>
          </a:p>
          <a:p>
            <a:pPr algn="l">
              <a:lnSpc>
                <a:spcPts val="4200"/>
              </a:lnSpc>
            </a:pPr>
            <a:r>
              <a:rPr lang="en-US" sz="3500">
                <a:solidFill>
                  <a:srgbClr val="FFFFFF"/>
                </a:solidFill>
                <a:latin typeface="VT323"/>
                <a:ea typeface="VT323"/>
                <a:cs typeface="VT323"/>
                <a:sym typeface="VT323"/>
              </a:rPr>
              <a:t>2.WE DON'T NEED TO WRITE SQL QUERIES.</a:t>
            </a:r>
          </a:p>
          <a:p>
            <a:pPr algn="l">
              <a:lnSpc>
                <a:spcPts val="4200"/>
              </a:lnSpc>
            </a:pPr>
            <a:r>
              <a:rPr lang="en-US" sz="3500">
                <a:solidFill>
                  <a:srgbClr val="FFFFFF"/>
                </a:solidFill>
                <a:latin typeface="VT323"/>
                <a:ea typeface="VT323"/>
                <a:cs typeface="VT323"/>
                <a:sym typeface="VT323"/>
              </a:rPr>
              <a:t>3.THE API IS RELATIVELY SIMPLE.</a:t>
            </a:r>
          </a:p>
          <a:p>
            <a:pPr algn="l">
              <a:lnSpc>
                <a:spcPts val="4200"/>
              </a:lnSpc>
              <a:spcBef>
                <a:spcPct val="0"/>
              </a:spcBef>
            </a:pPr>
            <a:r>
              <a:rPr lang="en-US" sz="3500">
                <a:solidFill>
                  <a:srgbClr val="FFFFFF"/>
                </a:solidFill>
                <a:latin typeface="VT323"/>
                <a:ea typeface="VT323"/>
                <a:cs typeface="VT323"/>
                <a:sym typeface="VT323"/>
              </a:rPr>
              <a:t>4.IT'S ALSO USEFUL FOR STORING LOCAL OBJECTS AND CACHED DATA.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3447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266635" y="568705"/>
            <a:ext cx="17602491" cy="9271245"/>
            <a:chOff x="0" y="0"/>
            <a:chExt cx="4636047" cy="2441809"/>
          </a:xfrm>
        </p:grpSpPr>
        <p:sp>
          <p:nvSpPr>
            <p:cNvPr name="Freeform 16" id="16"/>
            <p:cNvSpPr/>
            <p:nvPr/>
          </p:nvSpPr>
          <p:spPr>
            <a:xfrm flipH="false" flipV="false" rot="0">
              <a:off x="0" y="0"/>
              <a:ext cx="4636047" cy="2441809"/>
            </a:xfrm>
            <a:custGeom>
              <a:avLst/>
              <a:gdLst/>
              <a:ahLst/>
              <a:cxnLst/>
              <a:rect r="r" b="b" t="t" l="l"/>
              <a:pathLst>
                <a:path h="2441809" w="4636047">
                  <a:moveTo>
                    <a:pt x="22431" y="0"/>
                  </a:moveTo>
                  <a:lnTo>
                    <a:pt x="4613616" y="0"/>
                  </a:lnTo>
                  <a:cubicBezTo>
                    <a:pt x="4619565" y="0"/>
                    <a:pt x="4625271" y="2363"/>
                    <a:pt x="4629477" y="6570"/>
                  </a:cubicBezTo>
                  <a:cubicBezTo>
                    <a:pt x="4633684" y="10776"/>
                    <a:pt x="4636047" y="16482"/>
                    <a:pt x="4636047" y="22431"/>
                  </a:cubicBezTo>
                  <a:lnTo>
                    <a:pt x="4636047" y="2419379"/>
                  </a:lnTo>
                  <a:cubicBezTo>
                    <a:pt x="4636047" y="2431767"/>
                    <a:pt x="4626005" y="2441809"/>
                    <a:pt x="4613616" y="2441809"/>
                  </a:cubicBezTo>
                  <a:lnTo>
                    <a:pt x="22431" y="2441809"/>
                  </a:lnTo>
                  <a:cubicBezTo>
                    <a:pt x="16482" y="2441809"/>
                    <a:pt x="10776" y="2439446"/>
                    <a:pt x="6570" y="2435240"/>
                  </a:cubicBezTo>
                  <a:cubicBezTo>
                    <a:pt x="2363" y="2431033"/>
                    <a:pt x="0" y="2425328"/>
                    <a:pt x="0" y="2419379"/>
                  </a:cubicBezTo>
                  <a:lnTo>
                    <a:pt x="0" y="22431"/>
                  </a:lnTo>
                  <a:cubicBezTo>
                    <a:pt x="0" y="16482"/>
                    <a:pt x="2363" y="10776"/>
                    <a:pt x="6570" y="6570"/>
                  </a:cubicBezTo>
                  <a:cubicBezTo>
                    <a:pt x="10776" y="2363"/>
                    <a:pt x="16482" y="0"/>
                    <a:pt x="22431"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47625"/>
              <a:ext cx="4636047" cy="2489434"/>
            </a:xfrm>
            <a:prstGeom prst="rect">
              <a:avLst/>
            </a:prstGeom>
          </p:spPr>
          <p:txBody>
            <a:bodyPr anchor="ctr" rtlCol="false" tIns="50800" lIns="50800" bIns="50800" rIns="50800"/>
            <a:lstStyle/>
            <a:p>
              <a:pPr algn="ctr">
                <a:lnSpc>
                  <a:spcPts val="349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5" id="25"/>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5462671" y="2057400"/>
            <a:ext cx="653567" cy="609600"/>
          </a:xfrm>
          <a:custGeom>
            <a:avLst/>
            <a:gdLst/>
            <a:ahLst/>
            <a:cxnLst/>
            <a:rect r="r" b="b" t="t" l="l"/>
            <a:pathLst>
              <a:path h="609600" w="653567">
                <a:moveTo>
                  <a:pt x="0" y="0"/>
                </a:moveTo>
                <a:lnTo>
                  <a:pt x="653567" y="0"/>
                </a:lnTo>
                <a:lnTo>
                  <a:pt x="653567" y="609600"/>
                </a:lnTo>
                <a:lnTo>
                  <a:pt x="0" y="60960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7" id="27"/>
          <p:cNvSpPr/>
          <p:nvPr/>
        </p:nvSpPr>
        <p:spPr>
          <a:xfrm flipH="false" flipV="false" rot="0">
            <a:off x="766849" y="3895650"/>
            <a:ext cx="16754302" cy="4110686"/>
          </a:xfrm>
          <a:custGeom>
            <a:avLst/>
            <a:gdLst/>
            <a:ahLst/>
            <a:cxnLst/>
            <a:rect r="r" b="b" t="t" l="l"/>
            <a:pathLst>
              <a:path h="4110686" w="16754302">
                <a:moveTo>
                  <a:pt x="0" y="0"/>
                </a:moveTo>
                <a:lnTo>
                  <a:pt x="16754302" y="0"/>
                </a:lnTo>
                <a:lnTo>
                  <a:pt x="16754302" y="4110686"/>
                </a:lnTo>
                <a:lnTo>
                  <a:pt x="0" y="4110686"/>
                </a:lnTo>
                <a:lnTo>
                  <a:pt x="0" y="0"/>
                </a:lnTo>
                <a:close/>
              </a:path>
            </a:pathLst>
          </a:custGeom>
          <a:blipFill>
            <a:blip r:embed="rId21"/>
            <a:stretch>
              <a:fillRect l="0" t="-103789" r="0" b="0"/>
            </a:stretch>
          </a:blipFill>
        </p:spPr>
      </p:sp>
      <p:sp>
        <p:nvSpPr>
          <p:cNvPr name="TextBox 28" id="28"/>
          <p:cNvSpPr txBox="true"/>
          <p:nvPr/>
        </p:nvSpPr>
        <p:spPr>
          <a:xfrm rot="0">
            <a:off x="1896549" y="1889792"/>
            <a:ext cx="14084886" cy="1238250"/>
          </a:xfrm>
          <a:prstGeom prst="rect">
            <a:avLst/>
          </a:prstGeom>
        </p:spPr>
        <p:txBody>
          <a:bodyPr anchor="t" rtlCol="false" tIns="0" lIns="0" bIns="0" rIns="0">
            <a:spAutoFit/>
          </a:bodyPr>
          <a:lstStyle/>
          <a:p>
            <a:pPr algn="ctr" marL="0" indent="0" lvl="0">
              <a:lnSpc>
                <a:spcPts val="9600"/>
              </a:lnSpc>
              <a:spcBef>
                <a:spcPct val="0"/>
              </a:spcBef>
            </a:pPr>
            <a:r>
              <a:rPr lang="en-US" sz="8000">
                <a:solidFill>
                  <a:srgbClr val="FFFFFF"/>
                </a:solidFill>
                <a:latin typeface="VT323"/>
                <a:ea typeface="VT323"/>
                <a:cs typeface="VT323"/>
                <a:sym typeface="VT323"/>
              </a:rPr>
              <a:t>SQLITE V/S HIVE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3447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766849" y="568705"/>
            <a:ext cx="16754302" cy="9271245"/>
            <a:chOff x="0" y="0"/>
            <a:chExt cx="4412656" cy="2441809"/>
          </a:xfrm>
        </p:grpSpPr>
        <p:sp>
          <p:nvSpPr>
            <p:cNvPr name="Freeform 16" id="16"/>
            <p:cNvSpPr/>
            <p:nvPr/>
          </p:nvSpPr>
          <p:spPr>
            <a:xfrm flipH="false" flipV="false" rot="0">
              <a:off x="0" y="0"/>
              <a:ext cx="4412655" cy="2441809"/>
            </a:xfrm>
            <a:custGeom>
              <a:avLst/>
              <a:gdLst/>
              <a:ahLst/>
              <a:cxnLst/>
              <a:rect r="r" b="b" t="t" l="l"/>
              <a:pathLst>
                <a:path h="2441809" w="4412655">
                  <a:moveTo>
                    <a:pt x="23566" y="0"/>
                  </a:moveTo>
                  <a:lnTo>
                    <a:pt x="4389089" y="0"/>
                  </a:lnTo>
                  <a:cubicBezTo>
                    <a:pt x="4395339" y="0"/>
                    <a:pt x="4401334" y="2483"/>
                    <a:pt x="4405753" y="6902"/>
                  </a:cubicBezTo>
                  <a:cubicBezTo>
                    <a:pt x="4410173" y="11322"/>
                    <a:pt x="4412655" y="17316"/>
                    <a:pt x="4412655" y="23566"/>
                  </a:cubicBezTo>
                  <a:lnTo>
                    <a:pt x="4412655" y="2418243"/>
                  </a:lnTo>
                  <a:cubicBezTo>
                    <a:pt x="4412655" y="2424493"/>
                    <a:pt x="4410173" y="2430487"/>
                    <a:pt x="4405753" y="2434907"/>
                  </a:cubicBezTo>
                  <a:cubicBezTo>
                    <a:pt x="4401334" y="2439327"/>
                    <a:pt x="4395339" y="2441809"/>
                    <a:pt x="4389089" y="2441809"/>
                  </a:cubicBezTo>
                  <a:lnTo>
                    <a:pt x="23566" y="2441809"/>
                  </a:lnTo>
                  <a:cubicBezTo>
                    <a:pt x="17316" y="2441809"/>
                    <a:pt x="11322" y="2439327"/>
                    <a:pt x="6902" y="2434907"/>
                  </a:cubicBezTo>
                  <a:cubicBezTo>
                    <a:pt x="2483" y="2430487"/>
                    <a:pt x="0" y="2424493"/>
                    <a:pt x="0" y="2418243"/>
                  </a:cubicBezTo>
                  <a:lnTo>
                    <a:pt x="0" y="23566"/>
                  </a:lnTo>
                  <a:cubicBezTo>
                    <a:pt x="0" y="17316"/>
                    <a:pt x="2483" y="11322"/>
                    <a:pt x="6902" y="6902"/>
                  </a:cubicBezTo>
                  <a:cubicBezTo>
                    <a:pt x="11322" y="2483"/>
                    <a:pt x="17316" y="0"/>
                    <a:pt x="23566"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47625"/>
              <a:ext cx="4412656" cy="2489434"/>
            </a:xfrm>
            <a:prstGeom prst="rect">
              <a:avLst/>
            </a:prstGeom>
          </p:spPr>
          <p:txBody>
            <a:bodyPr anchor="ctr" rtlCol="false" tIns="50800" lIns="50800" bIns="50800" rIns="50800"/>
            <a:lstStyle/>
            <a:p>
              <a:pPr algn="ctr">
                <a:lnSpc>
                  <a:spcPts val="349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5" id="25"/>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261410" y="5069840"/>
            <a:ext cx="7520555" cy="2505285"/>
          </a:xfrm>
          <a:custGeom>
            <a:avLst/>
            <a:gdLst/>
            <a:ahLst/>
            <a:cxnLst/>
            <a:rect r="r" b="b" t="t" l="l"/>
            <a:pathLst>
              <a:path h="2505285" w="7520555">
                <a:moveTo>
                  <a:pt x="0" y="0"/>
                </a:moveTo>
                <a:lnTo>
                  <a:pt x="7520555" y="0"/>
                </a:lnTo>
                <a:lnTo>
                  <a:pt x="7520555" y="2505285"/>
                </a:lnTo>
                <a:lnTo>
                  <a:pt x="0" y="2505285"/>
                </a:lnTo>
                <a:lnTo>
                  <a:pt x="0" y="0"/>
                </a:lnTo>
                <a:close/>
              </a:path>
            </a:pathLst>
          </a:custGeom>
          <a:blipFill>
            <a:blip r:embed="rId19"/>
            <a:stretch>
              <a:fillRect l="0" t="0" r="0" b="0"/>
            </a:stretch>
          </a:blipFill>
        </p:spPr>
      </p:sp>
      <p:sp>
        <p:nvSpPr>
          <p:cNvPr name="Freeform 27" id="27"/>
          <p:cNvSpPr/>
          <p:nvPr/>
        </p:nvSpPr>
        <p:spPr>
          <a:xfrm flipH="false" flipV="false" rot="0">
            <a:off x="9516581" y="5069840"/>
            <a:ext cx="7237721" cy="3618861"/>
          </a:xfrm>
          <a:custGeom>
            <a:avLst/>
            <a:gdLst/>
            <a:ahLst/>
            <a:cxnLst/>
            <a:rect r="r" b="b" t="t" l="l"/>
            <a:pathLst>
              <a:path h="3618861" w="7237721">
                <a:moveTo>
                  <a:pt x="0" y="0"/>
                </a:moveTo>
                <a:lnTo>
                  <a:pt x="7237721" y="0"/>
                </a:lnTo>
                <a:lnTo>
                  <a:pt x="7237721" y="3618861"/>
                </a:lnTo>
                <a:lnTo>
                  <a:pt x="0" y="3618861"/>
                </a:lnTo>
                <a:lnTo>
                  <a:pt x="0" y="0"/>
                </a:lnTo>
                <a:close/>
              </a:path>
            </a:pathLst>
          </a:custGeom>
          <a:blipFill>
            <a:blip r:embed="rId20"/>
            <a:stretch>
              <a:fillRect l="0" t="0" r="0" b="0"/>
            </a:stretch>
          </a:blipFill>
        </p:spPr>
      </p:sp>
      <p:sp>
        <p:nvSpPr>
          <p:cNvPr name="TextBox 28" id="28"/>
          <p:cNvSpPr txBox="true"/>
          <p:nvPr/>
        </p:nvSpPr>
        <p:spPr>
          <a:xfrm rot="0">
            <a:off x="1896549" y="790575"/>
            <a:ext cx="14084886" cy="1238250"/>
          </a:xfrm>
          <a:prstGeom prst="rect">
            <a:avLst/>
          </a:prstGeom>
        </p:spPr>
        <p:txBody>
          <a:bodyPr anchor="t" rtlCol="false" tIns="0" lIns="0" bIns="0" rIns="0">
            <a:spAutoFit/>
          </a:bodyPr>
          <a:lstStyle/>
          <a:p>
            <a:pPr algn="ctr" marL="0" indent="0" lvl="0">
              <a:lnSpc>
                <a:spcPts val="9600"/>
              </a:lnSpc>
              <a:spcBef>
                <a:spcPct val="0"/>
              </a:spcBef>
            </a:pPr>
            <a:r>
              <a:rPr lang="en-US" sz="8000">
                <a:solidFill>
                  <a:srgbClr val="FFFFFF"/>
                </a:solidFill>
                <a:latin typeface="VT323"/>
                <a:ea typeface="VT323"/>
                <a:cs typeface="VT323"/>
                <a:sym typeface="VT323"/>
              </a:rPr>
              <a:t>LOCAL CACHING</a:t>
            </a:r>
          </a:p>
        </p:txBody>
      </p:sp>
      <p:sp>
        <p:nvSpPr>
          <p:cNvPr name="TextBox 29" id="29"/>
          <p:cNvSpPr txBox="true"/>
          <p:nvPr/>
        </p:nvSpPr>
        <p:spPr>
          <a:xfrm rot="0">
            <a:off x="1261410" y="1990725"/>
            <a:ext cx="15212730" cy="1725929"/>
          </a:xfrm>
          <a:prstGeom prst="rect">
            <a:avLst/>
          </a:prstGeom>
        </p:spPr>
        <p:txBody>
          <a:bodyPr anchor="t" rtlCol="false" tIns="0" lIns="0" bIns="0" rIns="0">
            <a:spAutoFit/>
          </a:bodyPr>
          <a:lstStyle/>
          <a:p>
            <a:pPr algn="ctr">
              <a:lnSpc>
                <a:spcPts val="4620"/>
              </a:lnSpc>
            </a:pPr>
            <a:r>
              <a:rPr lang="en-US" sz="3300" b="true">
                <a:solidFill>
                  <a:srgbClr val="FFFFFF"/>
                </a:solidFill>
                <a:latin typeface="Canva Sans Bold"/>
                <a:ea typeface="Canva Sans Bold"/>
                <a:cs typeface="Canva Sans Bold"/>
                <a:sym typeface="Canva Sans Bold"/>
              </a:rPr>
              <a:t>Caching is the process of storing a local copy of </a:t>
            </a:r>
            <a:r>
              <a:rPr lang="en-US" b="true" sz="3300">
                <a:solidFill>
                  <a:srgbClr val="FFFFFF"/>
                </a:solidFill>
                <a:latin typeface="Canva Sans Bold"/>
                <a:ea typeface="Canva Sans Bold"/>
                <a:cs typeface="Canva Sans Bold"/>
                <a:sym typeface="Canva Sans Bold"/>
              </a:rPr>
              <a:t>data that originally came from another source, usually an API, so that it can be accessed faster or when the network is unavailable.</a:t>
            </a:r>
          </a:p>
        </p:txBody>
      </p:sp>
      <p:sp>
        <p:nvSpPr>
          <p:cNvPr name="TextBox 30" id="30"/>
          <p:cNvSpPr txBox="true"/>
          <p:nvPr/>
        </p:nvSpPr>
        <p:spPr>
          <a:xfrm rot="0">
            <a:off x="1261410" y="4240213"/>
            <a:ext cx="7520555" cy="596900"/>
          </a:xfrm>
          <a:prstGeom prst="rect">
            <a:avLst/>
          </a:prstGeom>
        </p:spPr>
        <p:txBody>
          <a:bodyPr anchor="t" rtlCol="false" tIns="0" lIns="0" bIns="0" rIns="0">
            <a:spAutoFit/>
          </a:bodyPr>
          <a:lstStyle/>
          <a:p>
            <a:pPr algn="l">
              <a:lnSpc>
                <a:spcPts val="4900"/>
              </a:lnSpc>
            </a:pPr>
            <a:r>
              <a:rPr lang="en-US" sz="3500" b="true">
                <a:solidFill>
                  <a:srgbClr val="FFFFFF"/>
                </a:solidFill>
                <a:latin typeface="Canva Sans Bold"/>
                <a:ea typeface="Canva Sans Bold"/>
                <a:cs typeface="Canva Sans Bold"/>
                <a:sym typeface="Canva Sans Bold"/>
              </a:rPr>
              <a:t>without caching:</a:t>
            </a:r>
          </a:p>
        </p:txBody>
      </p:sp>
      <p:sp>
        <p:nvSpPr>
          <p:cNvPr name="TextBox 31" id="31"/>
          <p:cNvSpPr txBox="true"/>
          <p:nvPr/>
        </p:nvSpPr>
        <p:spPr>
          <a:xfrm rot="0">
            <a:off x="9516581" y="4260533"/>
            <a:ext cx="7237721" cy="596900"/>
          </a:xfrm>
          <a:prstGeom prst="rect">
            <a:avLst/>
          </a:prstGeom>
        </p:spPr>
        <p:txBody>
          <a:bodyPr anchor="t" rtlCol="false" tIns="0" lIns="0" bIns="0" rIns="0">
            <a:spAutoFit/>
          </a:bodyPr>
          <a:lstStyle/>
          <a:p>
            <a:pPr algn="l">
              <a:lnSpc>
                <a:spcPts val="4900"/>
              </a:lnSpc>
            </a:pPr>
            <a:r>
              <a:rPr lang="en-US" sz="3500" b="true">
                <a:solidFill>
                  <a:srgbClr val="FFFFFF"/>
                </a:solidFill>
                <a:latin typeface="Canva Sans Bold"/>
                <a:ea typeface="Canva Sans Bold"/>
                <a:cs typeface="Canva Sans Bold"/>
                <a:sym typeface="Canva Sans Bold"/>
              </a:rPr>
              <a:t>with caching:</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766849" y="720090"/>
            <a:ext cx="16754302" cy="9315596"/>
            <a:chOff x="0" y="0"/>
            <a:chExt cx="4412656" cy="2453490"/>
          </a:xfrm>
        </p:grpSpPr>
        <p:sp>
          <p:nvSpPr>
            <p:cNvPr name="Freeform 16" id="16"/>
            <p:cNvSpPr/>
            <p:nvPr/>
          </p:nvSpPr>
          <p:spPr>
            <a:xfrm flipH="false" flipV="false" rot="0">
              <a:off x="0" y="0"/>
              <a:ext cx="4412655" cy="2453490"/>
            </a:xfrm>
            <a:custGeom>
              <a:avLst/>
              <a:gdLst/>
              <a:ahLst/>
              <a:cxnLst/>
              <a:rect r="r" b="b" t="t" l="l"/>
              <a:pathLst>
                <a:path h="2453490" w="4412655">
                  <a:moveTo>
                    <a:pt x="23566" y="0"/>
                  </a:moveTo>
                  <a:lnTo>
                    <a:pt x="4389089" y="0"/>
                  </a:lnTo>
                  <a:cubicBezTo>
                    <a:pt x="4395339" y="0"/>
                    <a:pt x="4401334" y="2483"/>
                    <a:pt x="4405753" y="6902"/>
                  </a:cubicBezTo>
                  <a:cubicBezTo>
                    <a:pt x="4410173" y="11322"/>
                    <a:pt x="4412655" y="17316"/>
                    <a:pt x="4412655" y="23566"/>
                  </a:cubicBezTo>
                  <a:lnTo>
                    <a:pt x="4412655" y="2429924"/>
                  </a:lnTo>
                  <a:cubicBezTo>
                    <a:pt x="4412655" y="2436174"/>
                    <a:pt x="4410173" y="2442168"/>
                    <a:pt x="4405753" y="2446588"/>
                  </a:cubicBezTo>
                  <a:cubicBezTo>
                    <a:pt x="4401334" y="2451008"/>
                    <a:pt x="4395339" y="2453490"/>
                    <a:pt x="4389089" y="2453490"/>
                  </a:cubicBezTo>
                  <a:lnTo>
                    <a:pt x="23566" y="2453490"/>
                  </a:lnTo>
                  <a:cubicBezTo>
                    <a:pt x="17316" y="2453490"/>
                    <a:pt x="11322" y="2451008"/>
                    <a:pt x="6902" y="2446588"/>
                  </a:cubicBezTo>
                  <a:cubicBezTo>
                    <a:pt x="2483" y="2442168"/>
                    <a:pt x="0" y="2436174"/>
                    <a:pt x="0" y="2429924"/>
                  </a:cubicBezTo>
                  <a:lnTo>
                    <a:pt x="0" y="23566"/>
                  </a:lnTo>
                  <a:cubicBezTo>
                    <a:pt x="0" y="17316"/>
                    <a:pt x="2483" y="11322"/>
                    <a:pt x="6902" y="6902"/>
                  </a:cubicBezTo>
                  <a:cubicBezTo>
                    <a:pt x="11322" y="2483"/>
                    <a:pt x="17316" y="0"/>
                    <a:pt x="23566"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38100"/>
              <a:ext cx="4412656" cy="2491590"/>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5" id="25"/>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1344513" y="4366043"/>
            <a:ext cx="3581245" cy="5371868"/>
          </a:xfrm>
          <a:custGeom>
            <a:avLst/>
            <a:gdLst/>
            <a:ahLst/>
            <a:cxnLst/>
            <a:rect r="r" b="b" t="t" l="l"/>
            <a:pathLst>
              <a:path h="5371868" w="3581245">
                <a:moveTo>
                  <a:pt x="0" y="0"/>
                </a:moveTo>
                <a:lnTo>
                  <a:pt x="3581245" y="0"/>
                </a:lnTo>
                <a:lnTo>
                  <a:pt x="3581245" y="5371868"/>
                </a:lnTo>
                <a:lnTo>
                  <a:pt x="0" y="5371868"/>
                </a:lnTo>
                <a:lnTo>
                  <a:pt x="0" y="0"/>
                </a:lnTo>
                <a:close/>
              </a:path>
            </a:pathLst>
          </a:custGeom>
          <a:blipFill>
            <a:blip r:embed="rId19"/>
            <a:stretch>
              <a:fillRect l="0" t="0" r="0" b="0"/>
            </a:stretch>
          </a:blipFill>
        </p:spPr>
      </p:sp>
      <p:sp>
        <p:nvSpPr>
          <p:cNvPr name="Freeform 27" id="27"/>
          <p:cNvSpPr/>
          <p:nvPr/>
        </p:nvSpPr>
        <p:spPr>
          <a:xfrm flipH="false" flipV="false" rot="0">
            <a:off x="6494567" y="4390965"/>
            <a:ext cx="3413800" cy="5120700"/>
          </a:xfrm>
          <a:custGeom>
            <a:avLst/>
            <a:gdLst/>
            <a:ahLst/>
            <a:cxnLst/>
            <a:rect r="r" b="b" t="t" l="l"/>
            <a:pathLst>
              <a:path h="5120700" w="3413800">
                <a:moveTo>
                  <a:pt x="0" y="0"/>
                </a:moveTo>
                <a:lnTo>
                  <a:pt x="3413800" y="0"/>
                </a:lnTo>
                <a:lnTo>
                  <a:pt x="3413800" y="5120700"/>
                </a:lnTo>
                <a:lnTo>
                  <a:pt x="0" y="5120700"/>
                </a:lnTo>
                <a:lnTo>
                  <a:pt x="0" y="0"/>
                </a:lnTo>
                <a:close/>
              </a:path>
            </a:pathLst>
          </a:custGeom>
          <a:blipFill>
            <a:blip r:embed="rId20"/>
            <a:stretch>
              <a:fillRect l="0" t="0" r="0" b="0"/>
            </a:stretch>
          </a:blipFill>
        </p:spPr>
      </p:sp>
      <p:sp>
        <p:nvSpPr>
          <p:cNvPr name="Freeform 28" id="28"/>
          <p:cNvSpPr/>
          <p:nvPr/>
        </p:nvSpPr>
        <p:spPr>
          <a:xfrm flipH="false" flipV="false" rot="0">
            <a:off x="11855990" y="4366043"/>
            <a:ext cx="3516420" cy="5274631"/>
          </a:xfrm>
          <a:custGeom>
            <a:avLst/>
            <a:gdLst/>
            <a:ahLst/>
            <a:cxnLst/>
            <a:rect r="r" b="b" t="t" l="l"/>
            <a:pathLst>
              <a:path h="5274631" w="3516420">
                <a:moveTo>
                  <a:pt x="0" y="0"/>
                </a:moveTo>
                <a:lnTo>
                  <a:pt x="3516420" y="0"/>
                </a:lnTo>
                <a:lnTo>
                  <a:pt x="3516420" y="5274630"/>
                </a:lnTo>
                <a:lnTo>
                  <a:pt x="0" y="5274630"/>
                </a:lnTo>
                <a:lnTo>
                  <a:pt x="0" y="0"/>
                </a:lnTo>
                <a:close/>
              </a:path>
            </a:pathLst>
          </a:custGeom>
          <a:blipFill>
            <a:blip r:embed="rId21"/>
            <a:stretch>
              <a:fillRect l="0" t="0" r="0" b="0"/>
            </a:stretch>
          </a:blipFill>
        </p:spPr>
      </p:sp>
      <p:sp>
        <p:nvSpPr>
          <p:cNvPr name="Freeform 29" id="29"/>
          <p:cNvSpPr/>
          <p:nvPr/>
        </p:nvSpPr>
        <p:spPr>
          <a:xfrm flipH="false" flipV="false" rot="0">
            <a:off x="5113991" y="5675301"/>
            <a:ext cx="1267759" cy="1267759"/>
          </a:xfrm>
          <a:custGeom>
            <a:avLst/>
            <a:gdLst/>
            <a:ahLst/>
            <a:cxnLst/>
            <a:rect r="r" b="b" t="t" l="l"/>
            <a:pathLst>
              <a:path h="1267759" w="1267759">
                <a:moveTo>
                  <a:pt x="0" y="0"/>
                </a:moveTo>
                <a:lnTo>
                  <a:pt x="1267759" y="0"/>
                </a:lnTo>
                <a:lnTo>
                  <a:pt x="1267759" y="1267759"/>
                </a:lnTo>
                <a:lnTo>
                  <a:pt x="0" y="1267759"/>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30" id="30"/>
          <p:cNvSpPr/>
          <p:nvPr/>
        </p:nvSpPr>
        <p:spPr>
          <a:xfrm flipH="false" flipV="false" rot="0">
            <a:off x="10312940" y="5842019"/>
            <a:ext cx="1277011" cy="861983"/>
          </a:xfrm>
          <a:custGeom>
            <a:avLst/>
            <a:gdLst/>
            <a:ahLst/>
            <a:cxnLst/>
            <a:rect r="r" b="b" t="t" l="l"/>
            <a:pathLst>
              <a:path h="861983" w="1277011">
                <a:moveTo>
                  <a:pt x="0" y="0"/>
                </a:moveTo>
                <a:lnTo>
                  <a:pt x="1277011" y="0"/>
                </a:lnTo>
                <a:lnTo>
                  <a:pt x="1277011" y="861982"/>
                </a:lnTo>
                <a:lnTo>
                  <a:pt x="0" y="861982"/>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TextBox 31" id="31"/>
          <p:cNvSpPr txBox="true"/>
          <p:nvPr/>
        </p:nvSpPr>
        <p:spPr>
          <a:xfrm rot="0">
            <a:off x="3135135" y="2381250"/>
            <a:ext cx="12327536" cy="1123950"/>
          </a:xfrm>
          <a:prstGeom prst="rect">
            <a:avLst/>
          </a:prstGeom>
        </p:spPr>
        <p:txBody>
          <a:bodyPr anchor="t" rtlCol="false" tIns="0" lIns="0" bIns="0" rIns="0">
            <a:spAutoFit/>
          </a:bodyPr>
          <a:lstStyle/>
          <a:p>
            <a:pPr algn="l" marL="0" indent="0" lvl="0">
              <a:lnSpc>
                <a:spcPts val="4500"/>
              </a:lnSpc>
              <a:spcBef>
                <a:spcPct val="0"/>
              </a:spcBef>
            </a:pPr>
            <a:r>
              <a:rPr lang="en-US" sz="3000">
                <a:solidFill>
                  <a:srgbClr val="FFFFFF"/>
                </a:solidFill>
                <a:latin typeface="Pixelated"/>
                <a:ea typeface="Pixelated"/>
                <a:cs typeface="Pixelated"/>
                <a:sym typeface="Pixelated"/>
              </a:rPr>
              <a:t>An offline-first application is designed so that core functionality can continue even when network connectivity is unavailable or unreliable.</a:t>
            </a:r>
          </a:p>
        </p:txBody>
      </p:sp>
      <p:sp>
        <p:nvSpPr>
          <p:cNvPr name="TextBox 32" id="32"/>
          <p:cNvSpPr txBox="true"/>
          <p:nvPr/>
        </p:nvSpPr>
        <p:spPr>
          <a:xfrm rot="0">
            <a:off x="1896549" y="1123950"/>
            <a:ext cx="14084886" cy="1238250"/>
          </a:xfrm>
          <a:prstGeom prst="rect">
            <a:avLst/>
          </a:prstGeom>
        </p:spPr>
        <p:txBody>
          <a:bodyPr anchor="t" rtlCol="false" tIns="0" lIns="0" bIns="0" rIns="0">
            <a:spAutoFit/>
          </a:bodyPr>
          <a:lstStyle/>
          <a:p>
            <a:pPr algn="ctr" marL="0" indent="0" lvl="0">
              <a:lnSpc>
                <a:spcPts val="9600"/>
              </a:lnSpc>
              <a:spcBef>
                <a:spcPct val="0"/>
              </a:spcBef>
            </a:pPr>
            <a:r>
              <a:rPr lang="en-US" sz="8000">
                <a:solidFill>
                  <a:srgbClr val="FFFFFF"/>
                </a:solidFill>
                <a:latin typeface="VT323"/>
                <a:ea typeface="VT323"/>
                <a:cs typeface="VT323"/>
                <a:sym typeface="VT323"/>
              </a:rPr>
              <a:t>OFFLINE-FIRST APLLICATIONS</a:t>
            </a:r>
          </a:p>
        </p:txBody>
      </p:sp>
      <p:sp>
        <p:nvSpPr>
          <p:cNvPr name="TextBox 33" id="33"/>
          <p:cNvSpPr txBox="true"/>
          <p:nvPr/>
        </p:nvSpPr>
        <p:spPr>
          <a:xfrm rot="0">
            <a:off x="2065219" y="3444449"/>
            <a:ext cx="1809512"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READ</a:t>
            </a:r>
          </a:p>
        </p:txBody>
      </p:sp>
      <p:sp>
        <p:nvSpPr>
          <p:cNvPr name="TextBox 34" id="34"/>
          <p:cNvSpPr txBox="true"/>
          <p:nvPr/>
        </p:nvSpPr>
        <p:spPr>
          <a:xfrm rot="0">
            <a:off x="6805701" y="3456910"/>
            <a:ext cx="2338299" cy="887095"/>
          </a:xfrm>
          <a:prstGeom prst="rect">
            <a:avLst/>
          </a:prstGeom>
        </p:spPr>
        <p:txBody>
          <a:bodyPr anchor="t" rtlCol="false" tIns="0" lIns="0" bIns="0" rIns="0">
            <a:spAutoFit/>
          </a:bodyPr>
          <a:lstStyle/>
          <a:p>
            <a:pPr algn="ctr">
              <a:lnSpc>
                <a:spcPts val="7279"/>
              </a:lnSpc>
            </a:pPr>
            <a:r>
              <a:rPr lang="en-US" b="true" sz="5199">
                <a:solidFill>
                  <a:srgbClr val="FCFCFC"/>
                </a:solidFill>
                <a:latin typeface="Canva Sans Bold"/>
                <a:ea typeface="Canva Sans Bold"/>
                <a:cs typeface="Canva Sans Bold"/>
                <a:sym typeface="Canva Sans Bold"/>
              </a:rPr>
              <a:t>WRITE</a:t>
            </a:r>
          </a:p>
        </p:txBody>
      </p:sp>
      <p:sp>
        <p:nvSpPr>
          <p:cNvPr name="TextBox 35" id="35"/>
          <p:cNvSpPr txBox="true"/>
          <p:nvPr/>
        </p:nvSpPr>
        <p:spPr>
          <a:xfrm rot="0">
            <a:off x="10455362" y="3409950"/>
            <a:ext cx="6018779" cy="887095"/>
          </a:xfrm>
          <a:prstGeom prst="rect">
            <a:avLst/>
          </a:prstGeom>
        </p:spPr>
        <p:txBody>
          <a:bodyPr anchor="t" rtlCol="false" tIns="0" lIns="0" bIns="0" rIns="0">
            <a:spAutoFit/>
          </a:bodyPr>
          <a:lstStyle/>
          <a:p>
            <a:pPr algn="ctr">
              <a:lnSpc>
                <a:spcPts val="7279"/>
              </a:lnSpc>
            </a:pPr>
            <a:r>
              <a:rPr lang="en-US" sz="5199" b="true">
                <a:solidFill>
                  <a:srgbClr val="FCFCFC"/>
                </a:solidFill>
                <a:latin typeface="Canva Sans Bold"/>
                <a:ea typeface="Canva Sans Bold"/>
                <a:cs typeface="Canva Sans Bold"/>
                <a:sym typeface="Canva Sans Bold"/>
              </a:rPr>
              <a:t>SYNCHRONIZE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3447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766849" y="568705"/>
            <a:ext cx="16754302" cy="9271245"/>
            <a:chOff x="0" y="0"/>
            <a:chExt cx="4412656" cy="2441809"/>
          </a:xfrm>
        </p:grpSpPr>
        <p:sp>
          <p:nvSpPr>
            <p:cNvPr name="Freeform 16" id="16"/>
            <p:cNvSpPr/>
            <p:nvPr/>
          </p:nvSpPr>
          <p:spPr>
            <a:xfrm flipH="false" flipV="false" rot="0">
              <a:off x="0" y="0"/>
              <a:ext cx="4412655" cy="2441809"/>
            </a:xfrm>
            <a:custGeom>
              <a:avLst/>
              <a:gdLst/>
              <a:ahLst/>
              <a:cxnLst/>
              <a:rect r="r" b="b" t="t" l="l"/>
              <a:pathLst>
                <a:path h="2441809" w="4412655">
                  <a:moveTo>
                    <a:pt x="23566" y="0"/>
                  </a:moveTo>
                  <a:lnTo>
                    <a:pt x="4389089" y="0"/>
                  </a:lnTo>
                  <a:cubicBezTo>
                    <a:pt x="4395339" y="0"/>
                    <a:pt x="4401334" y="2483"/>
                    <a:pt x="4405753" y="6902"/>
                  </a:cubicBezTo>
                  <a:cubicBezTo>
                    <a:pt x="4410173" y="11322"/>
                    <a:pt x="4412655" y="17316"/>
                    <a:pt x="4412655" y="23566"/>
                  </a:cubicBezTo>
                  <a:lnTo>
                    <a:pt x="4412655" y="2418243"/>
                  </a:lnTo>
                  <a:cubicBezTo>
                    <a:pt x="4412655" y="2424493"/>
                    <a:pt x="4410173" y="2430487"/>
                    <a:pt x="4405753" y="2434907"/>
                  </a:cubicBezTo>
                  <a:cubicBezTo>
                    <a:pt x="4401334" y="2439327"/>
                    <a:pt x="4395339" y="2441809"/>
                    <a:pt x="4389089" y="2441809"/>
                  </a:cubicBezTo>
                  <a:lnTo>
                    <a:pt x="23566" y="2441809"/>
                  </a:lnTo>
                  <a:cubicBezTo>
                    <a:pt x="17316" y="2441809"/>
                    <a:pt x="11322" y="2439327"/>
                    <a:pt x="6902" y="2434907"/>
                  </a:cubicBezTo>
                  <a:cubicBezTo>
                    <a:pt x="2483" y="2430487"/>
                    <a:pt x="0" y="2424493"/>
                    <a:pt x="0" y="2418243"/>
                  </a:cubicBezTo>
                  <a:lnTo>
                    <a:pt x="0" y="23566"/>
                  </a:lnTo>
                  <a:cubicBezTo>
                    <a:pt x="0" y="17316"/>
                    <a:pt x="2483" y="11322"/>
                    <a:pt x="6902" y="6902"/>
                  </a:cubicBezTo>
                  <a:cubicBezTo>
                    <a:pt x="11322" y="2483"/>
                    <a:pt x="17316" y="0"/>
                    <a:pt x="23566" y="0"/>
                  </a:cubicBezTo>
                  <a:close/>
                </a:path>
              </a:pathLst>
            </a:custGeom>
            <a:solidFill>
              <a:srgbClr val="5B3FC4">
                <a:alpha val="84706"/>
              </a:srgbClr>
            </a:solidFill>
            <a:ln w="76200" cap="rnd">
              <a:solidFill>
                <a:srgbClr val="000000">
                  <a:alpha val="84706"/>
                </a:srgbClr>
              </a:solidFill>
              <a:prstDash val="solid"/>
              <a:round/>
            </a:ln>
          </p:spPr>
        </p:sp>
        <p:sp>
          <p:nvSpPr>
            <p:cNvPr name="TextBox 17" id="17"/>
            <p:cNvSpPr txBox="true"/>
            <p:nvPr/>
          </p:nvSpPr>
          <p:spPr>
            <a:xfrm>
              <a:off x="0" y="-47625"/>
              <a:ext cx="4412656" cy="2489434"/>
            </a:xfrm>
            <a:prstGeom prst="rect">
              <a:avLst/>
            </a:prstGeom>
          </p:spPr>
          <p:txBody>
            <a:bodyPr anchor="ctr" rtlCol="false" tIns="50800" lIns="50800" bIns="50800" rIns="50800"/>
            <a:lstStyle/>
            <a:p>
              <a:pPr algn="ctr">
                <a:lnSpc>
                  <a:spcPts val="3499"/>
                </a:lnSpc>
                <a:spcBef>
                  <a:spcPct val="0"/>
                </a:spcBef>
              </a:pPr>
            </a:p>
          </p:txBody>
        </p:sp>
      </p:grpSp>
      <p:sp>
        <p:nvSpPr>
          <p:cNvPr name="Freeform 18" id="18"/>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1" id="21"/>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6"/>
            <a:stretch>
              <a:fillRect l="0" t="0" r="0" b="0"/>
            </a:stretch>
          </a:blipFill>
        </p:spPr>
      </p:sp>
      <p:sp>
        <p:nvSpPr>
          <p:cNvPr name="Freeform 22" id="22"/>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6"/>
            <a:stretch>
              <a:fillRect l="0" t="0" r="0" b="0"/>
            </a:stretch>
          </a:blipFill>
        </p:spPr>
      </p:sp>
      <p:sp>
        <p:nvSpPr>
          <p:cNvPr name="Freeform 23" id="23"/>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5" id="25"/>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5050025" y="1198215"/>
            <a:ext cx="7759060" cy="7890570"/>
          </a:xfrm>
          <a:custGeom>
            <a:avLst/>
            <a:gdLst/>
            <a:ahLst/>
            <a:cxnLst/>
            <a:rect r="r" b="b" t="t" l="l"/>
            <a:pathLst>
              <a:path h="7890570" w="7759060">
                <a:moveTo>
                  <a:pt x="0" y="0"/>
                </a:moveTo>
                <a:lnTo>
                  <a:pt x="7759060" y="0"/>
                </a:lnTo>
                <a:lnTo>
                  <a:pt x="7759060" y="7890570"/>
                </a:lnTo>
                <a:lnTo>
                  <a:pt x="0" y="7890570"/>
                </a:lnTo>
                <a:lnTo>
                  <a:pt x="0" y="0"/>
                </a:lnTo>
                <a:close/>
              </a:path>
            </a:pathLst>
          </a:custGeom>
          <a:blipFill>
            <a:blip r:embed="rId19"/>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3447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59"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7" id="7"/>
          <p:cNvSpPr/>
          <p:nvPr/>
        </p:nvSpPr>
        <p:spPr>
          <a:xfrm flipH="false" flipV="false" rot="0">
            <a:off x="13716000"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8" id="8"/>
          <p:cNvSpPr/>
          <p:nvPr/>
        </p:nvSpPr>
        <p:spPr>
          <a:xfrm flipH="false" flipV="false" rot="0">
            <a:off x="15606293" y="4526280"/>
            <a:ext cx="1735693" cy="4114800"/>
          </a:xfrm>
          <a:custGeom>
            <a:avLst/>
            <a:gdLst/>
            <a:ahLst/>
            <a:cxnLst/>
            <a:rect r="r" b="b" t="t" l="l"/>
            <a:pathLst>
              <a:path h="4114800" w="1735693">
                <a:moveTo>
                  <a:pt x="0" y="0"/>
                </a:moveTo>
                <a:lnTo>
                  <a:pt x="1735694" y="0"/>
                </a:lnTo>
                <a:lnTo>
                  <a:pt x="173569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9" id="9"/>
          <p:cNvSpPr/>
          <p:nvPr/>
        </p:nvSpPr>
        <p:spPr>
          <a:xfrm flipH="false" flipV="false" rot="0">
            <a:off x="11275390"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0" id="10"/>
          <p:cNvSpPr/>
          <p:nvPr/>
        </p:nvSpPr>
        <p:spPr>
          <a:xfrm flipH="false" flipV="false" rot="0">
            <a:off x="5637695"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1" id="11"/>
          <p:cNvSpPr/>
          <p:nvPr/>
        </p:nvSpPr>
        <p:spPr>
          <a:xfrm flipH="false" flipV="false" rot="0">
            <a:off x="1028700" y="4526280"/>
            <a:ext cx="1735693" cy="4114800"/>
          </a:xfrm>
          <a:custGeom>
            <a:avLst/>
            <a:gdLst/>
            <a:ahLst/>
            <a:cxnLst/>
            <a:rect r="r" b="b" t="t" l="l"/>
            <a:pathLst>
              <a:path h="4114800" w="1735693">
                <a:moveTo>
                  <a:pt x="0" y="0"/>
                </a:moveTo>
                <a:lnTo>
                  <a:pt x="1735693" y="0"/>
                </a:lnTo>
                <a:lnTo>
                  <a:pt x="173569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12" id="12"/>
          <p:cNvSpPr/>
          <p:nvPr/>
        </p:nvSpPr>
        <p:spPr>
          <a:xfrm flipH="false" flipV="false" rot="0">
            <a:off x="5477789" y="7654261"/>
            <a:ext cx="958044" cy="958044"/>
          </a:xfrm>
          <a:custGeom>
            <a:avLst/>
            <a:gdLst/>
            <a:ahLst/>
            <a:cxnLst/>
            <a:rect r="r" b="b" t="t" l="l"/>
            <a:pathLst>
              <a:path h="958044" w="958044">
                <a:moveTo>
                  <a:pt x="0" y="0"/>
                </a:moveTo>
                <a:lnTo>
                  <a:pt x="958044" y="0"/>
                </a:lnTo>
                <a:lnTo>
                  <a:pt x="958044"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5" y="7654261"/>
            <a:ext cx="958044" cy="958044"/>
          </a:xfrm>
          <a:custGeom>
            <a:avLst/>
            <a:gdLst/>
            <a:ahLst/>
            <a:cxnLst/>
            <a:rect r="r" b="b" t="t" l="l"/>
            <a:pathLst>
              <a:path h="958044" w="958044">
                <a:moveTo>
                  <a:pt x="0" y="0"/>
                </a:moveTo>
                <a:lnTo>
                  <a:pt x="958043" y="0"/>
                </a:lnTo>
                <a:lnTo>
                  <a:pt x="958043"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3" y="4795695"/>
            <a:ext cx="1956883" cy="3816610"/>
          </a:xfrm>
          <a:custGeom>
            <a:avLst/>
            <a:gdLst/>
            <a:ahLst/>
            <a:cxnLst/>
            <a:rect r="r" b="b" t="t" l="l"/>
            <a:pathLst>
              <a:path h="3816610" w="1956883">
                <a:moveTo>
                  <a:pt x="0" y="0"/>
                </a:moveTo>
                <a:lnTo>
                  <a:pt x="1956883" y="0"/>
                </a:lnTo>
                <a:lnTo>
                  <a:pt x="1956883" y="3816610"/>
                </a:lnTo>
                <a:lnTo>
                  <a:pt x="0" y="3816610"/>
                </a:lnTo>
                <a:lnTo>
                  <a:pt x="0" y="0"/>
                </a:lnTo>
                <a:close/>
              </a:path>
            </a:pathLst>
          </a:custGeom>
          <a:blipFill>
            <a:blip r:embed="rId14">
              <a:extLst>
                <a:ext uri="{96DAC541-7B7A-43D3-8B79-37D633B846F1}">
                  <asvg:svgBlip xmlns:asvg="http://schemas.microsoft.com/office/drawing/2016/SVG/main" r:embed="rId15"/>
                </a:ext>
              </a:extLst>
            </a:blip>
            <a:stretch>
              <a:fillRect l="-96" t="0" r="-96" b="0"/>
            </a:stretch>
          </a:blipFill>
        </p:spPr>
      </p:sp>
      <p:sp>
        <p:nvSpPr>
          <p:cNvPr name="Freeform 15" id="15"/>
          <p:cNvSpPr/>
          <p:nvPr/>
        </p:nvSpPr>
        <p:spPr>
          <a:xfrm flipH="false" flipV="false" rot="0">
            <a:off x="468577" y="599947"/>
            <a:ext cx="17645435" cy="9087106"/>
          </a:xfrm>
          <a:custGeom>
            <a:avLst/>
            <a:gdLst/>
            <a:ahLst/>
            <a:cxnLst/>
            <a:rect r="r" b="b" t="t" l="l"/>
            <a:pathLst>
              <a:path h="9087106" w="17645435">
                <a:moveTo>
                  <a:pt x="0" y="0"/>
                </a:moveTo>
                <a:lnTo>
                  <a:pt x="17645435" y="0"/>
                </a:lnTo>
                <a:lnTo>
                  <a:pt x="17645435" y="9087106"/>
                </a:lnTo>
                <a:lnTo>
                  <a:pt x="0" y="908710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0"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7" id="17"/>
          <p:cNvSpPr/>
          <p:nvPr/>
        </p:nvSpPr>
        <p:spPr>
          <a:xfrm flipH="false" flipV="false" rot="0">
            <a:off x="16754304"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grpSp>
        <p:nvGrpSpPr>
          <p:cNvPr name="Group 18" id="18"/>
          <p:cNvGrpSpPr/>
          <p:nvPr/>
        </p:nvGrpSpPr>
        <p:grpSpPr>
          <a:xfrm rot="0">
            <a:off x="1896551" y="411480"/>
            <a:ext cx="715613" cy="617220"/>
            <a:chOff x="0" y="0"/>
            <a:chExt cx="954151" cy="822960"/>
          </a:xfrm>
        </p:grpSpPr>
        <p:sp>
          <p:nvSpPr>
            <p:cNvPr name="Freeform 19" id="19"/>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0" id="20"/>
          <p:cNvGrpSpPr/>
          <p:nvPr/>
        </p:nvGrpSpPr>
        <p:grpSpPr>
          <a:xfrm rot="0">
            <a:off x="2612165" y="411480"/>
            <a:ext cx="715613" cy="617220"/>
            <a:chOff x="0" y="0"/>
            <a:chExt cx="954151" cy="822960"/>
          </a:xfrm>
        </p:grpSpPr>
        <p:sp>
          <p:nvSpPr>
            <p:cNvPr name="Freeform 21" id="21"/>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2" id="22"/>
          <p:cNvGrpSpPr/>
          <p:nvPr/>
        </p:nvGrpSpPr>
        <p:grpSpPr>
          <a:xfrm rot="0">
            <a:off x="3327787" y="411480"/>
            <a:ext cx="715613" cy="617220"/>
            <a:chOff x="0" y="0"/>
            <a:chExt cx="954151" cy="822960"/>
          </a:xfrm>
        </p:grpSpPr>
        <p:sp>
          <p:nvSpPr>
            <p:cNvPr name="Freeform 23" id="23"/>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sp>
        <p:nvSpPr>
          <p:cNvPr name="Freeform 24" id="24"/>
          <p:cNvSpPr/>
          <p:nvPr/>
        </p:nvSpPr>
        <p:spPr>
          <a:xfrm flipH="false" flipV="false" rot="0">
            <a:off x="13975671" y="411480"/>
            <a:ext cx="729758" cy="729758"/>
          </a:xfrm>
          <a:custGeom>
            <a:avLst/>
            <a:gdLst/>
            <a:ahLst/>
            <a:cxnLst/>
            <a:rect r="r" b="b" t="t" l="l"/>
            <a:pathLst>
              <a:path h="729758" w="729758">
                <a:moveTo>
                  <a:pt x="0" y="0"/>
                </a:moveTo>
                <a:lnTo>
                  <a:pt x="729757" y="0"/>
                </a:lnTo>
                <a:lnTo>
                  <a:pt x="729757"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5" id="25"/>
          <p:cNvSpPr/>
          <p:nvPr/>
        </p:nvSpPr>
        <p:spPr>
          <a:xfrm flipH="false" flipV="false" rot="0">
            <a:off x="14863515"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6" id="26"/>
          <p:cNvSpPr/>
          <p:nvPr/>
        </p:nvSpPr>
        <p:spPr>
          <a:xfrm flipH="false" flipV="false" rot="0">
            <a:off x="15751359"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7" id="27"/>
          <p:cNvSpPr txBox="true"/>
          <p:nvPr/>
        </p:nvSpPr>
        <p:spPr>
          <a:xfrm rot="0">
            <a:off x="2031349" y="1743075"/>
            <a:ext cx="14084884" cy="1257300"/>
          </a:xfrm>
          <a:prstGeom prst="rect">
            <a:avLst/>
          </a:prstGeom>
        </p:spPr>
        <p:txBody>
          <a:bodyPr anchor="t" rtlCol="false" tIns="0" lIns="0" bIns="0" rIns="0">
            <a:spAutoFit/>
          </a:bodyPr>
          <a:lstStyle/>
          <a:p>
            <a:pPr algn="ctr">
              <a:lnSpc>
                <a:spcPts val="9600"/>
              </a:lnSpc>
            </a:pPr>
            <a:r>
              <a:rPr lang="en-US" sz="8000">
                <a:solidFill>
                  <a:srgbClr val="FFFFFF"/>
                </a:solidFill>
                <a:latin typeface="VT323"/>
                <a:ea typeface="VT323"/>
                <a:cs typeface="VT323"/>
                <a:sym typeface="VT323"/>
              </a:rPr>
              <a:t>APPLICATION LIFECYCLE</a:t>
            </a:r>
          </a:p>
        </p:txBody>
      </p:sp>
      <p:sp>
        <p:nvSpPr>
          <p:cNvPr name="Freeform 28" id="28"/>
          <p:cNvSpPr/>
          <p:nvPr/>
        </p:nvSpPr>
        <p:spPr>
          <a:xfrm flipH="false" flipV="false" rot="0">
            <a:off x="15462675" y="2057400"/>
            <a:ext cx="653567" cy="609600"/>
          </a:xfrm>
          <a:custGeom>
            <a:avLst/>
            <a:gdLst/>
            <a:ahLst/>
            <a:cxnLst/>
            <a:rect r="r" b="b" t="t" l="l"/>
            <a:pathLst>
              <a:path h="609600" w="653567">
                <a:moveTo>
                  <a:pt x="0" y="0"/>
                </a:moveTo>
                <a:lnTo>
                  <a:pt x="653568" y="0"/>
                </a:lnTo>
                <a:lnTo>
                  <a:pt x="653568" y="609600"/>
                </a:lnTo>
                <a:lnTo>
                  <a:pt x="0" y="609600"/>
                </a:lnTo>
                <a:lnTo>
                  <a:pt x="0" y="0"/>
                </a:lnTo>
                <a:close/>
              </a:path>
            </a:pathLst>
          </a:custGeom>
          <a:blipFill>
            <a:blip r:embed="rId21">
              <a:extLst>
                <a:ext uri="{96DAC541-7B7A-43D3-8B79-37D633B846F1}">
                  <asvg:svgBlip xmlns:asvg="http://schemas.microsoft.com/office/drawing/2016/SVG/main" r:embed="rId22"/>
                </a:ext>
              </a:extLst>
            </a:blip>
            <a:stretch>
              <a:fillRect l="0" t="-498" r="0" b="-498"/>
            </a:stretch>
          </a:blipFill>
        </p:spPr>
      </p:sp>
      <p:sp>
        <p:nvSpPr>
          <p:cNvPr name="Freeform 29" id="29"/>
          <p:cNvSpPr/>
          <p:nvPr/>
        </p:nvSpPr>
        <p:spPr>
          <a:xfrm flipH="false" flipV="false" rot="0">
            <a:off x="2606040" y="5367528"/>
            <a:ext cx="342900" cy="571500"/>
          </a:xfrm>
          <a:custGeom>
            <a:avLst/>
            <a:gdLst/>
            <a:ahLst/>
            <a:cxnLst/>
            <a:rect r="r" b="b" t="t" l="l"/>
            <a:pathLst>
              <a:path h="571500" w="342900">
                <a:moveTo>
                  <a:pt x="0" y="0"/>
                </a:moveTo>
                <a:lnTo>
                  <a:pt x="342900" y="0"/>
                </a:lnTo>
                <a:lnTo>
                  <a:pt x="342900" y="571500"/>
                </a:lnTo>
                <a:lnTo>
                  <a:pt x="0" y="57150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30" id="30"/>
          <p:cNvSpPr/>
          <p:nvPr/>
        </p:nvSpPr>
        <p:spPr>
          <a:xfrm flipH="false" flipV="false" rot="0">
            <a:off x="2606040" y="6601968"/>
            <a:ext cx="456905" cy="571129"/>
          </a:xfrm>
          <a:custGeom>
            <a:avLst/>
            <a:gdLst/>
            <a:ahLst/>
            <a:cxnLst/>
            <a:rect r="r" b="b" t="t" l="l"/>
            <a:pathLst>
              <a:path h="571129" w="456905">
                <a:moveTo>
                  <a:pt x="0" y="0"/>
                </a:moveTo>
                <a:lnTo>
                  <a:pt x="456905" y="0"/>
                </a:lnTo>
                <a:lnTo>
                  <a:pt x="456905" y="571129"/>
                </a:lnTo>
                <a:lnTo>
                  <a:pt x="0" y="571129"/>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31" id="31"/>
          <p:cNvSpPr/>
          <p:nvPr/>
        </p:nvSpPr>
        <p:spPr>
          <a:xfrm flipH="false" flipV="false" rot="0">
            <a:off x="2606040" y="7836408"/>
            <a:ext cx="452037" cy="565052"/>
          </a:xfrm>
          <a:custGeom>
            <a:avLst/>
            <a:gdLst/>
            <a:ahLst/>
            <a:cxnLst/>
            <a:rect r="r" b="b" t="t" l="l"/>
            <a:pathLst>
              <a:path h="565052" w="452037">
                <a:moveTo>
                  <a:pt x="0" y="0"/>
                </a:moveTo>
                <a:lnTo>
                  <a:pt x="452037" y="0"/>
                </a:lnTo>
                <a:lnTo>
                  <a:pt x="452037" y="565052"/>
                </a:lnTo>
                <a:lnTo>
                  <a:pt x="0" y="565052"/>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TextBox 32" id="32"/>
          <p:cNvSpPr txBox="true"/>
          <p:nvPr/>
        </p:nvSpPr>
        <p:spPr>
          <a:xfrm rot="0">
            <a:off x="2103120" y="2840355"/>
            <a:ext cx="13990320" cy="1274445"/>
          </a:xfrm>
          <a:prstGeom prst="rect">
            <a:avLst/>
          </a:prstGeom>
        </p:spPr>
        <p:txBody>
          <a:bodyPr anchor="t" rtlCol="false" tIns="0" lIns="0" bIns="0" rIns="0">
            <a:spAutoFit/>
          </a:bodyPr>
          <a:lstStyle/>
          <a:p>
            <a:pPr algn="ctr">
              <a:lnSpc>
                <a:spcPts val="3900"/>
              </a:lnSpc>
            </a:pPr>
            <a:r>
              <a:rPr lang="en-US" sz="2600">
                <a:solidFill>
                  <a:srgbClr val="FFFFFF"/>
                </a:solidFill>
                <a:latin typeface="Pixelated"/>
                <a:ea typeface="Pixelated"/>
                <a:cs typeface="Pixelated"/>
                <a:sym typeface="Pixelated"/>
              </a:rPr>
              <a:t>The application lifecycle describes the different states of an app while the user opens, uses, leaves, and returns to it.</a:t>
            </a:r>
          </a:p>
        </p:txBody>
      </p:sp>
      <p:grpSp>
        <p:nvGrpSpPr>
          <p:cNvPr name="Group 33" id="33"/>
          <p:cNvGrpSpPr/>
          <p:nvPr/>
        </p:nvGrpSpPr>
        <p:grpSpPr>
          <a:xfrm rot="0">
            <a:off x="2194560" y="4343400"/>
            <a:ext cx="7772400" cy="731520"/>
            <a:chOff x="0" y="0"/>
            <a:chExt cx="10363200" cy="975360"/>
          </a:xfrm>
        </p:grpSpPr>
        <p:sp>
          <p:nvSpPr>
            <p:cNvPr name="Freeform 34" id="34"/>
            <p:cNvSpPr/>
            <p:nvPr/>
          </p:nvSpPr>
          <p:spPr>
            <a:xfrm flipH="false" flipV="false" rot="0">
              <a:off x="0" y="0"/>
              <a:ext cx="10363200" cy="975360"/>
            </a:xfrm>
            <a:custGeom>
              <a:avLst/>
              <a:gdLst/>
              <a:ahLst/>
              <a:cxnLst/>
              <a:rect r="r" b="b" t="t" l="l"/>
              <a:pathLst>
                <a:path h="975360" w="10363200">
                  <a:moveTo>
                    <a:pt x="0" y="0"/>
                  </a:moveTo>
                  <a:lnTo>
                    <a:pt x="10363200" y="0"/>
                  </a:lnTo>
                  <a:lnTo>
                    <a:pt x="10363200" y="975360"/>
                  </a:lnTo>
                  <a:lnTo>
                    <a:pt x="0" y="975360"/>
                  </a:lnTo>
                  <a:close/>
                </a:path>
              </a:pathLst>
            </a:custGeom>
            <a:blipFill>
              <a:blip r:embed="rId29">
                <a:alphaModFix amt="0"/>
              </a:blip>
              <a:stretch>
                <a:fillRect l="0" t="-157028" r="0" b="-157028"/>
              </a:stretch>
            </a:blipFill>
          </p:spPr>
        </p:sp>
        <p:sp>
          <p:nvSpPr>
            <p:cNvPr name="TextBox 35" id="35"/>
            <p:cNvSpPr txBox="true"/>
            <p:nvPr/>
          </p:nvSpPr>
          <p:spPr>
            <a:xfrm>
              <a:off x="0" y="-9525"/>
              <a:ext cx="10363200" cy="984885"/>
            </a:xfrm>
            <a:prstGeom prst="rect">
              <a:avLst/>
            </a:prstGeom>
          </p:spPr>
          <p:txBody>
            <a:bodyPr anchor="ctr" rtlCol="false" tIns="0" lIns="0" bIns="0" rIns="0"/>
            <a:lstStyle/>
            <a:p>
              <a:pPr algn="ctr">
                <a:lnSpc>
                  <a:spcPts val="4799"/>
                </a:lnSpc>
              </a:pPr>
              <a:r>
                <a:rPr lang="en-US" sz="3999">
                  <a:solidFill>
                    <a:srgbClr val="FFFFFF"/>
                  </a:solidFill>
                  <a:latin typeface="VT323"/>
                  <a:ea typeface="VT323"/>
                  <a:cs typeface="VT323"/>
                  <a:sym typeface="VT323"/>
                </a:rPr>
                <a:t>MAIN STATES</a:t>
              </a:r>
            </a:p>
          </p:txBody>
        </p:sp>
      </p:grpSp>
      <p:sp>
        <p:nvSpPr>
          <p:cNvPr name="TextBox 36" id="36"/>
          <p:cNvSpPr txBox="true"/>
          <p:nvPr/>
        </p:nvSpPr>
        <p:spPr>
          <a:xfrm rot="0">
            <a:off x="3566160" y="5263515"/>
            <a:ext cx="6583680" cy="1183005"/>
          </a:xfrm>
          <a:prstGeom prst="rect">
            <a:avLst/>
          </a:prstGeom>
        </p:spPr>
        <p:txBody>
          <a:bodyPr anchor="t" rtlCol="false" tIns="0" lIns="0" bIns="0" rIns="0">
            <a:spAutoFit/>
          </a:bodyPr>
          <a:lstStyle/>
          <a:p>
            <a:pPr algn="l">
              <a:lnSpc>
                <a:spcPts val="3600"/>
              </a:lnSpc>
            </a:pPr>
            <a:r>
              <a:rPr lang="en-US" sz="2400">
                <a:solidFill>
                  <a:srgbClr val="FFFFFF"/>
                </a:solidFill>
                <a:latin typeface="Pixelated"/>
                <a:ea typeface="Pixelated"/>
                <a:cs typeface="Pixelated"/>
                <a:sym typeface="Pixelated"/>
              </a:rPr>
              <a:t>Resumed</a:t>
            </a:r>
          </a:p>
          <a:p>
            <a:pPr algn="l">
              <a:lnSpc>
                <a:spcPts val="3299"/>
              </a:lnSpc>
            </a:pPr>
            <a:r>
              <a:rPr lang="en-US" sz="2199">
                <a:solidFill>
                  <a:srgbClr val="FFFFFF"/>
                </a:solidFill>
                <a:latin typeface="Pixelated"/>
                <a:ea typeface="Pixelated"/>
                <a:cs typeface="Pixelated"/>
                <a:sym typeface="Pixelated"/>
              </a:rPr>
              <a:t>→ App is visible and the user can interact with it.</a:t>
            </a:r>
          </a:p>
        </p:txBody>
      </p:sp>
      <p:sp>
        <p:nvSpPr>
          <p:cNvPr name="TextBox 37" id="37"/>
          <p:cNvSpPr txBox="true"/>
          <p:nvPr/>
        </p:nvSpPr>
        <p:spPr>
          <a:xfrm rot="0">
            <a:off x="3566160" y="6497955"/>
            <a:ext cx="6583680" cy="1183005"/>
          </a:xfrm>
          <a:prstGeom prst="rect">
            <a:avLst/>
          </a:prstGeom>
        </p:spPr>
        <p:txBody>
          <a:bodyPr anchor="t" rtlCol="false" tIns="0" lIns="0" bIns="0" rIns="0">
            <a:spAutoFit/>
          </a:bodyPr>
          <a:lstStyle/>
          <a:p>
            <a:pPr algn="l">
              <a:lnSpc>
                <a:spcPts val="3600"/>
              </a:lnSpc>
            </a:pPr>
            <a:r>
              <a:rPr lang="en-US" sz="2400">
                <a:solidFill>
                  <a:srgbClr val="FFFFFF"/>
                </a:solidFill>
                <a:latin typeface="Pixelated"/>
                <a:ea typeface="Pixelated"/>
                <a:cs typeface="Pixelated"/>
                <a:sym typeface="Pixelated"/>
              </a:rPr>
              <a:t>Inactive</a:t>
            </a:r>
          </a:p>
          <a:p>
            <a:pPr algn="l">
              <a:lnSpc>
                <a:spcPts val="3299"/>
              </a:lnSpc>
            </a:pPr>
            <a:r>
              <a:rPr lang="en-US" sz="2199">
                <a:solidFill>
                  <a:srgbClr val="FFFFFF"/>
                </a:solidFill>
                <a:latin typeface="Pixelated"/>
                <a:ea typeface="Pixelated"/>
                <a:cs typeface="Pixelated"/>
                <a:sym typeface="Pixelated"/>
              </a:rPr>
              <a:t>→ App is temporarily not receiving user input.</a:t>
            </a:r>
          </a:p>
        </p:txBody>
      </p:sp>
      <p:sp>
        <p:nvSpPr>
          <p:cNvPr name="TextBox 38" id="38"/>
          <p:cNvSpPr txBox="true"/>
          <p:nvPr/>
        </p:nvSpPr>
        <p:spPr>
          <a:xfrm rot="0">
            <a:off x="3566160" y="7732395"/>
            <a:ext cx="6583680" cy="1183005"/>
          </a:xfrm>
          <a:prstGeom prst="rect">
            <a:avLst/>
          </a:prstGeom>
        </p:spPr>
        <p:txBody>
          <a:bodyPr anchor="t" rtlCol="false" tIns="0" lIns="0" bIns="0" rIns="0">
            <a:spAutoFit/>
          </a:bodyPr>
          <a:lstStyle/>
          <a:p>
            <a:pPr algn="l">
              <a:lnSpc>
                <a:spcPts val="3600"/>
              </a:lnSpc>
            </a:pPr>
            <a:r>
              <a:rPr lang="en-US" sz="2400">
                <a:solidFill>
                  <a:srgbClr val="FFFFFF"/>
                </a:solidFill>
                <a:latin typeface="Pixelated"/>
                <a:ea typeface="Pixelated"/>
                <a:cs typeface="Pixelated"/>
                <a:sym typeface="Pixelated"/>
              </a:rPr>
              <a:t>Paused</a:t>
            </a:r>
          </a:p>
          <a:p>
            <a:pPr algn="l">
              <a:lnSpc>
                <a:spcPts val="3299"/>
              </a:lnSpc>
            </a:pPr>
            <a:r>
              <a:rPr lang="en-US" sz="2199">
                <a:solidFill>
                  <a:srgbClr val="FFFFFF"/>
                </a:solidFill>
                <a:latin typeface="Pixelated"/>
                <a:ea typeface="Pixelated"/>
                <a:cs typeface="Pixelated"/>
                <a:sym typeface="Pixelated"/>
              </a:rPr>
              <a:t>→ App is running in the background.</a:t>
            </a:r>
          </a:p>
        </p:txBody>
      </p:sp>
      <p:grpSp>
        <p:nvGrpSpPr>
          <p:cNvPr name="Group 39" id="39"/>
          <p:cNvGrpSpPr/>
          <p:nvPr/>
        </p:nvGrpSpPr>
        <p:grpSpPr>
          <a:xfrm rot="0">
            <a:off x="10378440" y="4297680"/>
            <a:ext cx="5943600" cy="4505992"/>
            <a:chOff x="0" y="0"/>
            <a:chExt cx="7924800" cy="6007989"/>
          </a:xfrm>
        </p:grpSpPr>
        <p:sp>
          <p:nvSpPr>
            <p:cNvPr name="Freeform 40" id="40" descr="VS Code snapshot: Flutter didChangeAppLifecycleState code"/>
            <p:cNvSpPr/>
            <p:nvPr/>
          </p:nvSpPr>
          <p:spPr>
            <a:xfrm flipH="false" flipV="false" rot="0">
              <a:off x="0" y="0"/>
              <a:ext cx="7924800" cy="6007989"/>
            </a:xfrm>
            <a:custGeom>
              <a:avLst/>
              <a:gdLst/>
              <a:ahLst/>
              <a:cxnLst/>
              <a:rect r="r" b="b" t="t" l="l"/>
              <a:pathLst>
                <a:path h="6007989" w="7924800">
                  <a:moveTo>
                    <a:pt x="0" y="0"/>
                  </a:moveTo>
                  <a:lnTo>
                    <a:pt x="7924800" y="0"/>
                  </a:lnTo>
                  <a:lnTo>
                    <a:pt x="7924800" y="6007989"/>
                  </a:lnTo>
                  <a:lnTo>
                    <a:pt x="0" y="6007989"/>
                  </a:lnTo>
                  <a:lnTo>
                    <a:pt x="0" y="0"/>
                  </a:lnTo>
                  <a:close/>
                </a:path>
              </a:pathLst>
            </a:custGeom>
            <a:blipFill>
              <a:blip r:embed="rId30"/>
              <a:stretch>
                <a:fillRect l="0" t="0" r="0" b="0"/>
              </a:stretch>
            </a:blip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3447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59"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7" id="7"/>
          <p:cNvSpPr/>
          <p:nvPr/>
        </p:nvSpPr>
        <p:spPr>
          <a:xfrm flipH="false" flipV="false" rot="0">
            <a:off x="13716000"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8" id="8"/>
          <p:cNvSpPr/>
          <p:nvPr/>
        </p:nvSpPr>
        <p:spPr>
          <a:xfrm flipH="false" flipV="false" rot="0">
            <a:off x="15606293" y="4526280"/>
            <a:ext cx="1735693" cy="4114800"/>
          </a:xfrm>
          <a:custGeom>
            <a:avLst/>
            <a:gdLst/>
            <a:ahLst/>
            <a:cxnLst/>
            <a:rect r="r" b="b" t="t" l="l"/>
            <a:pathLst>
              <a:path h="4114800" w="1735693">
                <a:moveTo>
                  <a:pt x="0" y="0"/>
                </a:moveTo>
                <a:lnTo>
                  <a:pt x="1735694" y="0"/>
                </a:lnTo>
                <a:lnTo>
                  <a:pt x="173569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9" id="9"/>
          <p:cNvSpPr/>
          <p:nvPr/>
        </p:nvSpPr>
        <p:spPr>
          <a:xfrm flipH="false" flipV="false" rot="0">
            <a:off x="11275390"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0" id="10"/>
          <p:cNvSpPr/>
          <p:nvPr/>
        </p:nvSpPr>
        <p:spPr>
          <a:xfrm flipH="false" flipV="false" rot="0">
            <a:off x="5637695"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1" id="11"/>
          <p:cNvSpPr/>
          <p:nvPr/>
        </p:nvSpPr>
        <p:spPr>
          <a:xfrm flipH="false" flipV="false" rot="0">
            <a:off x="1028700" y="4526280"/>
            <a:ext cx="1735693" cy="4114800"/>
          </a:xfrm>
          <a:custGeom>
            <a:avLst/>
            <a:gdLst/>
            <a:ahLst/>
            <a:cxnLst/>
            <a:rect r="r" b="b" t="t" l="l"/>
            <a:pathLst>
              <a:path h="4114800" w="1735693">
                <a:moveTo>
                  <a:pt x="0" y="0"/>
                </a:moveTo>
                <a:lnTo>
                  <a:pt x="1735693" y="0"/>
                </a:lnTo>
                <a:lnTo>
                  <a:pt x="173569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12" id="12"/>
          <p:cNvSpPr/>
          <p:nvPr/>
        </p:nvSpPr>
        <p:spPr>
          <a:xfrm flipH="false" flipV="false" rot="0">
            <a:off x="5477789" y="7654261"/>
            <a:ext cx="958044" cy="958044"/>
          </a:xfrm>
          <a:custGeom>
            <a:avLst/>
            <a:gdLst/>
            <a:ahLst/>
            <a:cxnLst/>
            <a:rect r="r" b="b" t="t" l="l"/>
            <a:pathLst>
              <a:path h="958044" w="958044">
                <a:moveTo>
                  <a:pt x="0" y="0"/>
                </a:moveTo>
                <a:lnTo>
                  <a:pt x="958044" y="0"/>
                </a:lnTo>
                <a:lnTo>
                  <a:pt x="958044"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5" y="7654261"/>
            <a:ext cx="958044" cy="958044"/>
          </a:xfrm>
          <a:custGeom>
            <a:avLst/>
            <a:gdLst/>
            <a:ahLst/>
            <a:cxnLst/>
            <a:rect r="r" b="b" t="t" l="l"/>
            <a:pathLst>
              <a:path h="958044" w="958044">
                <a:moveTo>
                  <a:pt x="0" y="0"/>
                </a:moveTo>
                <a:lnTo>
                  <a:pt x="958043" y="0"/>
                </a:lnTo>
                <a:lnTo>
                  <a:pt x="958043"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3" y="4795695"/>
            <a:ext cx="1956883" cy="3816610"/>
          </a:xfrm>
          <a:custGeom>
            <a:avLst/>
            <a:gdLst/>
            <a:ahLst/>
            <a:cxnLst/>
            <a:rect r="r" b="b" t="t" l="l"/>
            <a:pathLst>
              <a:path h="3816610" w="1956883">
                <a:moveTo>
                  <a:pt x="0" y="0"/>
                </a:moveTo>
                <a:lnTo>
                  <a:pt x="1956883" y="0"/>
                </a:lnTo>
                <a:lnTo>
                  <a:pt x="1956883" y="3816610"/>
                </a:lnTo>
                <a:lnTo>
                  <a:pt x="0" y="3816610"/>
                </a:lnTo>
                <a:lnTo>
                  <a:pt x="0" y="0"/>
                </a:lnTo>
                <a:close/>
              </a:path>
            </a:pathLst>
          </a:custGeom>
          <a:blipFill>
            <a:blip r:embed="rId14">
              <a:extLst>
                <a:ext uri="{96DAC541-7B7A-43D3-8B79-37D633B846F1}">
                  <asvg:svgBlip xmlns:asvg="http://schemas.microsoft.com/office/drawing/2016/SVG/main" r:embed="rId15"/>
                </a:ext>
              </a:extLst>
            </a:blip>
            <a:stretch>
              <a:fillRect l="-96" t="0" r="-96" b="0"/>
            </a:stretch>
          </a:blipFill>
        </p:spPr>
      </p:sp>
      <p:sp>
        <p:nvSpPr>
          <p:cNvPr name="Freeform 15" id="15"/>
          <p:cNvSpPr/>
          <p:nvPr/>
        </p:nvSpPr>
        <p:spPr>
          <a:xfrm flipH="false" flipV="false" rot="0">
            <a:off x="488830" y="720090"/>
            <a:ext cx="17606648" cy="9026075"/>
          </a:xfrm>
          <a:custGeom>
            <a:avLst/>
            <a:gdLst/>
            <a:ahLst/>
            <a:cxnLst/>
            <a:rect r="r" b="b" t="t" l="l"/>
            <a:pathLst>
              <a:path h="9026075" w="17606648">
                <a:moveTo>
                  <a:pt x="0" y="0"/>
                </a:moveTo>
                <a:lnTo>
                  <a:pt x="17606647" y="0"/>
                </a:lnTo>
                <a:lnTo>
                  <a:pt x="17606647" y="9026075"/>
                </a:lnTo>
                <a:lnTo>
                  <a:pt x="0" y="902607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0"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7" id="17"/>
          <p:cNvSpPr/>
          <p:nvPr/>
        </p:nvSpPr>
        <p:spPr>
          <a:xfrm flipH="false" flipV="false" rot="0">
            <a:off x="16754304"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grpSp>
        <p:nvGrpSpPr>
          <p:cNvPr name="Group 18" id="18"/>
          <p:cNvGrpSpPr/>
          <p:nvPr/>
        </p:nvGrpSpPr>
        <p:grpSpPr>
          <a:xfrm rot="0">
            <a:off x="1896551" y="411480"/>
            <a:ext cx="715613" cy="617220"/>
            <a:chOff x="0" y="0"/>
            <a:chExt cx="954151" cy="822960"/>
          </a:xfrm>
        </p:grpSpPr>
        <p:sp>
          <p:nvSpPr>
            <p:cNvPr name="Freeform 19" id="19"/>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0" id="20"/>
          <p:cNvGrpSpPr/>
          <p:nvPr/>
        </p:nvGrpSpPr>
        <p:grpSpPr>
          <a:xfrm rot="0">
            <a:off x="2612165" y="411480"/>
            <a:ext cx="715613" cy="617220"/>
            <a:chOff x="0" y="0"/>
            <a:chExt cx="954151" cy="822960"/>
          </a:xfrm>
        </p:grpSpPr>
        <p:sp>
          <p:nvSpPr>
            <p:cNvPr name="Freeform 21" id="21"/>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2" id="22"/>
          <p:cNvGrpSpPr/>
          <p:nvPr/>
        </p:nvGrpSpPr>
        <p:grpSpPr>
          <a:xfrm rot="0">
            <a:off x="3327787" y="411480"/>
            <a:ext cx="715613" cy="617220"/>
            <a:chOff x="0" y="0"/>
            <a:chExt cx="954151" cy="822960"/>
          </a:xfrm>
        </p:grpSpPr>
        <p:sp>
          <p:nvSpPr>
            <p:cNvPr name="Freeform 23" id="23"/>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sp>
        <p:nvSpPr>
          <p:cNvPr name="Freeform 24" id="24"/>
          <p:cNvSpPr/>
          <p:nvPr/>
        </p:nvSpPr>
        <p:spPr>
          <a:xfrm flipH="false" flipV="false" rot="0">
            <a:off x="13975671" y="411480"/>
            <a:ext cx="729758" cy="729758"/>
          </a:xfrm>
          <a:custGeom>
            <a:avLst/>
            <a:gdLst/>
            <a:ahLst/>
            <a:cxnLst/>
            <a:rect r="r" b="b" t="t" l="l"/>
            <a:pathLst>
              <a:path h="729758" w="729758">
                <a:moveTo>
                  <a:pt x="0" y="0"/>
                </a:moveTo>
                <a:lnTo>
                  <a:pt x="729757" y="0"/>
                </a:lnTo>
                <a:lnTo>
                  <a:pt x="729757"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5" id="25"/>
          <p:cNvSpPr txBox="true"/>
          <p:nvPr/>
        </p:nvSpPr>
        <p:spPr>
          <a:xfrm rot="0">
            <a:off x="2055838" y="1122188"/>
            <a:ext cx="14084884" cy="1257300"/>
          </a:xfrm>
          <a:prstGeom prst="rect">
            <a:avLst/>
          </a:prstGeom>
        </p:spPr>
        <p:txBody>
          <a:bodyPr anchor="t" rtlCol="false" tIns="0" lIns="0" bIns="0" rIns="0">
            <a:spAutoFit/>
          </a:bodyPr>
          <a:lstStyle/>
          <a:p>
            <a:pPr algn="ctr">
              <a:lnSpc>
                <a:spcPts val="9600"/>
              </a:lnSpc>
            </a:pPr>
            <a:r>
              <a:rPr lang="en-US" sz="8000">
                <a:solidFill>
                  <a:srgbClr val="FFFFFF"/>
                </a:solidFill>
                <a:latin typeface="VT323"/>
                <a:ea typeface="VT323"/>
                <a:cs typeface="VT323"/>
                <a:sym typeface="VT323"/>
              </a:rPr>
              <a:t>PERMISSIONS</a:t>
            </a:r>
          </a:p>
        </p:txBody>
      </p:sp>
      <p:sp>
        <p:nvSpPr>
          <p:cNvPr name="Freeform 26" id="26"/>
          <p:cNvSpPr/>
          <p:nvPr/>
        </p:nvSpPr>
        <p:spPr>
          <a:xfrm flipH="false" flipV="false" rot="0">
            <a:off x="14863515"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7" id="27"/>
          <p:cNvSpPr/>
          <p:nvPr/>
        </p:nvSpPr>
        <p:spPr>
          <a:xfrm flipH="false" flipV="false" rot="0">
            <a:off x="15751359"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8" id="28"/>
          <p:cNvSpPr/>
          <p:nvPr/>
        </p:nvSpPr>
        <p:spPr>
          <a:xfrm flipH="false" flipV="false" rot="0">
            <a:off x="15462675" y="2057400"/>
            <a:ext cx="653567" cy="609600"/>
          </a:xfrm>
          <a:custGeom>
            <a:avLst/>
            <a:gdLst/>
            <a:ahLst/>
            <a:cxnLst/>
            <a:rect r="r" b="b" t="t" l="l"/>
            <a:pathLst>
              <a:path h="609600" w="653567">
                <a:moveTo>
                  <a:pt x="0" y="0"/>
                </a:moveTo>
                <a:lnTo>
                  <a:pt x="653568" y="0"/>
                </a:lnTo>
                <a:lnTo>
                  <a:pt x="653568" y="609600"/>
                </a:lnTo>
                <a:lnTo>
                  <a:pt x="0" y="609600"/>
                </a:lnTo>
                <a:lnTo>
                  <a:pt x="0" y="0"/>
                </a:lnTo>
                <a:close/>
              </a:path>
            </a:pathLst>
          </a:custGeom>
          <a:blipFill>
            <a:blip r:embed="rId21">
              <a:extLst>
                <a:ext uri="{96DAC541-7B7A-43D3-8B79-37D633B846F1}">
                  <asvg:svgBlip xmlns:asvg="http://schemas.microsoft.com/office/drawing/2016/SVG/main" r:embed="rId22"/>
                </a:ext>
              </a:extLst>
            </a:blip>
            <a:stretch>
              <a:fillRect l="0" t="-498" r="0" b="-498"/>
            </a:stretch>
          </a:blipFill>
        </p:spPr>
      </p:sp>
      <p:sp>
        <p:nvSpPr>
          <p:cNvPr name="Freeform 29" id="29"/>
          <p:cNvSpPr/>
          <p:nvPr/>
        </p:nvSpPr>
        <p:spPr>
          <a:xfrm flipH="false" flipV="false" rot="0">
            <a:off x="2651760" y="3703320"/>
            <a:ext cx="4206240" cy="914400"/>
          </a:xfrm>
          <a:custGeom>
            <a:avLst/>
            <a:gdLst/>
            <a:ahLst/>
            <a:cxnLst/>
            <a:rect r="r" b="b" t="t" l="l"/>
            <a:pathLst>
              <a:path h="914400" w="4206240">
                <a:moveTo>
                  <a:pt x="0" y="0"/>
                </a:moveTo>
                <a:lnTo>
                  <a:pt x="4206240" y="0"/>
                </a:lnTo>
                <a:lnTo>
                  <a:pt x="4206240" y="914400"/>
                </a:lnTo>
                <a:lnTo>
                  <a:pt x="0" y="914400"/>
                </a:lnTo>
                <a:lnTo>
                  <a:pt x="0" y="0"/>
                </a:lnTo>
                <a:close/>
              </a:path>
            </a:pathLst>
          </a:custGeom>
          <a:blipFill>
            <a:blip r:embed="rId23">
              <a:extLst>
                <a:ext uri="{96DAC541-7B7A-43D3-8B79-37D633B846F1}">
                  <asvg:svgBlip xmlns:asvg="http://schemas.microsoft.com/office/drawing/2016/SVG/main" r:embed="rId24"/>
                </a:ext>
              </a:extLst>
            </a:blip>
            <a:stretch>
              <a:fillRect l="0" t="-475" r="0" b="-475"/>
            </a:stretch>
          </a:blipFill>
        </p:spPr>
      </p:sp>
      <p:sp>
        <p:nvSpPr>
          <p:cNvPr name="Freeform 30" id="30"/>
          <p:cNvSpPr/>
          <p:nvPr/>
        </p:nvSpPr>
        <p:spPr>
          <a:xfrm flipH="false" flipV="false" rot="0">
            <a:off x="9966960" y="3703320"/>
            <a:ext cx="4206240" cy="914400"/>
          </a:xfrm>
          <a:custGeom>
            <a:avLst/>
            <a:gdLst/>
            <a:ahLst/>
            <a:cxnLst/>
            <a:rect r="r" b="b" t="t" l="l"/>
            <a:pathLst>
              <a:path h="914400" w="4206240">
                <a:moveTo>
                  <a:pt x="0" y="0"/>
                </a:moveTo>
                <a:lnTo>
                  <a:pt x="4206240" y="0"/>
                </a:lnTo>
                <a:lnTo>
                  <a:pt x="4206240" y="914400"/>
                </a:lnTo>
                <a:lnTo>
                  <a:pt x="0" y="914400"/>
                </a:lnTo>
                <a:lnTo>
                  <a:pt x="0" y="0"/>
                </a:lnTo>
                <a:close/>
              </a:path>
            </a:pathLst>
          </a:custGeom>
          <a:blipFill>
            <a:blip r:embed="rId23">
              <a:extLst>
                <a:ext uri="{96DAC541-7B7A-43D3-8B79-37D633B846F1}">
                  <asvg:svgBlip xmlns:asvg="http://schemas.microsoft.com/office/drawing/2016/SVG/main" r:embed="rId24"/>
                </a:ext>
              </a:extLst>
            </a:blip>
            <a:stretch>
              <a:fillRect l="0" t="-475" r="0" b="-475"/>
            </a:stretch>
          </a:blipFill>
        </p:spPr>
      </p:sp>
      <p:grpSp>
        <p:nvGrpSpPr>
          <p:cNvPr name="Group 31" id="31"/>
          <p:cNvGrpSpPr/>
          <p:nvPr/>
        </p:nvGrpSpPr>
        <p:grpSpPr>
          <a:xfrm rot="0">
            <a:off x="2103120" y="2971800"/>
            <a:ext cx="13990320" cy="548640"/>
            <a:chOff x="0" y="0"/>
            <a:chExt cx="18653760" cy="731520"/>
          </a:xfrm>
        </p:grpSpPr>
        <p:sp>
          <p:nvSpPr>
            <p:cNvPr name="Freeform 32" id="32"/>
            <p:cNvSpPr/>
            <p:nvPr/>
          </p:nvSpPr>
          <p:spPr>
            <a:xfrm flipH="false" flipV="false" rot="0">
              <a:off x="0" y="0"/>
              <a:ext cx="18653761" cy="731520"/>
            </a:xfrm>
            <a:custGeom>
              <a:avLst/>
              <a:gdLst/>
              <a:ahLst/>
              <a:cxnLst/>
              <a:rect r="r" b="b" t="t" l="l"/>
              <a:pathLst>
                <a:path h="731520" w="18653761">
                  <a:moveTo>
                    <a:pt x="0" y="0"/>
                  </a:moveTo>
                  <a:lnTo>
                    <a:pt x="18653761" y="0"/>
                  </a:lnTo>
                  <a:lnTo>
                    <a:pt x="18653761" y="731520"/>
                  </a:lnTo>
                  <a:lnTo>
                    <a:pt x="0" y="731520"/>
                  </a:lnTo>
                  <a:close/>
                </a:path>
              </a:pathLst>
            </a:custGeom>
            <a:blipFill>
              <a:blip r:embed="rId25">
                <a:alphaModFix amt="0"/>
              </a:blip>
              <a:stretch>
                <a:fillRect l="0" t="-446868" r="0" b="-446868"/>
              </a:stretch>
            </a:blipFill>
          </p:spPr>
        </p:sp>
        <p:sp>
          <p:nvSpPr>
            <p:cNvPr name="TextBox 33" id="33"/>
            <p:cNvSpPr txBox="true"/>
            <p:nvPr/>
          </p:nvSpPr>
          <p:spPr>
            <a:xfrm>
              <a:off x="0" y="-66675"/>
              <a:ext cx="18653760" cy="798195"/>
            </a:xfrm>
            <a:prstGeom prst="rect">
              <a:avLst/>
            </a:prstGeom>
          </p:spPr>
          <p:txBody>
            <a:bodyPr anchor="ctr" rtlCol="false" tIns="0" lIns="0" bIns="0" rIns="0"/>
            <a:lstStyle/>
            <a:p>
              <a:pPr algn="ctr">
                <a:lnSpc>
                  <a:spcPts val="3744"/>
                </a:lnSpc>
              </a:pPr>
              <a:r>
                <a:rPr lang="en-US" sz="2600">
                  <a:solidFill>
                    <a:srgbClr val="FFFFFF"/>
                  </a:solidFill>
                  <a:latin typeface="Pixelated"/>
                  <a:ea typeface="Pixelated"/>
                  <a:cs typeface="Pixelated"/>
                  <a:sym typeface="Pixelated"/>
                </a:rPr>
                <a:t>Permissions are the user's approval for an app to access certain features of the phone.</a:t>
              </a:r>
            </a:p>
          </p:txBody>
        </p:sp>
      </p:grpSp>
      <p:grpSp>
        <p:nvGrpSpPr>
          <p:cNvPr name="Group 34" id="34"/>
          <p:cNvGrpSpPr/>
          <p:nvPr/>
        </p:nvGrpSpPr>
        <p:grpSpPr>
          <a:xfrm rot="0">
            <a:off x="2651760" y="3703320"/>
            <a:ext cx="4206240" cy="914400"/>
            <a:chOff x="0" y="0"/>
            <a:chExt cx="5608320" cy="1219200"/>
          </a:xfrm>
        </p:grpSpPr>
        <p:sp>
          <p:nvSpPr>
            <p:cNvPr name="Freeform 35" id="35"/>
            <p:cNvSpPr/>
            <p:nvPr/>
          </p:nvSpPr>
          <p:spPr>
            <a:xfrm flipH="false" flipV="false" rot="0">
              <a:off x="0" y="0"/>
              <a:ext cx="5608320" cy="1219200"/>
            </a:xfrm>
            <a:custGeom>
              <a:avLst/>
              <a:gdLst/>
              <a:ahLst/>
              <a:cxnLst/>
              <a:rect r="r" b="b" t="t" l="l"/>
              <a:pathLst>
                <a:path h="1219200" w="5608320">
                  <a:moveTo>
                    <a:pt x="0" y="0"/>
                  </a:moveTo>
                  <a:lnTo>
                    <a:pt x="5608320" y="0"/>
                  </a:lnTo>
                  <a:lnTo>
                    <a:pt x="5608320" y="1219200"/>
                  </a:lnTo>
                  <a:lnTo>
                    <a:pt x="0" y="1219200"/>
                  </a:lnTo>
                  <a:close/>
                </a:path>
              </a:pathLst>
            </a:custGeom>
            <a:blipFill>
              <a:blip r:embed="rId25">
                <a:alphaModFix amt="0"/>
              </a:blip>
              <a:stretch>
                <a:fillRect l="0" t="-39631" r="0" b="-39631"/>
              </a:stretch>
            </a:blipFill>
          </p:spPr>
        </p:sp>
        <p:sp>
          <p:nvSpPr>
            <p:cNvPr name="TextBox 36" id="36"/>
            <p:cNvSpPr txBox="true"/>
            <p:nvPr/>
          </p:nvSpPr>
          <p:spPr>
            <a:xfrm>
              <a:off x="0" y="-9525"/>
              <a:ext cx="5608320" cy="1228725"/>
            </a:xfrm>
            <a:prstGeom prst="rect">
              <a:avLst/>
            </a:prstGeom>
          </p:spPr>
          <p:txBody>
            <a:bodyPr anchor="ctr" rtlCol="false" tIns="0" lIns="0" bIns="0" rIns="0"/>
            <a:lstStyle/>
            <a:p>
              <a:pPr algn="ctr">
                <a:lnSpc>
                  <a:spcPts val="3600"/>
                </a:lnSpc>
              </a:pPr>
              <a:r>
                <a:rPr lang="en-US" sz="3000">
                  <a:solidFill>
                    <a:srgbClr val="000000"/>
                  </a:solidFill>
                  <a:latin typeface="Pixelated"/>
                  <a:ea typeface="Pixelated"/>
                  <a:cs typeface="Pixelated"/>
                  <a:sym typeface="Pixelated"/>
                </a:rPr>
                <a:t>Common examples</a:t>
              </a:r>
            </a:p>
          </p:txBody>
        </p:sp>
      </p:grpSp>
      <p:grpSp>
        <p:nvGrpSpPr>
          <p:cNvPr name="Group 37" id="37"/>
          <p:cNvGrpSpPr/>
          <p:nvPr/>
        </p:nvGrpSpPr>
        <p:grpSpPr>
          <a:xfrm rot="0">
            <a:off x="9966960" y="3703320"/>
            <a:ext cx="4206240" cy="914400"/>
            <a:chOff x="0" y="0"/>
            <a:chExt cx="5608320" cy="1219200"/>
          </a:xfrm>
        </p:grpSpPr>
        <p:sp>
          <p:nvSpPr>
            <p:cNvPr name="Freeform 38" id="38"/>
            <p:cNvSpPr/>
            <p:nvPr/>
          </p:nvSpPr>
          <p:spPr>
            <a:xfrm flipH="false" flipV="false" rot="0">
              <a:off x="0" y="0"/>
              <a:ext cx="5608320" cy="1219200"/>
            </a:xfrm>
            <a:custGeom>
              <a:avLst/>
              <a:gdLst/>
              <a:ahLst/>
              <a:cxnLst/>
              <a:rect r="r" b="b" t="t" l="l"/>
              <a:pathLst>
                <a:path h="1219200" w="5608320">
                  <a:moveTo>
                    <a:pt x="0" y="0"/>
                  </a:moveTo>
                  <a:lnTo>
                    <a:pt x="5608320" y="0"/>
                  </a:lnTo>
                  <a:lnTo>
                    <a:pt x="5608320" y="1219200"/>
                  </a:lnTo>
                  <a:lnTo>
                    <a:pt x="0" y="1219200"/>
                  </a:lnTo>
                  <a:close/>
                </a:path>
              </a:pathLst>
            </a:custGeom>
            <a:blipFill>
              <a:blip r:embed="rId25">
                <a:alphaModFix amt="0"/>
              </a:blip>
              <a:stretch>
                <a:fillRect l="0" t="-39631" r="0" b="-39631"/>
              </a:stretch>
            </a:blipFill>
          </p:spPr>
        </p:sp>
        <p:sp>
          <p:nvSpPr>
            <p:cNvPr name="TextBox 39" id="39"/>
            <p:cNvSpPr txBox="true"/>
            <p:nvPr/>
          </p:nvSpPr>
          <p:spPr>
            <a:xfrm>
              <a:off x="0" y="-9525"/>
              <a:ext cx="5608320" cy="1228725"/>
            </a:xfrm>
            <a:prstGeom prst="rect">
              <a:avLst/>
            </a:prstGeom>
          </p:spPr>
          <p:txBody>
            <a:bodyPr anchor="ctr" rtlCol="false" tIns="0" lIns="0" bIns="0" rIns="0"/>
            <a:lstStyle/>
            <a:p>
              <a:pPr algn="ctr">
                <a:lnSpc>
                  <a:spcPts val="3600"/>
                </a:lnSpc>
              </a:pPr>
              <a:r>
                <a:rPr lang="en-US" sz="3000">
                  <a:solidFill>
                    <a:srgbClr val="000000"/>
                  </a:solidFill>
                  <a:latin typeface="Pixelated"/>
                  <a:ea typeface="Pixelated"/>
                  <a:cs typeface="Pixelated"/>
                  <a:sym typeface="Pixelated"/>
                </a:rPr>
                <a:t>Flutter Code</a:t>
              </a:r>
            </a:p>
          </p:txBody>
        </p:sp>
      </p:grpSp>
      <p:sp>
        <p:nvSpPr>
          <p:cNvPr name="TextBox 40" id="40"/>
          <p:cNvSpPr txBox="true"/>
          <p:nvPr/>
        </p:nvSpPr>
        <p:spPr>
          <a:xfrm rot="0">
            <a:off x="2764393" y="5133975"/>
            <a:ext cx="4206240" cy="2809875"/>
          </a:xfrm>
          <a:prstGeom prst="rect">
            <a:avLst/>
          </a:prstGeom>
        </p:spPr>
        <p:txBody>
          <a:bodyPr anchor="t" rtlCol="false" tIns="0" lIns="0" bIns="0" rIns="0">
            <a:spAutoFit/>
          </a:bodyPr>
          <a:lstStyle/>
          <a:p>
            <a:pPr algn="l">
              <a:lnSpc>
                <a:spcPts val="3719"/>
              </a:lnSpc>
            </a:pPr>
            <a:r>
              <a:rPr lang="en-US" sz="3099">
                <a:solidFill>
                  <a:srgbClr val="FFFFFF"/>
                </a:solidFill>
                <a:latin typeface="Pixelated"/>
                <a:ea typeface="Pixelated"/>
                <a:cs typeface="Pixelated"/>
                <a:sym typeface="Pixelated"/>
              </a:rPr>
              <a:t>📷 Camera</a:t>
            </a:r>
          </a:p>
          <a:p>
            <a:pPr algn="l">
              <a:lnSpc>
                <a:spcPts val="3719"/>
              </a:lnSpc>
            </a:pPr>
            <a:r>
              <a:rPr lang="en-US" sz="3099">
                <a:solidFill>
                  <a:srgbClr val="FFFFFF"/>
                </a:solidFill>
                <a:latin typeface="Pixelated"/>
                <a:ea typeface="Pixelated"/>
                <a:cs typeface="Pixelated"/>
                <a:sym typeface="Pixelated"/>
              </a:rPr>
              <a:t>📍 Location</a:t>
            </a:r>
          </a:p>
          <a:p>
            <a:pPr algn="l">
              <a:lnSpc>
                <a:spcPts val="3719"/>
              </a:lnSpc>
            </a:pPr>
            <a:r>
              <a:rPr lang="en-US" sz="3099">
                <a:solidFill>
                  <a:srgbClr val="FFFFFF"/>
                </a:solidFill>
                <a:latin typeface="Pixelated"/>
                <a:ea typeface="Pixelated"/>
                <a:cs typeface="Pixelated"/>
                <a:sym typeface="Pixelated"/>
              </a:rPr>
              <a:t>🎤 Microphone</a:t>
            </a:r>
          </a:p>
          <a:p>
            <a:pPr algn="l">
              <a:lnSpc>
                <a:spcPts val="3719"/>
              </a:lnSpc>
            </a:pPr>
            <a:r>
              <a:rPr lang="en-US" sz="3099">
                <a:solidFill>
                  <a:srgbClr val="FFFFFF"/>
                </a:solidFill>
                <a:latin typeface="Pixelated"/>
                <a:ea typeface="Pixelated"/>
                <a:cs typeface="Pixelated"/>
                <a:sym typeface="Pixelated"/>
              </a:rPr>
              <a:t>🖼️ Photos</a:t>
            </a:r>
          </a:p>
          <a:p>
            <a:pPr algn="l">
              <a:lnSpc>
                <a:spcPts val="3719"/>
              </a:lnSpc>
            </a:pPr>
            <a:r>
              <a:rPr lang="en-US" sz="3099">
                <a:solidFill>
                  <a:srgbClr val="FFFFFF"/>
                </a:solidFill>
                <a:latin typeface="Pixelated"/>
                <a:ea typeface="Pixelated"/>
                <a:cs typeface="Pixelated"/>
                <a:sym typeface="Pixelated"/>
              </a:rPr>
              <a:t>🔵 Bluetooth</a:t>
            </a:r>
          </a:p>
          <a:p>
            <a:pPr algn="l">
              <a:lnSpc>
                <a:spcPts val="3719"/>
              </a:lnSpc>
            </a:pPr>
            <a:r>
              <a:rPr lang="en-US" sz="3099">
                <a:solidFill>
                  <a:srgbClr val="FFFFFF"/>
                </a:solidFill>
                <a:latin typeface="Pixelated"/>
                <a:ea typeface="Pixelated"/>
                <a:cs typeface="Pixelated"/>
                <a:sym typeface="Pixelated"/>
              </a:rPr>
              <a:t>🔔 Notifications</a:t>
            </a:r>
          </a:p>
        </p:txBody>
      </p:sp>
      <p:grpSp>
        <p:nvGrpSpPr>
          <p:cNvPr name="Group 41" id="41"/>
          <p:cNvGrpSpPr/>
          <p:nvPr/>
        </p:nvGrpSpPr>
        <p:grpSpPr>
          <a:xfrm rot="0">
            <a:off x="9134475" y="4798695"/>
            <a:ext cx="7040042" cy="3749202"/>
            <a:chOff x="0" y="0"/>
            <a:chExt cx="9386722" cy="4998936"/>
          </a:xfrm>
        </p:grpSpPr>
        <p:sp>
          <p:nvSpPr>
            <p:cNvPr name="Freeform 42" id="42" descr="VS Code snapshot: Flutter Permission.location.request code"/>
            <p:cNvSpPr/>
            <p:nvPr/>
          </p:nvSpPr>
          <p:spPr>
            <a:xfrm flipH="false" flipV="false" rot="0">
              <a:off x="0" y="0"/>
              <a:ext cx="9386722" cy="4998974"/>
            </a:xfrm>
            <a:custGeom>
              <a:avLst/>
              <a:gdLst/>
              <a:ahLst/>
              <a:cxnLst/>
              <a:rect r="r" b="b" t="t" l="l"/>
              <a:pathLst>
                <a:path h="4998974" w="9386722">
                  <a:moveTo>
                    <a:pt x="0" y="0"/>
                  </a:moveTo>
                  <a:lnTo>
                    <a:pt x="9386722" y="0"/>
                  </a:lnTo>
                  <a:lnTo>
                    <a:pt x="9386722" y="4998974"/>
                  </a:lnTo>
                  <a:lnTo>
                    <a:pt x="0" y="4998974"/>
                  </a:lnTo>
                  <a:lnTo>
                    <a:pt x="0" y="0"/>
                  </a:lnTo>
                  <a:close/>
                </a:path>
              </a:pathLst>
            </a:custGeom>
            <a:blipFill>
              <a:blip r:embed="rId26"/>
              <a:stretch>
                <a:fillRect l="0" t="-651" r="0" b="-651"/>
              </a:stretch>
            </a:blipFill>
          </p:spPr>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3447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59"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7" id="7"/>
          <p:cNvSpPr/>
          <p:nvPr/>
        </p:nvSpPr>
        <p:spPr>
          <a:xfrm flipH="false" flipV="false" rot="0">
            <a:off x="13716000"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8" id="8"/>
          <p:cNvSpPr/>
          <p:nvPr/>
        </p:nvSpPr>
        <p:spPr>
          <a:xfrm flipH="false" flipV="false" rot="0">
            <a:off x="15606293" y="4526280"/>
            <a:ext cx="1735693" cy="4114800"/>
          </a:xfrm>
          <a:custGeom>
            <a:avLst/>
            <a:gdLst/>
            <a:ahLst/>
            <a:cxnLst/>
            <a:rect r="r" b="b" t="t" l="l"/>
            <a:pathLst>
              <a:path h="4114800" w="1735693">
                <a:moveTo>
                  <a:pt x="0" y="0"/>
                </a:moveTo>
                <a:lnTo>
                  <a:pt x="1735694" y="0"/>
                </a:lnTo>
                <a:lnTo>
                  <a:pt x="173569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9" id="9"/>
          <p:cNvSpPr/>
          <p:nvPr/>
        </p:nvSpPr>
        <p:spPr>
          <a:xfrm flipH="false" flipV="false" rot="0">
            <a:off x="11275390"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0" id="10"/>
          <p:cNvSpPr/>
          <p:nvPr/>
        </p:nvSpPr>
        <p:spPr>
          <a:xfrm flipH="false" flipV="false" rot="0">
            <a:off x="5637695"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1" id="11"/>
          <p:cNvSpPr/>
          <p:nvPr/>
        </p:nvSpPr>
        <p:spPr>
          <a:xfrm flipH="false" flipV="false" rot="0">
            <a:off x="1028700" y="4526280"/>
            <a:ext cx="1735693" cy="4114800"/>
          </a:xfrm>
          <a:custGeom>
            <a:avLst/>
            <a:gdLst/>
            <a:ahLst/>
            <a:cxnLst/>
            <a:rect r="r" b="b" t="t" l="l"/>
            <a:pathLst>
              <a:path h="4114800" w="1735693">
                <a:moveTo>
                  <a:pt x="0" y="0"/>
                </a:moveTo>
                <a:lnTo>
                  <a:pt x="1735693" y="0"/>
                </a:lnTo>
                <a:lnTo>
                  <a:pt x="173569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12" id="12"/>
          <p:cNvSpPr/>
          <p:nvPr/>
        </p:nvSpPr>
        <p:spPr>
          <a:xfrm flipH="false" flipV="false" rot="0">
            <a:off x="5477789" y="7654261"/>
            <a:ext cx="958044" cy="958044"/>
          </a:xfrm>
          <a:custGeom>
            <a:avLst/>
            <a:gdLst/>
            <a:ahLst/>
            <a:cxnLst/>
            <a:rect r="r" b="b" t="t" l="l"/>
            <a:pathLst>
              <a:path h="958044" w="958044">
                <a:moveTo>
                  <a:pt x="0" y="0"/>
                </a:moveTo>
                <a:lnTo>
                  <a:pt x="958044" y="0"/>
                </a:lnTo>
                <a:lnTo>
                  <a:pt x="958044"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5" y="7654261"/>
            <a:ext cx="958044" cy="958044"/>
          </a:xfrm>
          <a:custGeom>
            <a:avLst/>
            <a:gdLst/>
            <a:ahLst/>
            <a:cxnLst/>
            <a:rect r="r" b="b" t="t" l="l"/>
            <a:pathLst>
              <a:path h="958044" w="958044">
                <a:moveTo>
                  <a:pt x="0" y="0"/>
                </a:moveTo>
                <a:lnTo>
                  <a:pt x="958043" y="0"/>
                </a:lnTo>
                <a:lnTo>
                  <a:pt x="958043"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3" y="4795695"/>
            <a:ext cx="1956883" cy="3816610"/>
          </a:xfrm>
          <a:custGeom>
            <a:avLst/>
            <a:gdLst/>
            <a:ahLst/>
            <a:cxnLst/>
            <a:rect r="r" b="b" t="t" l="l"/>
            <a:pathLst>
              <a:path h="3816610" w="1956883">
                <a:moveTo>
                  <a:pt x="0" y="0"/>
                </a:moveTo>
                <a:lnTo>
                  <a:pt x="1956883" y="0"/>
                </a:lnTo>
                <a:lnTo>
                  <a:pt x="1956883" y="3816610"/>
                </a:lnTo>
                <a:lnTo>
                  <a:pt x="0" y="3816610"/>
                </a:lnTo>
                <a:lnTo>
                  <a:pt x="0" y="0"/>
                </a:lnTo>
                <a:close/>
              </a:path>
            </a:pathLst>
          </a:custGeom>
          <a:blipFill>
            <a:blip r:embed="rId14">
              <a:extLst>
                <a:ext uri="{96DAC541-7B7A-43D3-8B79-37D633B846F1}">
                  <asvg:svgBlip xmlns:asvg="http://schemas.microsoft.com/office/drawing/2016/SVG/main" r:embed="rId15"/>
                </a:ext>
              </a:extLst>
            </a:blip>
            <a:stretch>
              <a:fillRect l="-96" t="0" r="-96" b="0"/>
            </a:stretch>
          </a:blipFill>
        </p:spPr>
      </p:sp>
      <p:sp>
        <p:nvSpPr>
          <p:cNvPr name="Freeform 15" id="15"/>
          <p:cNvSpPr/>
          <p:nvPr/>
        </p:nvSpPr>
        <p:spPr>
          <a:xfrm flipH="false" flipV="false" rot="0">
            <a:off x="566947" y="659191"/>
            <a:ext cx="17494569" cy="8968618"/>
          </a:xfrm>
          <a:custGeom>
            <a:avLst/>
            <a:gdLst/>
            <a:ahLst/>
            <a:cxnLst/>
            <a:rect r="r" b="b" t="t" l="l"/>
            <a:pathLst>
              <a:path h="8968618" w="17494569">
                <a:moveTo>
                  <a:pt x="0" y="0"/>
                </a:moveTo>
                <a:lnTo>
                  <a:pt x="17494569" y="0"/>
                </a:lnTo>
                <a:lnTo>
                  <a:pt x="17494569" y="8968618"/>
                </a:lnTo>
                <a:lnTo>
                  <a:pt x="0" y="896861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0"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7" id="17"/>
          <p:cNvSpPr/>
          <p:nvPr/>
        </p:nvSpPr>
        <p:spPr>
          <a:xfrm flipH="false" flipV="false" rot="0">
            <a:off x="16754304"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grpSp>
        <p:nvGrpSpPr>
          <p:cNvPr name="Group 18" id="18"/>
          <p:cNvGrpSpPr/>
          <p:nvPr/>
        </p:nvGrpSpPr>
        <p:grpSpPr>
          <a:xfrm rot="0">
            <a:off x="1896551" y="411480"/>
            <a:ext cx="715613" cy="617220"/>
            <a:chOff x="0" y="0"/>
            <a:chExt cx="954151" cy="822960"/>
          </a:xfrm>
        </p:grpSpPr>
        <p:sp>
          <p:nvSpPr>
            <p:cNvPr name="Freeform 19" id="19"/>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0" id="20"/>
          <p:cNvGrpSpPr/>
          <p:nvPr/>
        </p:nvGrpSpPr>
        <p:grpSpPr>
          <a:xfrm rot="0">
            <a:off x="2612165" y="411480"/>
            <a:ext cx="715613" cy="617220"/>
            <a:chOff x="0" y="0"/>
            <a:chExt cx="954151" cy="822960"/>
          </a:xfrm>
        </p:grpSpPr>
        <p:sp>
          <p:nvSpPr>
            <p:cNvPr name="Freeform 21" id="21"/>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2" id="22"/>
          <p:cNvGrpSpPr/>
          <p:nvPr/>
        </p:nvGrpSpPr>
        <p:grpSpPr>
          <a:xfrm rot="0">
            <a:off x="3327787" y="411480"/>
            <a:ext cx="715613" cy="617220"/>
            <a:chOff x="0" y="0"/>
            <a:chExt cx="954151" cy="822960"/>
          </a:xfrm>
        </p:grpSpPr>
        <p:sp>
          <p:nvSpPr>
            <p:cNvPr name="Freeform 23" id="23"/>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sp>
        <p:nvSpPr>
          <p:cNvPr name="Freeform 24" id="24"/>
          <p:cNvSpPr/>
          <p:nvPr/>
        </p:nvSpPr>
        <p:spPr>
          <a:xfrm flipH="false" flipV="false" rot="0">
            <a:off x="13975671" y="411480"/>
            <a:ext cx="729758" cy="729758"/>
          </a:xfrm>
          <a:custGeom>
            <a:avLst/>
            <a:gdLst/>
            <a:ahLst/>
            <a:cxnLst/>
            <a:rect r="r" b="b" t="t" l="l"/>
            <a:pathLst>
              <a:path h="729758" w="729758">
                <a:moveTo>
                  <a:pt x="0" y="0"/>
                </a:moveTo>
                <a:lnTo>
                  <a:pt x="729757" y="0"/>
                </a:lnTo>
                <a:lnTo>
                  <a:pt x="729757"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5" id="25"/>
          <p:cNvSpPr txBox="true"/>
          <p:nvPr/>
        </p:nvSpPr>
        <p:spPr>
          <a:xfrm rot="0">
            <a:off x="2103120" y="1122188"/>
            <a:ext cx="14084884" cy="1257300"/>
          </a:xfrm>
          <a:prstGeom prst="rect">
            <a:avLst/>
          </a:prstGeom>
        </p:spPr>
        <p:txBody>
          <a:bodyPr anchor="t" rtlCol="false" tIns="0" lIns="0" bIns="0" rIns="0">
            <a:spAutoFit/>
          </a:bodyPr>
          <a:lstStyle/>
          <a:p>
            <a:pPr algn="ctr">
              <a:lnSpc>
                <a:spcPts val="9600"/>
              </a:lnSpc>
            </a:pPr>
            <a:r>
              <a:rPr lang="en-US" sz="8000">
                <a:solidFill>
                  <a:srgbClr val="FFFFFF"/>
                </a:solidFill>
                <a:latin typeface="VT323"/>
                <a:ea typeface="VT323"/>
                <a:cs typeface="VT323"/>
                <a:sym typeface="VT323"/>
              </a:rPr>
              <a:t>NOTIFICATIONS</a:t>
            </a:r>
          </a:p>
        </p:txBody>
      </p:sp>
      <p:sp>
        <p:nvSpPr>
          <p:cNvPr name="Freeform 26" id="26"/>
          <p:cNvSpPr/>
          <p:nvPr/>
        </p:nvSpPr>
        <p:spPr>
          <a:xfrm flipH="false" flipV="false" rot="0">
            <a:off x="14863515"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7" id="27"/>
          <p:cNvSpPr/>
          <p:nvPr/>
        </p:nvSpPr>
        <p:spPr>
          <a:xfrm flipH="false" flipV="false" rot="0">
            <a:off x="15751359"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8" id="28"/>
          <p:cNvSpPr/>
          <p:nvPr/>
        </p:nvSpPr>
        <p:spPr>
          <a:xfrm flipH="false" flipV="false" rot="0">
            <a:off x="15462675" y="2057400"/>
            <a:ext cx="653567" cy="609600"/>
          </a:xfrm>
          <a:custGeom>
            <a:avLst/>
            <a:gdLst/>
            <a:ahLst/>
            <a:cxnLst/>
            <a:rect r="r" b="b" t="t" l="l"/>
            <a:pathLst>
              <a:path h="609600" w="653567">
                <a:moveTo>
                  <a:pt x="0" y="0"/>
                </a:moveTo>
                <a:lnTo>
                  <a:pt x="653568" y="0"/>
                </a:lnTo>
                <a:lnTo>
                  <a:pt x="653568" y="609600"/>
                </a:lnTo>
                <a:lnTo>
                  <a:pt x="0" y="609600"/>
                </a:lnTo>
                <a:lnTo>
                  <a:pt x="0" y="0"/>
                </a:lnTo>
                <a:close/>
              </a:path>
            </a:pathLst>
          </a:custGeom>
          <a:blipFill>
            <a:blip r:embed="rId21">
              <a:extLst>
                <a:ext uri="{96DAC541-7B7A-43D3-8B79-37D633B846F1}">
                  <asvg:svgBlip xmlns:asvg="http://schemas.microsoft.com/office/drawing/2016/SVG/main" r:embed="rId22"/>
                </a:ext>
              </a:extLst>
            </a:blip>
            <a:stretch>
              <a:fillRect l="0" t="-498" r="0" b="-498"/>
            </a:stretch>
          </a:blipFill>
        </p:spPr>
      </p:sp>
      <p:sp>
        <p:nvSpPr>
          <p:cNvPr name="Freeform 29" id="29"/>
          <p:cNvSpPr/>
          <p:nvPr/>
        </p:nvSpPr>
        <p:spPr>
          <a:xfrm flipH="false" flipV="false" rot="0">
            <a:off x="2743200" y="4663440"/>
            <a:ext cx="5212080" cy="960120"/>
          </a:xfrm>
          <a:custGeom>
            <a:avLst/>
            <a:gdLst/>
            <a:ahLst/>
            <a:cxnLst/>
            <a:rect r="r" b="b" t="t" l="l"/>
            <a:pathLst>
              <a:path h="960120" w="5212080">
                <a:moveTo>
                  <a:pt x="0" y="0"/>
                </a:moveTo>
                <a:lnTo>
                  <a:pt x="5212080" y="0"/>
                </a:lnTo>
                <a:lnTo>
                  <a:pt x="5212080" y="960120"/>
                </a:lnTo>
                <a:lnTo>
                  <a:pt x="0" y="960120"/>
                </a:lnTo>
                <a:lnTo>
                  <a:pt x="0" y="0"/>
                </a:lnTo>
                <a:close/>
              </a:path>
            </a:pathLst>
          </a:custGeom>
          <a:blipFill>
            <a:blip r:embed="rId23">
              <a:extLst>
                <a:ext uri="{96DAC541-7B7A-43D3-8B79-37D633B846F1}">
                  <asvg:svgBlip xmlns:asvg="http://schemas.microsoft.com/office/drawing/2016/SVG/main" r:embed="rId24"/>
                </a:ext>
              </a:extLst>
            </a:blip>
            <a:stretch>
              <a:fillRect l="0" t="-9436" r="0" b="-9437"/>
            </a:stretch>
          </a:blipFill>
        </p:spPr>
      </p:sp>
      <p:sp>
        <p:nvSpPr>
          <p:cNvPr name="Freeform 30" id="30"/>
          <p:cNvSpPr/>
          <p:nvPr/>
        </p:nvSpPr>
        <p:spPr>
          <a:xfrm flipH="false" flipV="false" rot="0">
            <a:off x="10497312" y="4663440"/>
            <a:ext cx="5212080" cy="960120"/>
          </a:xfrm>
          <a:custGeom>
            <a:avLst/>
            <a:gdLst/>
            <a:ahLst/>
            <a:cxnLst/>
            <a:rect r="r" b="b" t="t" l="l"/>
            <a:pathLst>
              <a:path h="960120" w="5212080">
                <a:moveTo>
                  <a:pt x="0" y="0"/>
                </a:moveTo>
                <a:lnTo>
                  <a:pt x="5212080" y="0"/>
                </a:lnTo>
                <a:lnTo>
                  <a:pt x="5212080" y="960120"/>
                </a:lnTo>
                <a:lnTo>
                  <a:pt x="0" y="960120"/>
                </a:lnTo>
                <a:lnTo>
                  <a:pt x="0" y="0"/>
                </a:lnTo>
                <a:close/>
              </a:path>
            </a:pathLst>
          </a:custGeom>
          <a:blipFill>
            <a:blip r:embed="rId23">
              <a:extLst>
                <a:ext uri="{96DAC541-7B7A-43D3-8B79-37D633B846F1}">
                  <asvg:svgBlip xmlns:asvg="http://schemas.microsoft.com/office/drawing/2016/SVG/main" r:embed="rId24"/>
                </a:ext>
              </a:extLst>
            </a:blip>
            <a:stretch>
              <a:fillRect l="0" t="-9436" r="0" b="-9437"/>
            </a:stretch>
          </a:blipFill>
        </p:spPr>
      </p:sp>
      <p:sp>
        <p:nvSpPr>
          <p:cNvPr name="TextBox 31" id="31"/>
          <p:cNvSpPr txBox="true"/>
          <p:nvPr/>
        </p:nvSpPr>
        <p:spPr>
          <a:xfrm rot="0">
            <a:off x="2103120" y="2295525"/>
            <a:ext cx="13990320" cy="981075"/>
          </a:xfrm>
          <a:prstGeom prst="rect">
            <a:avLst/>
          </a:prstGeom>
        </p:spPr>
        <p:txBody>
          <a:bodyPr anchor="t" rtlCol="false" tIns="0" lIns="0" bIns="0" rIns="0">
            <a:spAutoFit/>
          </a:bodyPr>
          <a:lstStyle/>
          <a:p>
            <a:pPr algn="ctr">
              <a:lnSpc>
                <a:spcPts val="3744"/>
              </a:lnSpc>
            </a:pPr>
            <a:r>
              <a:rPr lang="en-US" sz="2600">
                <a:solidFill>
                  <a:srgbClr val="FFFFFF"/>
                </a:solidFill>
                <a:latin typeface="Pixelated"/>
                <a:ea typeface="Pixelated"/>
                <a:cs typeface="Pixelated"/>
                <a:sym typeface="Pixelated"/>
              </a:rPr>
              <a:t>Notifications are messages shown by an app to inform or remind the user.</a:t>
            </a:r>
          </a:p>
          <a:p>
            <a:pPr algn="ctr">
              <a:lnSpc>
                <a:spcPts val="3744"/>
              </a:lnSpc>
            </a:pPr>
            <a:r>
              <a:rPr lang="en-US" sz="2600">
                <a:solidFill>
                  <a:srgbClr val="FFFFFF"/>
                </a:solidFill>
                <a:latin typeface="Pixelated"/>
                <a:ea typeface="Pixelated"/>
                <a:cs typeface="Pixelated"/>
                <a:sym typeface="Pixelated"/>
              </a:rPr>
              <a:t>They can appear even when the user is not currently using the app.</a:t>
            </a:r>
          </a:p>
        </p:txBody>
      </p:sp>
      <p:grpSp>
        <p:nvGrpSpPr>
          <p:cNvPr name="Group 32" id="32"/>
          <p:cNvGrpSpPr/>
          <p:nvPr/>
        </p:nvGrpSpPr>
        <p:grpSpPr>
          <a:xfrm rot="0">
            <a:off x="2103120" y="3390900"/>
            <a:ext cx="13990320" cy="457200"/>
            <a:chOff x="0" y="0"/>
            <a:chExt cx="18653760" cy="609600"/>
          </a:xfrm>
        </p:grpSpPr>
        <p:sp>
          <p:nvSpPr>
            <p:cNvPr name="Freeform 33" id="33"/>
            <p:cNvSpPr/>
            <p:nvPr/>
          </p:nvSpPr>
          <p:spPr>
            <a:xfrm flipH="false" flipV="false" rot="0">
              <a:off x="0" y="0"/>
              <a:ext cx="18653761" cy="609600"/>
            </a:xfrm>
            <a:custGeom>
              <a:avLst/>
              <a:gdLst/>
              <a:ahLst/>
              <a:cxnLst/>
              <a:rect r="r" b="b" t="t" l="l"/>
              <a:pathLst>
                <a:path h="609600" w="18653761">
                  <a:moveTo>
                    <a:pt x="0" y="0"/>
                  </a:moveTo>
                  <a:lnTo>
                    <a:pt x="18653761" y="0"/>
                  </a:lnTo>
                  <a:lnTo>
                    <a:pt x="18653761" y="609600"/>
                  </a:lnTo>
                  <a:lnTo>
                    <a:pt x="0" y="609600"/>
                  </a:lnTo>
                  <a:close/>
                </a:path>
              </a:pathLst>
            </a:custGeom>
            <a:blipFill>
              <a:blip r:embed="rId25">
                <a:alphaModFix amt="0"/>
              </a:blip>
              <a:stretch>
                <a:fillRect l="0" t="-546242" r="0" b="-546242"/>
              </a:stretch>
            </a:blipFill>
          </p:spPr>
        </p:sp>
        <p:sp>
          <p:nvSpPr>
            <p:cNvPr name="TextBox 34" id="34"/>
            <p:cNvSpPr txBox="true"/>
            <p:nvPr/>
          </p:nvSpPr>
          <p:spPr>
            <a:xfrm>
              <a:off x="0" y="-66675"/>
              <a:ext cx="18653760" cy="676275"/>
            </a:xfrm>
            <a:prstGeom prst="rect">
              <a:avLst/>
            </a:prstGeom>
          </p:spPr>
          <p:txBody>
            <a:bodyPr anchor="ctr" rtlCol="false" tIns="0" lIns="0" bIns="0" rIns="0"/>
            <a:lstStyle/>
            <a:p>
              <a:pPr algn="ctr">
                <a:lnSpc>
                  <a:spcPts val="4031"/>
                </a:lnSpc>
              </a:pPr>
              <a:r>
                <a:rPr lang="en-US" sz="2799">
                  <a:solidFill>
                    <a:srgbClr val="FFE066"/>
                  </a:solidFill>
                  <a:latin typeface="Pixelated"/>
                  <a:ea typeface="Pixelated"/>
                  <a:cs typeface="Pixelated"/>
                  <a:sym typeface="Pixelated"/>
                </a:rPr>
                <a:t>Two common types</a:t>
              </a:r>
            </a:p>
          </p:txBody>
        </p:sp>
      </p:grpSp>
      <p:grpSp>
        <p:nvGrpSpPr>
          <p:cNvPr name="Group 35" id="35"/>
          <p:cNvGrpSpPr/>
          <p:nvPr/>
        </p:nvGrpSpPr>
        <p:grpSpPr>
          <a:xfrm rot="0">
            <a:off x="2743200" y="4663440"/>
            <a:ext cx="5212080" cy="960120"/>
            <a:chOff x="0" y="0"/>
            <a:chExt cx="6949440" cy="1280160"/>
          </a:xfrm>
        </p:grpSpPr>
        <p:sp>
          <p:nvSpPr>
            <p:cNvPr name="Freeform 36" id="36"/>
            <p:cNvSpPr/>
            <p:nvPr/>
          </p:nvSpPr>
          <p:spPr>
            <a:xfrm flipH="false" flipV="false" rot="0">
              <a:off x="0" y="0"/>
              <a:ext cx="6949440" cy="1280160"/>
            </a:xfrm>
            <a:custGeom>
              <a:avLst/>
              <a:gdLst/>
              <a:ahLst/>
              <a:cxnLst/>
              <a:rect r="r" b="b" t="t" l="l"/>
              <a:pathLst>
                <a:path h="1280160" w="6949440">
                  <a:moveTo>
                    <a:pt x="0" y="0"/>
                  </a:moveTo>
                  <a:lnTo>
                    <a:pt x="6949440" y="0"/>
                  </a:lnTo>
                  <a:lnTo>
                    <a:pt x="6949440" y="1280160"/>
                  </a:lnTo>
                  <a:lnTo>
                    <a:pt x="0" y="1280160"/>
                  </a:lnTo>
                  <a:close/>
                </a:path>
              </a:pathLst>
            </a:custGeom>
            <a:blipFill>
              <a:blip r:embed="rId25">
                <a:alphaModFix amt="0"/>
              </a:blip>
              <a:stretch>
                <a:fillRect l="0" t="-55775" r="0" b="-55775"/>
              </a:stretch>
            </a:blipFill>
          </p:spPr>
        </p:sp>
        <p:sp>
          <p:nvSpPr>
            <p:cNvPr name="TextBox 37" id="37"/>
            <p:cNvSpPr txBox="true"/>
            <p:nvPr/>
          </p:nvSpPr>
          <p:spPr>
            <a:xfrm>
              <a:off x="0" y="-9525"/>
              <a:ext cx="6949440" cy="1289685"/>
            </a:xfrm>
            <a:prstGeom prst="rect">
              <a:avLst/>
            </a:prstGeom>
          </p:spPr>
          <p:txBody>
            <a:bodyPr anchor="ctr" rtlCol="false" tIns="0" lIns="0" bIns="0" rIns="0"/>
            <a:lstStyle/>
            <a:p>
              <a:pPr algn="ctr">
                <a:lnSpc>
                  <a:spcPts val="3600"/>
                </a:lnSpc>
              </a:pPr>
              <a:r>
                <a:rPr lang="en-US" sz="3000">
                  <a:solidFill>
                    <a:srgbClr val="000000"/>
                  </a:solidFill>
                  <a:latin typeface="Pixelated"/>
                  <a:ea typeface="Pixelated"/>
                  <a:cs typeface="Pixelated"/>
                  <a:sym typeface="Pixelated"/>
                </a:rPr>
                <a:t>Local Notification</a:t>
              </a:r>
            </a:p>
          </p:txBody>
        </p:sp>
      </p:grpSp>
      <p:grpSp>
        <p:nvGrpSpPr>
          <p:cNvPr name="Group 38" id="38"/>
          <p:cNvGrpSpPr/>
          <p:nvPr/>
        </p:nvGrpSpPr>
        <p:grpSpPr>
          <a:xfrm rot="0">
            <a:off x="10497312" y="4663440"/>
            <a:ext cx="5212080" cy="960120"/>
            <a:chOff x="0" y="0"/>
            <a:chExt cx="6949440" cy="1280160"/>
          </a:xfrm>
        </p:grpSpPr>
        <p:sp>
          <p:nvSpPr>
            <p:cNvPr name="Freeform 39" id="39"/>
            <p:cNvSpPr/>
            <p:nvPr/>
          </p:nvSpPr>
          <p:spPr>
            <a:xfrm flipH="false" flipV="false" rot="0">
              <a:off x="0" y="0"/>
              <a:ext cx="6949440" cy="1280160"/>
            </a:xfrm>
            <a:custGeom>
              <a:avLst/>
              <a:gdLst/>
              <a:ahLst/>
              <a:cxnLst/>
              <a:rect r="r" b="b" t="t" l="l"/>
              <a:pathLst>
                <a:path h="1280160" w="6949440">
                  <a:moveTo>
                    <a:pt x="0" y="0"/>
                  </a:moveTo>
                  <a:lnTo>
                    <a:pt x="6949440" y="0"/>
                  </a:lnTo>
                  <a:lnTo>
                    <a:pt x="6949440" y="1280160"/>
                  </a:lnTo>
                  <a:lnTo>
                    <a:pt x="0" y="1280160"/>
                  </a:lnTo>
                  <a:close/>
                </a:path>
              </a:pathLst>
            </a:custGeom>
            <a:blipFill>
              <a:blip r:embed="rId25">
                <a:alphaModFix amt="0"/>
              </a:blip>
              <a:stretch>
                <a:fillRect l="0" t="-55775" r="0" b="-55775"/>
              </a:stretch>
            </a:blipFill>
          </p:spPr>
        </p:sp>
        <p:sp>
          <p:nvSpPr>
            <p:cNvPr name="TextBox 40" id="40"/>
            <p:cNvSpPr txBox="true"/>
            <p:nvPr/>
          </p:nvSpPr>
          <p:spPr>
            <a:xfrm>
              <a:off x="0" y="-9525"/>
              <a:ext cx="6949440" cy="1289685"/>
            </a:xfrm>
            <a:prstGeom prst="rect">
              <a:avLst/>
            </a:prstGeom>
          </p:spPr>
          <p:txBody>
            <a:bodyPr anchor="ctr" rtlCol="false" tIns="0" lIns="0" bIns="0" rIns="0"/>
            <a:lstStyle/>
            <a:p>
              <a:pPr algn="ctr">
                <a:lnSpc>
                  <a:spcPts val="3600"/>
                </a:lnSpc>
              </a:pPr>
              <a:r>
                <a:rPr lang="en-US" sz="3000">
                  <a:solidFill>
                    <a:srgbClr val="000000"/>
                  </a:solidFill>
                  <a:latin typeface="Pixelated"/>
                  <a:ea typeface="Pixelated"/>
                  <a:cs typeface="Pixelated"/>
                  <a:sym typeface="Pixelated"/>
                </a:rPr>
                <a:t>Push Notification</a:t>
              </a:r>
            </a:p>
          </p:txBody>
        </p:sp>
      </p:grpSp>
      <p:grpSp>
        <p:nvGrpSpPr>
          <p:cNvPr name="Group 41" id="41"/>
          <p:cNvGrpSpPr/>
          <p:nvPr/>
        </p:nvGrpSpPr>
        <p:grpSpPr>
          <a:xfrm rot="0">
            <a:off x="2377440" y="5760720"/>
            <a:ext cx="5943600" cy="457200"/>
            <a:chOff x="0" y="0"/>
            <a:chExt cx="7924800" cy="609600"/>
          </a:xfrm>
        </p:grpSpPr>
        <p:sp>
          <p:nvSpPr>
            <p:cNvPr name="Freeform 42" id="42"/>
            <p:cNvSpPr/>
            <p:nvPr/>
          </p:nvSpPr>
          <p:spPr>
            <a:xfrm flipH="false" flipV="false" rot="0">
              <a:off x="0" y="0"/>
              <a:ext cx="7924800" cy="609600"/>
            </a:xfrm>
            <a:custGeom>
              <a:avLst/>
              <a:gdLst/>
              <a:ahLst/>
              <a:cxnLst/>
              <a:rect r="r" b="b" t="t" l="l"/>
              <a:pathLst>
                <a:path h="609600" w="7924800">
                  <a:moveTo>
                    <a:pt x="0" y="0"/>
                  </a:moveTo>
                  <a:lnTo>
                    <a:pt x="7924800" y="0"/>
                  </a:lnTo>
                  <a:lnTo>
                    <a:pt x="7924800" y="609600"/>
                  </a:lnTo>
                  <a:lnTo>
                    <a:pt x="0" y="609600"/>
                  </a:lnTo>
                  <a:close/>
                </a:path>
              </a:pathLst>
            </a:custGeom>
            <a:blipFill>
              <a:blip r:embed="rId25">
                <a:alphaModFix amt="0"/>
              </a:blip>
              <a:stretch>
                <a:fillRect l="0" t="-203305" r="0" b="-203305"/>
              </a:stretch>
            </a:blipFill>
          </p:spPr>
        </p:sp>
        <p:sp>
          <p:nvSpPr>
            <p:cNvPr name="TextBox 43" id="43"/>
            <p:cNvSpPr txBox="true"/>
            <p:nvPr/>
          </p:nvSpPr>
          <p:spPr>
            <a:xfrm>
              <a:off x="0" y="-66675"/>
              <a:ext cx="7924800" cy="676275"/>
            </a:xfrm>
            <a:prstGeom prst="rect">
              <a:avLst/>
            </a:prstGeom>
          </p:spPr>
          <p:txBody>
            <a:bodyPr anchor="ctr" rtlCol="false" tIns="0" lIns="0" bIns="0" rIns="0"/>
            <a:lstStyle/>
            <a:p>
              <a:pPr algn="ctr">
                <a:lnSpc>
                  <a:spcPts val="3744"/>
                </a:lnSpc>
              </a:pPr>
              <a:r>
                <a:rPr lang="en-US" sz="2600">
                  <a:solidFill>
                    <a:srgbClr val="FFFFFF"/>
                  </a:solidFill>
                  <a:latin typeface="Pixelated"/>
                  <a:ea typeface="Pixelated"/>
                  <a:cs typeface="Pixelated"/>
                  <a:sym typeface="Pixelated"/>
                </a:rPr>
                <a:t>Created by the app/device.</a:t>
              </a:r>
            </a:p>
          </p:txBody>
        </p:sp>
      </p:grpSp>
      <p:grpSp>
        <p:nvGrpSpPr>
          <p:cNvPr name="Group 44" id="44"/>
          <p:cNvGrpSpPr/>
          <p:nvPr/>
        </p:nvGrpSpPr>
        <p:grpSpPr>
          <a:xfrm rot="0">
            <a:off x="10149840" y="5760720"/>
            <a:ext cx="5943600" cy="485036"/>
            <a:chOff x="0" y="0"/>
            <a:chExt cx="7924800" cy="646715"/>
          </a:xfrm>
        </p:grpSpPr>
        <p:sp>
          <p:nvSpPr>
            <p:cNvPr name="Freeform 45" id="45"/>
            <p:cNvSpPr/>
            <p:nvPr/>
          </p:nvSpPr>
          <p:spPr>
            <a:xfrm flipH="false" flipV="false" rot="0">
              <a:off x="0" y="0"/>
              <a:ext cx="7924800" cy="646715"/>
            </a:xfrm>
            <a:custGeom>
              <a:avLst/>
              <a:gdLst/>
              <a:ahLst/>
              <a:cxnLst/>
              <a:rect r="r" b="b" t="t" l="l"/>
              <a:pathLst>
                <a:path h="646715" w="7924800">
                  <a:moveTo>
                    <a:pt x="0" y="0"/>
                  </a:moveTo>
                  <a:lnTo>
                    <a:pt x="7924800" y="0"/>
                  </a:lnTo>
                  <a:lnTo>
                    <a:pt x="7924800" y="646715"/>
                  </a:lnTo>
                  <a:lnTo>
                    <a:pt x="0" y="646715"/>
                  </a:lnTo>
                  <a:close/>
                </a:path>
              </a:pathLst>
            </a:custGeom>
            <a:blipFill>
              <a:blip r:embed="rId25">
                <a:alphaModFix amt="0"/>
              </a:blip>
              <a:stretch>
                <a:fillRect l="0" t="-191637" r="0" b="-185898"/>
              </a:stretch>
            </a:blipFill>
          </p:spPr>
        </p:sp>
        <p:sp>
          <p:nvSpPr>
            <p:cNvPr name="TextBox 46" id="46"/>
            <p:cNvSpPr txBox="true"/>
            <p:nvPr/>
          </p:nvSpPr>
          <p:spPr>
            <a:xfrm>
              <a:off x="0" y="-66675"/>
              <a:ext cx="7924800" cy="713390"/>
            </a:xfrm>
            <a:prstGeom prst="rect">
              <a:avLst/>
            </a:prstGeom>
          </p:spPr>
          <p:txBody>
            <a:bodyPr anchor="ctr" rtlCol="false" tIns="0" lIns="0" bIns="0" rIns="0"/>
            <a:lstStyle/>
            <a:p>
              <a:pPr algn="ctr">
                <a:lnSpc>
                  <a:spcPts val="3744"/>
                </a:lnSpc>
              </a:pPr>
              <a:r>
                <a:rPr lang="en-US" sz="2600">
                  <a:solidFill>
                    <a:srgbClr val="FFFFFF"/>
                  </a:solidFill>
                  <a:latin typeface="Pixelated"/>
                  <a:ea typeface="Pixelated"/>
                  <a:cs typeface="Pixelated"/>
                  <a:sym typeface="Pixelated"/>
                </a:rPr>
                <a:t>Sent from the app's server.</a:t>
              </a:r>
            </a:p>
          </p:txBody>
        </p:sp>
      </p:grpSp>
      <p:grpSp>
        <p:nvGrpSpPr>
          <p:cNvPr name="Group 47" id="47"/>
          <p:cNvGrpSpPr/>
          <p:nvPr/>
        </p:nvGrpSpPr>
        <p:grpSpPr>
          <a:xfrm rot="0">
            <a:off x="2377440" y="6355080"/>
            <a:ext cx="5943600" cy="457200"/>
            <a:chOff x="0" y="0"/>
            <a:chExt cx="7924800" cy="609600"/>
          </a:xfrm>
        </p:grpSpPr>
        <p:sp>
          <p:nvSpPr>
            <p:cNvPr name="Freeform 48" id="48"/>
            <p:cNvSpPr/>
            <p:nvPr/>
          </p:nvSpPr>
          <p:spPr>
            <a:xfrm flipH="false" flipV="false" rot="0">
              <a:off x="0" y="0"/>
              <a:ext cx="7924800" cy="609600"/>
            </a:xfrm>
            <a:custGeom>
              <a:avLst/>
              <a:gdLst/>
              <a:ahLst/>
              <a:cxnLst/>
              <a:rect r="r" b="b" t="t" l="l"/>
              <a:pathLst>
                <a:path h="609600" w="7924800">
                  <a:moveTo>
                    <a:pt x="0" y="0"/>
                  </a:moveTo>
                  <a:lnTo>
                    <a:pt x="7924800" y="0"/>
                  </a:lnTo>
                  <a:lnTo>
                    <a:pt x="7924800" y="609600"/>
                  </a:lnTo>
                  <a:lnTo>
                    <a:pt x="0" y="609600"/>
                  </a:lnTo>
                  <a:close/>
                </a:path>
              </a:pathLst>
            </a:custGeom>
            <a:blipFill>
              <a:blip r:embed="rId25">
                <a:alphaModFix amt="0"/>
              </a:blip>
              <a:stretch>
                <a:fillRect l="0" t="-203305" r="0" b="-203305"/>
              </a:stretch>
            </a:blipFill>
          </p:spPr>
        </p:sp>
        <p:sp>
          <p:nvSpPr>
            <p:cNvPr name="TextBox 49" id="49"/>
            <p:cNvSpPr txBox="true"/>
            <p:nvPr/>
          </p:nvSpPr>
          <p:spPr>
            <a:xfrm>
              <a:off x="0" y="-66675"/>
              <a:ext cx="7924800" cy="676275"/>
            </a:xfrm>
            <a:prstGeom prst="rect">
              <a:avLst/>
            </a:prstGeom>
          </p:spPr>
          <p:txBody>
            <a:bodyPr anchor="ctr" rtlCol="false" tIns="0" lIns="0" bIns="0" rIns="0"/>
            <a:lstStyle/>
            <a:p>
              <a:pPr algn="ctr">
                <a:lnSpc>
                  <a:spcPts val="4031"/>
                </a:lnSpc>
              </a:pPr>
              <a:r>
                <a:rPr lang="en-US" sz="2799">
                  <a:solidFill>
                    <a:srgbClr val="FFE066"/>
                  </a:solidFill>
                  <a:latin typeface="Pixelated"/>
                  <a:ea typeface="Pixelated"/>
                  <a:cs typeface="Pixelated"/>
                  <a:sym typeface="Pixelated"/>
                </a:rPr>
                <a:t>Flutter</a:t>
              </a:r>
            </a:p>
          </p:txBody>
        </p:sp>
      </p:grpSp>
      <p:grpSp>
        <p:nvGrpSpPr>
          <p:cNvPr name="Group 50" id="50"/>
          <p:cNvGrpSpPr/>
          <p:nvPr/>
        </p:nvGrpSpPr>
        <p:grpSpPr>
          <a:xfrm rot="0">
            <a:off x="10149840" y="6355080"/>
            <a:ext cx="5943600" cy="457200"/>
            <a:chOff x="0" y="0"/>
            <a:chExt cx="7924800" cy="609600"/>
          </a:xfrm>
        </p:grpSpPr>
        <p:sp>
          <p:nvSpPr>
            <p:cNvPr name="Freeform 51" id="51"/>
            <p:cNvSpPr/>
            <p:nvPr/>
          </p:nvSpPr>
          <p:spPr>
            <a:xfrm flipH="false" flipV="false" rot="0">
              <a:off x="0" y="0"/>
              <a:ext cx="7924800" cy="609600"/>
            </a:xfrm>
            <a:custGeom>
              <a:avLst/>
              <a:gdLst/>
              <a:ahLst/>
              <a:cxnLst/>
              <a:rect r="r" b="b" t="t" l="l"/>
              <a:pathLst>
                <a:path h="609600" w="7924800">
                  <a:moveTo>
                    <a:pt x="0" y="0"/>
                  </a:moveTo>
                  <a:lnTo>
                    <a:pt x="7924800" y="0"/>
                  </a:lnTo>
                  <a:lnTo>
                    <a:pt x="7924800" y="609600"/>
                  </a:lnTo>
                  <a:lnTo>
                    <a:pt x="0" y="609600"/>
                  </a:lnTo>
                  <a:close/>
                </a:path>
              </a:pathLst>
            </a:custGeom>
            <a:blipFill>
              <a:blip r:embed="rId25">
                <a:alphaModFix amt="0"/>
              </a:blip>
              <a:stretch>
                <a:fillRect l="0" t="-203305" r="0" b="-203305"/>
              </a:stretch>
            </a:blipFill>
          </p:spPr>
        </p:sp>
        <p:sp>
          <p:nvSpPr>
            <p:cNvPr name="TextBox 52" id="52"/>
            <p:cNvSpPr txBox="true"/>
            <p:nvPr/>
          </p:nvSpPr>
          <p:spPr>
            <a:xfrm>
              <a:off x="0" y="-66675"/>
              <a:ext cx="7924800" cy="676275"/>
            </a:xfrm>
            <a:prstGeom prst="rect">
              <a:avLst/>
            </a:prstGeom>
          </p:spPr>
          <p:txBody>
            <a:bodyPr anchor="ctr" rtlCol="false" tIns="0" lIns="0" bIns="0" rIns="0"/>
            <a:lstStyle/>
            <a:p>
              <a:pPr algn="ctr">
                <a:lnSpc>
                  <a:spcPts val="4031"/>
                </a:lnSpc>
              </a:pPr>
              <a:r>
                <a:rPr lang="en-US" sz="2799">
                  <a:solidFill>
                    <a:srgbClr val="FFE066"/>
                  </a:solidFill>
                  <a:latin typeface="Pixelated"/>
                  <a:ea typeface="Pixelated"/>
                  <a:cs typeface="Pixelated"/>
                  <a:sym typeface="Pixelated"/>
                </a:rPr>
                <a:t>Flutter</a:t>
              </a:r>
            </a:p>
          </p:txBody>
        </p:sp>
      </p:grpSp>
      <p:sp>
        <p:nvSpPr>
          <p:cNvPr name="TextBox 53" id="53"/>
          <p:cNvSpPr txBox="true"/>
          <p:nvPr/>
        </p:nvSpPr>
        <p:spPr>
          <a:xfrm rot="0">
            <a:off x="2377440" y="6837045"/>
            <a:ext cx="5943600" cy="935355"/>
          </a:xfrm>
          <a:prstGeom prst="rect">
            <a:avLst/>
          </a:prstGeom>
        </p:spPr>
        <p:txBody>
          <a:bodyPr anchor="t" rtlCol="false" tIns="0" lIns="0" bIns="0" rIns="0">
            <a:spAutoFit/>
          </a:bodyPr>
          <a:lstStyle/>
          <a:p>
            <a:pPr algn="ctr">
              <a:lnSpc>
                <a:spcPts val="3456"/>
              </a:lnSpc>
            </a:pPr>
            <a:r>
              <a:rPr lang="en-US" sz="2400">
                <a:solidFill>
                  <a:srgbClr val="FFFFFF"/>
                </a:solidFill>
                <a:latin typeface="Pixelated"/>
                <a:ea typeface="Pixelated"/>
                <a:cs typeface="Pixelated"/>
                <a:sym typeface="Pixelated"/>
              </a:rPr>
              <a:t>For local notifications, a commonly used package is:</a:t>
            </a:r>
          </a:p>
        </p:txBody>
      </p:sp>
      <p:sp>
        <p:nvSpPr>
          <p:cNvPr name="TextBox 54" id="54"/>
          <p:cNvSpPr txBox="true"/>
          <p:nvPr/>
        </p:nvSpPr>
        <p:spPr>
          <a:xfrm rot="0">
            <a:off x="10149840" y="6837045"/>
            <a:ext cx="5943600" cy="935355"/>
          </a:xfrm>
          <a:prstGeom prst="rect">
            <a:avLst/>
          </a:prstGeom>
        </p:spPr>
        <p:txBody>
          <a:bodyPr anchor="t" rtlCol="false" tIns="0" lIns="0" bIns="0" rIns="0">
            <a:spAutoFit/>
          </a:bodyPr>
          <a:lstStyle/>
          <a:p>
            <a:pPr algn="ctr">
              <a:lnSpc>
                <a:spcPts val="3456"/>
              </a:lnSpc>
            </a:pPr>
            <a:r>
              <a:rPr lang="en-US" sz="2400">
                <a:solidFill>
                  <a:srgbClr val="FFFFFF"/>
                </a:solidFill>
                <a:latin typeface="Pixelated"/>
                <a:ea typeface="Pixelated"/>
                <a:cs typeface="Pixelated"/>
                <a:sym typeface="Pixelated"/>
              </a:rPr>
              <a:t>For push notifications:</a:t>
            </a:r>
          </a:p>
        </p:txBody>
      </p:sp>
      <p:grpSp>
        <p:nvGrpSpPr>
          <p:cNvPr name="Group 55" id="55"/>
          <p:cNvGrpSpPr/>
          <p:nvPr/>
        </p:nvGrpSpPr>
        <p:grpSpPr>
          <a:xfrm rot="0">
            <a:off x="2586990" y="7890510"/>
            <a:ext cx="5524500" cy="769620"/>
            <a:chOff x="0" y="0"/>
            <a:chExt cx="7366000" cy="1026160"/>
          </a:xfrm>
        </p:grpSpPr>
        <p:sp>
          <p:nvSpPr>
            <p:cNvPr name="Freeform 56" id="56"/>
            <p:cNvSpPr/>
            <p:nvPr/>
          </p:nvSpPr>
          <p:spPr>
            <a:xfrm flipH="false" flipV="false" rot="0">
              <a:off x="0" y="0"/>
              <a:ext cx="7366000" cy="1026160"/>
            </a:xfrm>
            <a:custGeom>
              <a:avLst/>
              <a:gdLst/>
              <a:ahLst/>
              <a:cxnLst/>
              <a:rect r="r" b="b" t="t" l="l"/>
              <a:pathLst>
                <a:path h="1026160" w="7366000">
                  <a:moveTo>
                    <a:pt x="0" y="184658"/>
                  </a:moveTo>
                  <a:cubicBezTo>
                    <a:pt x="0" y="82677"/>
                    <a:pt x="82677" y="0"/>
                    <a:pt x="184658" y="0"/>
                  </a:cubicBezTo>
                  <a:lnTo>
                    <a:pt x="7181342" y="0"/>
                  </a:lnTo>
                  <a:cubicBezTo>
                    <a:pt x="7283323" y="0"/>
                    <a:pt x="7366000" y="82677"/>
                    <a:pt x="7366000" y="184658"/>
                  </a:cubicBezTo>
                  <a:lnTo>
                    <a:pt x="7366000" y="841502"/>
                  </a:lnTo>
                  <a:cubicBezTo>
                    <a:pt x="7366000" y="943483"/>
                    <a:pt x="7283323" y="1026160"/>
                    <a:pt x="7181342" y="1026160"/>
                  </a:cubicBezTo>
                  <a:lnTo>
                    <a:pt x="184658" y="1026160"/>
                  </a:lnTo>
                  <a:cubicBezTo>
                    <a:pt x="82677" y="1026160"/>
                    <a:pt x="0" y="943483"/>
                    <a:pt x="0" y="841502"/>
                  </a:cubicBezTo>
                  <a:close/>
                </a:path>
              </a:pathLst>
            </a:custGeom>
            <a:solidFill>
              <a:srgbClr val="1E1E1E"/>
            </a:solidFill>
            <a:ln w="38100" cap="sq">
              <a:solidFill>
                <a:srgbClr val="000000"/>
              </a:solidFill>
              <a:prstDash val="solid"/>
              <a:miter/>
            </a:ln>
          </p:spPr>
        </p:sp>
        <p:sp>
          <p:nvSpPr>
            <p:cNvPr name="TextBox 57" id="57"/>
            <p:cNvSpPr txBox="true"/>
            <p:nvPr/>
          </p:nvSpPr>
          <p:spPr>
            <a:xfrm>
              <a:off x="0" y="-9525"/>
              <a:ext cx="7366000" cy="1035685"/>
            </a:xfrm>
            <a:prstGeom prst="rect">
              <a:avLst/>
            </a:prstGeom>
          </p:spPr>
          <p:txBody>
            <a:bodyPr anchor="ctr" rtlCol="false" tIns="50800" lIns="50800" bIns="50800" rIns="50800"/>
            <a:lstStyle/>
            <a:p>
              <a:pPr algn="ctr">
                <a:lnSpc>
                  <a:spcPts val="2520"/>
                </a:lnSpc>
              </a:pPr>
              <a:r>
                <a:rPr lang="en-US" sz="2100">
                  <a:solidFill>
                    <a:srgbClr val="9CDCFE"/>
                  </a:solidFill>
                  <a:latin typeface="Courier New"/>
                  <a:ea typeface="Courier New"/>
                  <a:cs typeface="Courier New"/>
                  <a:sym typeface="Courier New"/>
                </a:rPr>
                <a:t>flutter_local_notifications</a:t>
              </a:r>
            </a:p>
          </p:txBody>
        </p:sp>
      </p:grpSp>
      <p:grpSp>
        <p:nvGrpSpPr>
          <p:cNvPr name="Group 58" id="58"/>
          <p:cNvGrpSpPr/>
          <p:nvPr/>
        </p:nvGrpSpPr>
        <p:grpSpPr>
          <a:xfrm rot="0">
            <a:off x="10359390" y="7890510"/>
            <a:ext cx="5524500" cy="769620"/>
            <a:chOff x="0" y="0"/>
            <a:chExt cx="7366000" cy="1026160"/>
          </a:xfrm>
        </p:grpSpPr>
        <p:sp>
          <p:nvSpPr>
            <p:cNvPr name="Freeform 59" id="59"/>
            <p:cNvSpPr/>
            <p:nvPr/>
          </p:nvSpPr>
          <p:spPr>
            <a:xfrm flipH="false" flipV="false" rot="0">
              <a:off x="0" y="0"/>
              <a:ext cx="7366000" cy="1026160"/>
            </a:xfrm>
            <a:custGeom>
              <a:avLst/>
              <a:gdLst/>
              <a:ahLst/>
              <a:cxnLst/>
              <a:rect r="r" b="b" t="t" l="l"/>
              <a:pathLst>
                <a:path h="1026160" w="7366000">
                  <a:moveTo>
                    <a:pt x="0" y="184658"/>
                  </a:moveTo>
                  <a:cubicBezTo>
                    <a:pt x="0" y="82677"/>
                    <a:pt x="82677" y="0"/>
                    <a:pt x="184658" y="0"/>
                  </a:cubicBezTo>
                  <a:lnTo>
                    <a:pt x="7181342" y="0"/>
                  </a:lnTo>
                  <a:cubicBezTo>
                    <a:pt x="7283323" y="0"/>
                    <a:pt x="7366000" y="82677"/>
                    <a:pt x="7366000" y="184658"/>
                  </a:cubicBezTo>
                  <a:lnTo>
                    <a:pt x="7366000" y="841502"/>
                  </a:lnTo>
                  <a:cubicBezTo>
                    <a:pt x="7366000" y="943483"/>
                    <a:pt x="7283323" y="1026160"/>
                    <a:pt x="7181342" y="1026160"/>
                  </a:cubicBezTo>
                  <a:lnTo>
                    <a:pt x="184658" y="1026160"/>
                  </a:lnTo>
                  <a:cubicBezTo>
                    <a:pt x="82677" y="1026160"/>
                    <a:pt x="0" y="943483"/>
                    <a:pt x="0" y="841502"/>
                  </a:cubicBezTo>
                  <a:close/>
                </a:path>
              </a:pathLst>
            </a:custGeom>
            <a:solidFill>
              <a:srgbClr val="1E1E1E"/>
            </a:solidFill>
            <a:ln w="38100" cap="sq">
              <a:solidFill>
                <a:srgbClr val="000000"/>
              </a:solidFill>
              <a:prstDash val="solid"/>
              <a:miter/>
            </a:ln>
          </p:spPr>
        </p:sp>
        <p:sp>
          <p:nvSpPr>
            <p:cNvPr name="TextBox 60" id="60"/>
            <p:cNvSpPr txBox="true"/>
            <p:nvPr/>
          </p:nvSpPr>
          <p:spPr>
            <a:xfrm>
              <a:off x="0" y="-9525"/>
              <a:ext cx="7366000" cy="1035685"/>
            </a:xfrm>
            <a:prstGeom prst="rect">
              <a:avLst/>
            </a:prstGeom>
          </p:spPr>
          <p:txBody>
            <a:bodyPr anchor="ctr" rtlCol="false" tIns="50800" lIns="50800" bIns="50800" rIns="50800"/>
            <a:lstStyle/>
            <a:p>
              <a:pPr algn="ctr">
                <a:lnSpc>
                  <a:spcPts val="2520"/>
                </a:lnSpc>
              </a:pPr>
              <a:r>
                <a:rPr lang="en-US" sz="2100">
                  <a:solidFill>
                    <a:srgbClr val="9CDCFE"/>
                  </a:solidFill>
                  <a:latin typeface="Courier New"/>
                  <a:ea typeface="Courier New"/>
                  <a:cs typeface="Courier New"/>
                  <a:sym typeface="Courier New"/>
                </a:rPr>
                <a:t>Firebase Cloud Messaging (FCM)</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59"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7" id="7"/>
          <p:cNvSpPr/>
          <p:nvPr/>
        </p:nvSpPr>
        <p:spPr>
          <a:xfrm flipH="false" flipV="false" rot="0">
            <a:off x="13716000"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8" id="8"/>
          <p:cNvSpPr/>
          <p:nvPr/>
        </p:nvSpPr>
        <p:spPr>
          <a:xfrm flipH="false" flipV="false" rot="0">
            <a:off x="15606293" y="4526280"/>
            <a:ext cx="1735693" cy="4114800"/>
          </a:xfrm>
          <a:custGeom>
            <a:avLst/>
            <a:gdLst/>
            <a:ahLst/>
            <a:cxnLst/>
            <a:rect r="r" b="b" t="t" l="l"/>
            <a:pathLst>
              <a:path h="4114800" w="1735693">
                <a:moveTo>
                  <a:pt x="0" y="0"/>
                </a:moveTo>
                <a:lnTo>
                  <a:pt x="1735694" y="0"/>
                </a:lnTo>
                <a:lnTo>
                  <a:pt x="173569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9" id="9"/>
          <p:cNvSpPr/>
          <p:nvPr/>
        </p:nvSpPr>
        <p:spPr>
          <a:xfrm flipH="false" flipV="false" rot="0">
            <a:off x="11275390"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0" id="10"/>
          <p:cNvSpPr/>
          <p:nvPr/>
        </p:nvSpPr>
        <p:spPr>
          <a:xfrm flipH="false" flipV="false" rot="0">
            <a:off x="5637695"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1" id="11"/>
          <p:cNvSpPr/>
          <p:nvPr/>
        </p:nvSpPr>
        <p:spPr>
          <a:xfrm flipH="false" flipV="false" rot="0">
            <a:off x="1028700" y="4526280"/>
            <a:ext cx="1735693" cy="4114800"/>
          </a:xfrm>
          <a:custGeom>
            <a:avLst/>
            <a:gdLst/>
            <a:ahLst/>
            <a:cxnLst/>
            <a:rect r="r" b="b" t="t" l="l"/>
            <a:pathLst>
              <a:path h="4114800" w="1735693">
                <a:moveTo>
                  <a:pt x="0" y="0"/>
                </a:moveTo>
                <a:lnTo>
                  <a:pt x="1735693" y="0"/>
                </a:lnTo>
                <a:lnTo>
                  <a:pt x="173569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12" id="12"/>
          <p:cNvSpPr/>
          <p:nvPr/>
        </p:nvSpPr>
        <p:spPr>
          <a:xfrm flipH="false" flipV="false" rot="0">
            <a:off x="5477789" y="7654261"/>
            <a:ext cx="958044" cy="958044"/>
          </a:xfrm>
          <a:custGeom>
            <a:avLst/>
            <a:gdLst/>
            <a:ahLst/>
            <a:cxnLst/>
            <a:rect r="r" b="b" t="t" l="l"/>
            <a:pathLst>
              <a:path h="958044" w="958044">
                <a:moveTo>
                  <a:pt x="0" y="0"/>
                </a:moveTo>
                <a:lnTo>
                  <a:pt x="958044" y="0"/>
                </a:lnTo>
                <a:lnTo>
                  <a:pt x="958044"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5" y="7654261"/>
            <a:ext cx="958044" cy="958044"/>
          </a:xfrm>
          <a:custGeom>
            <a:avLst/>
            <a:gdLst/>
            <a:ahLst/>
            <a:cxnLst/>
            <a:rect r="r" b="b" t="t" l="l"/>
            <a:pathLst>
              <a:path h="958044" w="958044">
                <a:moveTo>
                  <a:pt x="0" y="0"/>
                </a:moveTo>
                <a:lnTo>
                  <a:pt x="958043" y="0"/>
                </a:lnTo>
                <a:lnTo>
                  <a:pt x="958043"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3" y="4795695"/>
            <a:ext cx="1956883" cy="3816610"/>
          </a:xfrm>
          <a:custGeom>
            <a:avLst/>
            <a:gdLst/>
            <a:ahLst/>
            <a:cxnLst/>
            <a:rect r="r" b="b" t="t" l="l"/>
            <a:pathLst>
              <a:path h="3816610" w="1956883">
                <a:moveTo>
                  <a:pt x="0" y="0"/>
                </a:moveTo>
                <a:lnTo>
                  <a:pt x="1956883" y="0"/>
                </a:lnTo>
                <a:lnTo>
                  <a:pt x="1956883" y="3816610"/>
                </a:lnTo>
                <a:lnTo>
                  <a:pt x="0" y="3816610"/>
                </a:lnTo>
                <a:lnTo>
                  <a:pt x="0" y="0"/>
                </a:lnTo>
                <a:close/>
              </a:path>
            </a:pathLst>
          </a:custGeom>
          <a:blipFill>
            <a:blip r:embed="rId14">
              <a:extLst>
                <a:ext uri="{96DAC541-7B7A-43D3-8B79-37D633B846F1}">
                  <asvg:svgBlip xmlns:asvg="http://schemas.microsoft.com/office/drawing/2016/SVG/main" r:embed="rId15"/>
                </a:ext>
              </a:extLst>
            </a:blip>
            <a:stretch>
              <a:fillRect l="-96" t="0" r="-96" b="0"/>
            </a:stretch>
          </a:blipFill>
        </p:spPr>
      </p:sp>
      <p:sp>
        <p:nvSpPr>
          <p:cNvPr name="Freeform 15" id="15"/>
          <p:cNvSpPr/>
          <p:nvPr/>
        </p:nvSpPr>
        <p:spPr>
          <a:xfrm flipH="false" flipV="false" rot="0">
            <a:off x="495809" y="720090"/>
            <a:ext cx="17600860" cy="9443034"/>
          </a:xfrm>
          <a:custGeom>
            <a:avLst/>
            <a:gdLst/>
            <a:ahLst/>
            <a:cxnLst/>
            <a:rect r="r" b="b" t="t" l="l"/>
            <a:pathLst>
              <a:path h="9443034" w="17600860">
                <a:moveTo>
                  <a:pt x="0" y="0"/>
                </a:moveTo>
                <a:lnTo>
                  <a:pt x="17600860" y="0"/>
                </a:lnTo>
                <a:lnTo>
                  <a:pt x="17600860" y="9443034"/>
                </a:lnTo>
                <a:lnTo>
                  <a:pt x="0" y="944303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0"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7" id="17"/>
          <p:cNvSpPr/>
          <p:nvPr/>
        </p:nvSpPr>
        <p:spPr>
          <a:xfrm flipH="false" flipV="false" rot="0">
            <a:off x="16754304"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grpSp>
        <p:nvGrpSpPr>
          <p:cNvPr name="Group 18" id="18"/>
          <p:cNvGrpSpPr/>
          <p:nvPr/>
        </p:nvGrpSpPr>
        <p:grpSpPr>
          <a:xfrm rot="0">
            <a:off x="1896551" y="411480"/>
            <a:ext cx="715613" cy="617220"/>
            <a:chOff x="0" y="0"/>
            <a:chExt cx="954151" cy="822960"/>
          </a:xfrm>
        </p:grpSpPr>
        <p:sp>
          <p:nvSpPr>
            <p:cNvPr name="Freeform 19" id="19"/>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0" id="20"/>
          <p:cNvGrpSpPr/>
          <p:nvPr/>
        </p:nvGrpSpPr>
        <p:grpSpPr>
          <a:xfrm rot="0">
            <a:off x="2612165" y="411480"/>
            <a:ext cx="715613" cy="617220"/>
            <a:chOff x="0" y="0"/>
            <a:chExt cx="954151" cy="822960"/>
          </a:xfrm>
        </p:grpSpPr>
        <p:sp>
          <p:nvSpPr>
            <p:cNvPr name="Freeform 21" id="21"/>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2" id="22"/>
          <p:cNvGrpSpPr/>
          <p:nvPr/>
        </p:nvGrpSpPr>
        <p:grpSpPr>
          <a:xfrm rot="0">
            <a:off x="3327787" y="411480"/>
            <a:ext cx="715613" cy="617220"/>
            <a:chOff x="0" y="0"/>
            <a:chExt cx="954151" cy="822960"/>
          </a:xfrm>
        </p:grpSpPr>
        <p:sp>
          <p:nvSpPr>
            <p:cNvPr name="Freeform 23" id="23"/>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sp>
        <p:nvSpPr>
          <p:cNvPr name="Freeform 24" id="24"/>
          <p:cNvSpPr/>
          <p:nvPr/>
        </p:nvSpPr>
        <p:spPr>
          <a:xfrm flipH="false" flipV="false" rot="0">
            <a:off x="13975671" y="411480"/>
            <a:ext cx="729758" cy="729758"/>
          </a:xfrm>
          <a:custGeom>
            <a:avLst/>
            <a:gdLst/>
            <a:ahLst/>
            <a:cxnLst/>
            <a:rect r="r" b="b" t="t" l="l"/>
            <a:pathLst>
              <a:path h="729758" w="729758">
                <a:moveTo>
                  <a:pt x="0" y="0"/>
                </a:moveTo>
                <a:lnTo>
                  <a:pt x="729757" y="0"/>
                </a:lnTo>
                <a:lnTo>
                  <a:pt x="729757"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5" id="25"/>
          <p:cNvSpPr txBox="true"/>
          <p:nvPr/>
        </p:nvSpPr>
        <p:spPr>
          <a:xfrm rot="0">
            <a:off x="1705127" y="1576387"/>
            <a:ext cx="14411115" cy="942975"/>
          </a:xfrm>
          <a:prstGeom prst="rect">
            <a:avLst/>
          </a:prstGeom>
        </p:spPr>
        <p:txBody>
          <a:bodyPr anchor="t" rtlCol="false" tIns="0" lIns="0" bIns="0" rIns="0">
            <a:spAutoFit/>
          </a:bodyPr>
          <a:lstStyle/>
          <a:p>
            <a:pPr algn="ctr">
              <a:lnSpc>
                <a:spcPts val="7319"/>
              </a:lnSpc>
            </a:pPr>
            <a:r>
              <a:rPr lang="en-US" sz="6099">
                <a:solidFill>
                  <a:srgbClr val="FFFFFF"/>
                </a:solidFill>
                <a:latin typeface="VT323"/>
                <a:ea typeface="VT323"/>
                <a:cs typeface="VT323"/>
                <a:sym typeface="VT323"/>
              </a:rPr>
              <a:t>LIFECYCLE + PERMISSIONS + NOTIFICATIONS</a:t>
            </a:r>
          </a:p>
        </p:txBody>
      </p:sp>
      <p:sp>
        <p:nvSpPr>
          <p:cNvPr name="Freeform 26" id="26"/>
          <p:cNvSpPr/>
          <p:nvPr/>
        </p:nvSpPr>
        <p:spPr>
          <a:xfrm flipH="false" flipV="false" rot="0">
            <a:off x="14863515"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7" id="27"/>
          <p:cNvSpPr/>
          <p:nvPr/>
        </p:nvSpPr>
        <p:spPr>
          <a:xfrm flipH="false" flipV="false" rot="0">
            <a:off x="15751359"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28" id="28"/>
          <p:cNvGrpSpPr/>
          <p:nvPr/>
        </p:nvGrpSpPr>
        <p:grpSpPr>
          <a:xfrm rot="0">
            <a:off x="1828800" y="2788920"/>
            <a:ext cx="14538960" cy="502920"/>
            <a:chOff x="0" y="0"/>
            <a:chExt cx="19385280" cy="670560"/>
          </a:xfrm>
        </p:grpSpPr>
        <p:sp>
          <p:nvSpPr>
            <p:cNvPr name="Freeform 29" id="29"/>
            <p:cNvSpPr/>
            <p:nvPr/>
          </p:nvSpPr>
          <p:spPr>
            <a:xfrm flipH="false" flipV="false" rot="0">
              <a:off x="0" y="0"/>
              <a:ext cx="19385280" cy="670560"/>
            </a:xfrm>
            <a:custGeom>
              <a:avLst/>
              <a:gdLst/>
              <a:ahLst/>
              <a:cxnLst/>
              <a:rect r="r" b="b" t="t" l="l"/>
              <a:pathLst>
                <a:path h="670560" w="19385280">
                  <a:moveTo>
                    <a:pt x="0" y="0"/>
                  </a:moveTo>
                  <a:lnTo>
                    <a:pt x="19385280" y="0"/>
                  </a:lnTo>
                  <a:lnTo>
                    <a:pt x="19385280" y="670560"/>
                  </a:lnTo>
                  <a:lnTo>
                    <a:pt x="0" y="670560"/>
                  </a:lnTo>
                  <a:close/>
                </a:path>
              </a:pathLst>
            </a:custGeom>
            <a:blipFill>
              <a:blip r:embed="rId21">
                <a:alphaModFix amt="0"/>
              </a:blip>
              <a:stretch>
                <a:fillRect l="0" t="-513294" r="0" b="-513294"/>
              </a:stretch>
            </a:blipFill>
          </p:spPr>
        </p:sp>
        <p:sp>
          <p:nvSpPr>
            <p:cNvPr name="TextBox 30" id="30"/>
            <p:cNvSpPr txBox="true"/>
            <p:nvPr/>
          </p:nvSpPr>
          <p:spPr>
            <a:xfrm>
              <a:off x="0" y="-66675"/>
              <a:ext cx="19385280" cy="737235"/>
            </a:xfrm>
            <a:prstGeom prst="rect">
              <a:avLst/>
            </a:prstGeom>
          </p:spPr>
          <p:txBody>
            <a:bodyPr anchor="ctr" rtlCol="false" tIns="0" lIns="0" bIns="0" rIns="0"/>
            <a:lstStyle/>
            <a:p>
              <a:pPr algn="ctr">
                <a:lnSpc>
                  <a:spcPts val="3744"/>
                </a:lnSpc>
              </a:pPr>
              <a:r>
                <a:rPr lang="en-US" sz="2600">
                  <a:solidFill>
                    <a:srgbClr val="FFFFFF"/>
                  </a:solidFill>
                  <a:latin typeface="Pixelated"/>
                  <a:ea typeface="Pixelated"/>
                  <a:cs typeface="Pixelated"/>
                  <a:sym typeface="Pixelated"/>
                </a:rPr>
                <a:t>Now connect the three concepts using one real app.</a:t>
              </a:r>
            </a:p>
          </p:txBody>
        </p:sp>
      </p:grpSp>
      <p:grpSp>
        <p:nvGrpSpPr>
          <p:cNvPr name="Group 31" id="31"/>
          <p:cNvGrpSpPr/>
          <p:nvPr/>
        </p:nvGrpSpPr>
        <p:grpSpPr>
          <a:xfrm rot="0">
            <a:off x="1828800" y="3337560"/>
            <a:ext cx="14538960" cy="640080"/>
            <a:chOff x="0" y="0"/>
            <a:chExt cx="19385280" cy="853440"/>
          </a:xfrm>
        </p:grpSpPr>
        <p:sp>
          <p:nvSpPr>
            <p:cNvPr name="Freeform 32" id="32"/>
            <p:cNvSpPr/>
            <p:nvPr/>
          </p:nvSpPr>
          <p:spPr>
            <a:xfrm flipH="false" flipV="false" rot="0">
              <a:off x="0" y="0"/>
              <a:ext cx="19385280" cy="853440"/>
            </a:xfrm>
            <a:custGeom>
              <a:avLst/>
              <a:gdLst/>
              <a:ahLst/>
              <a:cxnLst/>
              <a:rect r="r" b="b" t="t" l="l"/>
              <a:pathLst>
                <a:path h="853440" w="19385280">
                  <a:moveTo>
                    <a:pt x="0" y="0"/>
                  </a:moveTo>
                  <a:lnTo>
                    <a:pt x="19385280" y="0"/>
                  </a:lnTo>
                  <a:lnTo>
                    <a:pt x="19385280" y="853440"/>
                  </a:lnTo>
                  <a:lnTo>
                    <a:pt x="0" y="853440"/>
                  </a:lnTo>
                  <a:close/>
                </a:path>
              </a:pathLst>
            </a:custGeom>
            <a:blipFill>
              <a:blip r:embed="rId21">
                <a:alphaModFix amt="0"/>
              </a:blip>
              <a:stretch>
                <a:fillRect l="0" t="-392588" r="0" b="-392588"/>
              </a:stretch>
            </a:blipFill>
          </p:spPr>
        </p:sp>
        <p:sp>
          <p:nvSpPr>
            <p:cNvPr name="TextBox 33" id="33"/>
            <p:cNvSpPr txBox="true"/>
            <p:nvPr/>
          </p:nvSpPr>
          <p:spPr>
            <a:xfrm>
              <a:off x="0" y="-9525"/>
              <a:ext cx="19385280" cy="862965"/>
            </a:xfrm>
            <a:prstGeom prst="rect">
              <a:avLst/>
            </a:prstGeom>
          </p:spPr>
          <p:txBody>
            <a:bodyPr anchor="ctr" rtlCol="false" tIns="0" lIns="0" bIns="0" rIns="0"/>
            <a:lstStyle/>
            <a:p>
              <a:pPr algn="ctr">
                <a:lnSpc>
                  <a:spcPts val="4799"/>
                </a:lnSpc>
              </a:pPr>
              <a:r>
                <a:rPr lang="en-US" sz="3999">
                  <a:solidFill>
                    <a:srgbClr val="FFFFFF"/>
                  </a:solidFill>
                  <a:latin typeface="VT323"/>
                  <a:ea typeface="VT323"/>
                  <a:cs typeface="VT323"/>
                  <a:sym typeface="VT323"/>
                </a:rPr>
                <a:t>Example — To-Do App</a:t>
              </a:r>
            </a:p>
          </p:txBody>
        </p:sp>
      </p:grpSp>
      <p:grpSp>
        <p:nvGrpSpPr>
          <p:cNvPr name="Group 34" id="34"/>
          <p:cNvGrpSpPr/>
          <p:nvPr/>
        </p:nvGrpSpPr>
        <p:grpSpPr>
          <a:xfrm rot="0">
            <a:off x="1224534" y="4278630"/>
            <a:ext cx="2781300" cy="1363980"/>
            <a:chOff x="0" y="0"/>
            <a:chExt cx="3708400" cy="1818640"/>
          </a:xfrm>
        </p:grpSpPr>
        <p:sp>
          <p:nvSpPr>
            <p:cNvPr name="Freeform 35" id="35"/>
            <p:cNvSpPr/>
            <p:nvPr/>
          </p:nvSpPr>
          <p:spPr>
            <a:xfrm flipH="false" flipV="false" rot="0">
              <a:off x="0" y="0"/>
              <a:ext cx="3708400" cy="1818640"/>
            </a:xfrm>
            <a:custGeom>
              <a:avLst/>
              <a:gdLst/>
              <a:ahLst/>
              <a:cxnLst/>
              <a:rect r="r" b="b" t="t" l="l"/>
              <a:pathLst>
                <a:path h="1818640" w="3708400">
                  <a:moveTo>
                    <a:pt x="0" y="254635"/>
                  </a:moveTo>
                  <a:cubicBezTo>
                    <a:pt x="0" y="114046"/>
                    <a:pt x="114046" y="0"/>
                    <a:pt x="254635" y="0"/>
                  </a:cubicBezTo>
                  <a:lnTo>
                    <a:pt x="3453765" y="0"/>
                  </a:lnTo>
                  <a:cubicBezTo>
                    <a:pt x="3594354" y="0"/>
                    <a:pt x="3708400" y="114046"/>
                    <a:pt x="3708400" y="254635"/>
                  </a:cubicBezTo>
                  <a:lnTo>
                    <a:pt x="3708400" y="1564005"/>
                  </a:lnTo>
                  <a:cubicBezTo>
                    <a:pt x="3708400" y="1704594"/>
                    <a:pt x="3594354" y="1818640"/>
                    <a:pt x="3453765" y="1818640"/>
                  </a:cubicBezTo>
                  <a:lnTo>
                    <a:pt x="254635" y="1818640"/>
                  </a:lnTo>
                  <a:cubicBezTo>
                    <a:pt x="114046" y="1818640"/>
                    <a:pt x="0" y="1704594"/>
                    <a:pt x="0" y="1564005"/>
                  </a:cubicBezTo>
                  <a:close/>
                </a:path>
              </a:pathLst>
            </a:custGeom>
            <a:solidFill>
              <a:srgbClr val="8FD3FF"/>
            </a:solidFill>
            <a:ln w="38100" cap="sq">
              <a:solidFill>
                <a:srgbClr val="000000"/>
              </a:solidFill>
              <a:prstDash val="solid"/>
              <a:miter/>
            </a:ln>
          </p:spPr>
        </p:sp>
        <p:sp>
          <p:nvSpPr>
            <p:cNvPr name="TextBox 36" id="36"/>
            <p:cNvSpPr txBox="true"/>
            <p:nvPr/>
          </p:nvSpPr>
          <p:spPr>
            <a:xfrm>
              <a:off x="0" y="-19050"/>
              <a:ext cx="3708400" cy="1837690"/>
            </a:xfrm>
            <a:prstGeom prst="rect">
              <a:avLst/>
            </a:prstGeom>
          </p:spPr>
          <p:txBody>
            <a:bodyPr anchor="ctr" rtlCol="false" tIns="50800" lIns="50800" bIns="50800" rIns="50800"/>
            <a:lstStyle/>
            <a:p>
              <a:pPr algn="ctr">
                <a:lnSpc>
                  <a:spcPts val="2898"/>
                </a:lnSpc>
              </a:pPr>
              <a:r>
                <a:rPr lang="en-US" sz="2300">
                  <a:solidFill>
                    <a:srgbClr val="000000"/>
                  </a:solidFill>
                  <a:latin typeface="Pixelated"/>
                  <a:ea typeface="Pixelated"/>
                  <a:cs typeface="Pixelated"/>
                  <a:sym typeface="Pixelated"/>
                </a:rPr>
                <a:t>USER OPENS APP</a:t>
              </a:r>
            </a:p>
          </p:txBody>
        </p:sp>
      </p:grpSp>
      <p:sp>
        <p:nvSpPr>
          <p:cNvPr name="AutoShape 37" id="37"/>
          <p:cNvSpPr/>
          <p:nvPr/>
        </p:nvSpPr>
        <p:spPr>
          <a:xfrm>
            <a:off x="4043401" y="4982843"/>
            <a:ext cx="436245" cy="0"/>
          </a:xfrm>
          <a:prstGeom prst="line">
            <a:avLst/>
          </a:prstGeom>
          <a:ln cap="rnd" w="38100">
            <a:solidFill>
              <a:srgbClr val="FFFFFF"/>
            </a:solidFill>
            <a:prstDash val="solid"/>
            <a:headEnd type="none" len="sm" w="sm"/>
            <a:tailEnd type="triangle" len="med" w="lg"/>
          </a:ln>
        </p:spPr>
      </p:sp>
      <p:grpSp>
        <p:nvGrpSpPr>
          <p:cNvPr name="Group 38" id="38"/>
          <p:cNvGrpSpPr/>
          <p:nvPr/>
        </p:nvGrpSpPr>
        <p:grpSpPr>
          <a:xfrm rot="0">
            <a:off x="4470654" y="4278630"/>
            <a:ext cx="2781300" cy="1363980"/>
            <a:chOff x="0" y="0"/>
            <a:chExt cx="3708400" cy="1818640"/>
          </a:xfrm>
        </p:grpSpPr>
        <p:sp>
          <p:nvSpPr>
            <p:cNvPr name="Freeform 39" id="39"/>
            <p:cNvSpPr/>
            <p:nvPr/>
          </p:nvSpPr>
          <p:spPr>
            <a:xfrm flipH="false" flipV="false" rot="0">
              <a:off x="0" y="0"/>
              <a:ext cx="3708400" cy="1818640"/>
            </a:xfrm>
            <a:custGeom>
              <a:avLst/>
              <a:gdLst/>
              <a:ahLst/>
              <a:cxnLst/>
              <a:rect r="r" b="b" t="t" l="l"/>
              <a:pathLst>
                <a:path h="1818640" w="3708400">
                  <a:moveTo>
                    <a:pt x="0" y="254635"/>
                  </a:moveTo>
                  <a:cubicBezTo>
                    <a:pt x="0" y="114046"/>
                    <a:pt x="114046" y="0"/>
                    <a:pt x="254635" y="0"/>
                  </a:cubicBezTo>
                  <a:lnTo>
                    <a:pt x="3453765" y="0"/>
                  </a:lnTo>
                  <a:cubicBezTo>
                    <a:pt x="3594354" y="0"/>
                    <a:pt x="3708400" y="114046"/>
                    <a:pt x="3708400" y="254635"/>
                  </a:cubicBezTo>
                  <a:lnTo>
                    <a:pt x="3708400" y="1564005"/>
                  </a:lnTo>
                  <a:cubicBezTo>
                    <a:pt x="3708400" y="1704594"/>
                    <a:pt x="3594354" y="1818640"/>
                    <a:pt x="3453765" y="1818640"/>
                  </a:cubicBezTo>
                  <a:lnTo>
                    <a:pt x="254635" y="1818640"/>
                  </a:lnTo>
                  <a:cubicBezTo>
                    <a:pt x="114046" y="1818640"/>
                    <a:pt x="0" y="1704594"/>
                    <a:pt x="0" y="1564005"/>
                  </a:cubicBezTo>
                  <a:close/>
                </a:path>
              </a:pathLst>
            </a:custGeom>
            <a:solidFill>
              <a:srgbClr val="8FD3FF"/>
            </a:solidFill>
            <a:ln w="38100" cap="sq">
              <a:solidFill>
                <a:srgbClr val="000000"/>
              </a:solidFill>
              <a:prstDash val="solid"/>
              <a:miter/>
            </a:ln>
          </p:spPr>
        </p:sp>
        <p:sp>
          <p:nvSpPr>
            <p:cNvPr name="TextBox 40" id="40"/>
            <p:cNvSpPr txBox="true"/>
            <p:nvPr/>
          </p:nvSpPr>
          <p:spPr>
            <a:xfrm>
              <a:off x="0" y="-19050"/>
              <a:ext cx="3708400" cy="1837690"/>
            </a:xfrm>
            <a:prstGeom prst="rect">
              <a:avLst/>
            </a:prstGeom>
          </p:spPr>
          <p:txBody>
            <a:bodyPr anchor="ctr" rtlCol="false" tIns="50800" lIns="50800" bIns="50800" rIns="50800"/>
            <a:lstStyle/>
            <a:p>
              <a:pPr algn="ctr">
                <a:lnSpc>
                  <a:spcPts val="2898"/>
                </a:lnSpc>
              </a:pPr>
              <a:r>
                <a:rPr lang="en-US" sz="2300">
                  <a:solidFill>
                    <a:srgbClr val="000000"/>
                  </a:solidFill>
                  <a:latin typeface="Pixelated"/>
                  <a:ea typeface="Pixelated"/>
                  <a:cs typeface="Pixelated"/>
                  <a:sym typeface="Pixelated"/>
                </a:rPr>
                <a:t>App is RESUMED</a:t>
              </a:r>
            </a:p>
          </p:txBody>
        </p:sp>
      </p:grpSp>
      <p:grpSp>
        <p:nvGrpSpPr>
          <p:cNvPr name="Group 41" id="41"/>
          <p:cNvGrpSpPr/>
          <p:nvPr/>
        </p:nvGrpSpPr>
        <p:grpSpPr>
          <a:xfrm rot="0">
            <a:off x="7716774" y="4278630"/>
            <a:ext cx="2781300" cy="1363980"/>
            <a:chOff x="0" y="0"/>
            <a:chExt cx="3708400" cy="1818640"/>
          </a:xfrm>
        </p:grpSpPr>
        <p:sp>
          <p:nvSpPr>
            <p:cNvPr name="Freeform 42" id="42"/>
            <p:cNvSpPr/>
            <p:nvPr/>
          </p:nvSpPr>
          <p:spPr>
            <a:xfrm flipH="false" flipV="false" rot="0">
              <a:off x="0" y="0"/>
              <a:ext cx="3708400" cy="1818640"/>
            </a:xfrm>
            <a:custGeom>
              <a:avLst/>
              <a:gdLst/>
              <a:ahLst/>
              <a:cxnLst/>
              <a:rect r="r" b="b" t="t" l="l"/>
              <a:pathLst>
                <a:path h="1818640" w="3708400">
                  <a:moveTo>
                    <a:pt x="0" y="254635"/>
                  </a:moveTo>
                  <a:cubicBezTo>
                    <a:pt x="0" y="114046"/>
                    <a:pt x="114046" y="0"/>
                    <a:pt x="254635" y="0"/>
                  </a:cubicBezTo>
                  <a:lnTo>
                    <a:pt x="3453765" y="0"/>
                  </a:lnTo>
                  <a:cubicBezTo>
                    <a:pt x="3594354" y="0"/>
                    <a:pt x="3708400" y="114046"/>
                    <a:pt x="3708400" y="254635"/>
                  </a:cubicBezTo>
                  <a:lnTo>
                    <a:pt x="3708400" y="1564005"/>
                  </a:lnTo>
                  <a:cubicBezTo>
                    <a:pt x="3708400" y="1704594"/>
                    <a:pt x="3594354" y="1818640"/>
                    <a:pt x="3453765" y="1818640"/>
                  </a:cubicBezTo>
                  <a:lnTo>
                    <a:pt x="254635" y="1818640"/>
                  </a:lnTo>
                  <a:cubicBezTo>
                    <a:pt x="114046" y="1818640"/>
                    <a:pt x="0" y="1704594"/>
                    <a:pt x="0" y="1564005"/>
                  </a:cubicBezTo>
                  <a:close/>
                </a:path>
              </a:pathLst>
            </a:custGeom>
            <a:solidFill>
              <a:srgbClr val="E6E6E6"/>
            </a:solidFill>
            <a:ln w="38100" cap="sq">
              <a:solidFill>
                <a:srgbClr val="000000"/>
              </a:solidFill>
              <a:prstDash val="solid"/>
              <a:miter/>
            </a:ln>
          </p:spPr>
        </p:sp>
        <p:sp>
          <p:nvSpPr>
            <p:cNvPr name="TextBox 43" id="43"/>
            <p:cNvSpPr txBox="true"/>
            <p:nvPr/>
          </p:nvSpPr>
          <p:spPr>
            <a:xfrm>
              <a:off x="0" y="-19050"/>
              <a:ext cx="3708400" cy="1837690"/>
            </a:xfrm>
            <a:prstGeom prst="rect">
              <a:avLst/>
            </a:prstGeom>
          </p:spPr>
          <p:txBody>
            <a:bodyPr anchor="ctr" rtlCol="false" tIns="50800" lIns="50800" bIns="50800" rIns="50800"/>
            <a:lstStyle/>
            <a:p>
              <a:pPr algn="ctr">
                <a:lnSpc>
                  <a:spcPts val="2898"/>
                </a:lnSpc>
              </a:pPr>
              <a:r>
                <a:rPr lang="en-US" sz="2300">
                  <a:solidFill>
                    <a:srgbClr val="000000"/>
                  </a:solidFill>
                  <a:latin typeface="Pixelated"/>
                  <a:ea typeface="Pixelated"/>
                  <a:cs typeface="Pixelated"/>
                  <a:sym typeface="Pixelated"/>
                </a:rPr>
                <a:t>User creates task</a:t>
              </a:r>
            </a:p>
          </p:txBody>
        </p:sp>
      </p:grpSp>
      <p:grpSp>
        <p:nvGrpSpPr>
          <p:cNvPr name="Group 44" id="44"/>
          <p:cNvGrpSpPr/>
          <p:nvPr/>
        </p:nvGrpSpPr>
        <p:grpSpPr>
          <a:xfrm rot="0">
            <a:off x="10962894" y="4278630"/>
            <a:ext cx="2781300" cy="1363980"/>
            <a:chOff x="0" y="0"/>
            <a:chExt cx="3708400" cy="1818640"/>
          </a:xfrm>
        </p:grpSpPr>
        <p:sp>
          <p:nvSpPr>
            <p:cNvPr name="Freeform 45" id="45"/>
            <p:cNvSpPr/>
            <p:nvPr/>
          </p:nvSpPr>
          <p:spPr>
            <a:xfrm flipH="false" flipV="false" rot="0">
              <a:off x="0" y="0"/>
              <a:ext cx="3708400" cy="1818640"/>
            </a:xfrm>
            <a:custGeom>
              <a:avLst/>
              <a:gdLst/>
              <a:ahLst/>
              <a:cxnLst/>
              <a:rect r="r" b="b" t="t" l="l"/>
              <a:pathLst>
                <a:path h="1818640" w="3708400">
                  <a:moveTo>
                    <a:pt x="0" y="254635"/>
                  </a:moveTo>
                  <a:cubicBezTo>
                    <a:pt x="0" y="114046"/>
                    <a:pt x="114046" y="0"/>
                    <a:pt x="254635" y="0"/>
                  </a:cubicBezTo>
                  <a:lnTo>
                    <a:pt x="3453765" y="0"/>
                  </a:lnTo>
                  <a:cubicBezTo>
                    <a:pt x="3594354" y="0"/>
                    <a:pt x="3708400" y="114046"/>
                    <a:pt x="3708400" y="254635"/>
                  </a:cubicBezTo>
                  <a:lnTo>
                    <a:pt x="3708400" y="1564005"/>
                  </a:lnTo>
                  <a:cubicBezTo>
                    <a:pt x="3708400" y="1704594"/>
                    <a:pt x="3594354" y="1818640"/>
                    <a:pt x="3453765" y="1818640"/>
                  </a:cubicBezTo>
                  <a:lnTo>
                    <a:pt x="254635" y="1818640"/>
                  </a:lnTo>
                  <a:cubicBezTo>
                    <a:pt x="114046" y="1818640"/>
                    <a:pt x="0" y="1704594"/>
                    <a:pt x="0" y="1564005"/>
                  </a:cubicBezTo>
                  <a:close/>
                </a:path>
              </a:pathLst>
            </a:custGeom>
            <a:solidFill>
              <a:srgbClr val="FFE066"/>
            </a:solidFill>
            <a:ln w="38100" cap="sq">
              <a:solidFill>
                <a:srgbClr val="000000"/>
              </a:solidFill>
              <a:prstDash val="solid"/>
              <a:miter/>
            </a:ln>
          </p:spPr>
        </p:sp>
        <p:sp>
          <p:nvSpPr>
            <p:cNvPr name="TextBox 46" id="46"/>
            <p:cNvSpPr txBox="true"/>
            <p:nvPr/>
          </p:nvSpPr>
          <p:spPr>
            <a:xfrm>
              <a:off x="0" y="-19050"/>
              <a:ext cx="3708400" cy="1837690"/>
            </a:xfrm>
            <a:prstGeom prst="rect">
              <a:avLst/>
            </a:prstGeom>
          </p:spPr>
          <p:txBody>
            <a:bodyPr anchor="ctr" rtlCol="false" tIns="50800" lIns="50800" bIns="50800" rIns="50800"/>
            <a:lstStyle/>
            <a:p>
              <a:pPr algn="ctr">
                <a:lnSpc>
                  <a:spcPts val="2898"/>
                </a:lnSpc>
              </a:pPr>
              <a:r>
                <a:rPr lang="en-US" sz="2300">
                  <a:solidFill>
                    <a:srgbClr val="000000"/>
                  </a:solidFill>
                  <a:latin typeface="Pixelated"/>
                  <a:ea typeface="Pixelated"/>
                  <a:cs typeface="Pixelated"/>
                  <a:sym typeface="Pixelated"/>
                </a:rPr>
                <a:t>Notification permission requested</a:t>
              </a:r>
            </a:p>
          </p:txBody>
        </p:sp>
      </p:grpSp>
      <p:grpSp>
        <p:nvGrpSpPr>
          <p:cNvPr name="Group 47" id="47"/>
          <p:cNvGrpSpPr/>
          <p:nvPr/>
        </p:nvGrpSpPr>
        <p:grpSpPr>
          <a:xfrm rot="0">
            <a:off x="14209014" y="4278630"/>
            <a:ext cx="2781300" cy="1363980"/>
            <a:chOff x="0" y="0"/>
            <a:chExt cx="3708400" cy="1818640"/>
          </a:xfrm>
        </p:grpSpPr>
        <p:sp>
          <p:nvSpPr>
            <p:cNvPr name="Freeform 48" id="48"/>
            <p:cNvSpPr/>
            <p:nvPr/>
          </p:nvSpPr>
          <p:spPr>
            <a:xfrm flipH="false" flipV="false" rot="0">
              <a:off x="0" y="0"/>
              <a:ext cx="3708400" cy="1818640"/>
            </a:xfrm>
            <a:custGeom>
              <a:avLst/>
              <a:gdLst/>
              <a:ahLst/>
              <a:cxnLst/>
              <a:rect r="r" b="b" t="t" l="l"/>
              <a:pathLst>
                <a:path h="1818640" w="3708400">
                  <a:moveTo>
                    <a:pt x="0" y="254635"/>
                  </a:moveTo>
                  <a:cubicBezTo>
                    <a:pt x="0" y="114046"/>
                    <a:pt x="114046" y="0"/>
                    <a:pt x="254635" y="0"/>
                  </a:cubicBezTo>
                  <a:lnTo>
                    <a:pt x="3453765" y="0"/>
                  </a:lnTo>
                  <a:cubicBezTo>
                    <a:pt x="3594354" y="0"/>
                    <a:pt x="3708400" y="114046"/>
                    <a:pt x="3708400" y="254635"/>
                  </a:cubicBezTo>
                  <a:lnTo>
                    <a:pt x="3708400" y="1564005"/>
                  </a:lnTo>
                  <a:cubicBezTo>
                    <a:pt x="3708400" y="1704594"/>
                    <a:pt x="3594354" y="1818640"/>
                    <a:pt x="3453765" y="1818640"/>
                  </a:cubicBezTo>
                  <a:lnTo>
                    <a:pt x="254635" y="1818640"/>
                  </a:lnTo>
                  <a:cubicBezTo>
                    <a:pt x="114046" y="1818640"/>
                    <a:pt x="0" y="1704594"/>
                    <a:pt x="0" y="1564005"/>
                  </a:cubicBezTo>
                  <a:close/>
                </a:path>
              </a:pathLst>
            </a:custGeom>
            <a:solidFill>
              <a:srgbClr val="FFE066"/>
            </a:solidFill>
            <a:ln w="38100" cap="sq">
              <a:solidFill>
                <a:srgbClr val="000000"/>
              </a:solidFill>
              <a:prstDash val="solid"/>
              <a:miter/>
            </a:ln>
          </p:spPr>
        </p:sp>
        <p:sp>
          <p:nvSpPr>
            <p:cNvPr name="TextBox 49" id="49"/>
            <p:cNvSpPr txBox="true"/>
            <p:nvPr/>
          </p:nvSpPr>
          <p:spPr>
            <a:xfrm>
              <a:off x="0" y="-19050"/>
              <a:ext cx="3708400" cy="1837690"/>
            </a:xfrm>
            <a:prstGeom prst="rect">
              <a:avLst/>
            </a:prstGeom>
          </p:spPr>
          <p:txBody>
            <a:bodyPr anchor="ctr" rtlCol="false" tIns="50800" lIns="50800" bIns="50800" rIns="50800"/>
            <a:lstStyle/>
            <a:p>
              <a:pPr algn="ctr">
                <a:lnSpc>
                  <a:spcPts val="2898"/>
                </a:lnSpc>
              </a:pPr>
              <a:r>
                <a:rPr lang="en-US" sz="2300">
                  <a:solidFill>
                    <a:srgbClr val="000000"/>
                  </a:solidFill>
                  <a:latin typeface="Pixelated"/>
                  <a:ea typeface="Pixelated"/>
                  <a:cs typeface="Pixelated"/>
                  <a:sym typeface="Pixelated"/>
                </a:rPr>
                <a:t>ALLOW ✓</a:t>
              </a:r>
            </a:p>
          </p:txBody>
        </p:sp>
      </p:grpSp>
      <p:grpSp>
        <p:nvGrpSpPr>
          <p:cNvPr name="Group 50" id="50"/>
          <p:cNvGrpSpPr/>
          <p:nvPr/>
        </p:nvGrpSpPr>
        <p:grpSpPr>
          <a:xfrm rot="0">
            <a:off x="14209014" y="6381750"/>
            <a:ext cx="2781300" cy="1363980"/>
            <a:chOff x="0" y="0"/>
            <a:chExt cx="3708400" cy="1818640"/>
          </a:xfrm>
        </p:grpSpPr>
        <p:sp>
          <p:nvSpPr>
            <p:cNvPr name="Freeform 51" id="51"/>
            <p:cNvSpPr/>
            <p:nvPr/>
          </p:nvSpPr>
          <p:spPr>
            <a:xfrm flipH="false" flipV="false" rot="0">
              <a:off x="0" y="0"/>
              <a:ext cx="3708400" cy="1818640"/>
            </a:xfrm>
            <a:custGeom>
              <a:avLst/>
              <a:gdLst/>
              <a:ahLst/>
              <a:cxnLst/>
              <a:rect r="r" b="b" t="t" l="l"/>
              <a:pathLst>
                <a:path h="1818640" w="3708400">
                  <a:moveTo>
                    <a:pt x="0" y="254635"/>
                  </a:moveTo>
                  <a:cubicBezTo>
                    <a:pt x="0" y="114046"/>
                    <a:pt x="114046" y="0"/>
                    <a:pt x="254635" y="0"/>
                  </a:cubicBezTo>
                  <a:lnTo>
                    <a:pt x="3453765" y="0"/>
                  </a:lnTo>
                  <a:cubicBezTo>
                    <a:pt x="3594354" y="0"/>
                    <a:pt x="3708400" y="114046"/>
                    <a:pt x="3708400" y="254635"/>
                  </a:cubicBezTo>
                  <a:lnTo>
                    <a:pt x="3708400" y="1564005"/>
                  </a:lnTo>
                  <a:cubicBezTo>
                    <a:pt x="3708400" y="1704594"/>
                    <a:pt x="3594354" y="1818640"/>
                    <a:pt x="3453765" y="1818640"/>
                  </a:cubicBezTo>
                  <a:lnTo>
                    <a:pt x="254635" y="1818640"/>
                  </a:lnTo>
                  <a:cubicBezTo>
                    <a:pt x="114046" y="1818640"/>
                    <a:pt x="0" y="1704594"/>
                    <a:pt x="0" y="1564005"/>
                  </a:cubicBezTo>
                  <a:close/>
                </a:path>
              </a:pathLst>
            </a:custGeom>
            <a:solidFill>
              <a:srgbClr val="8FD3FF"/>
            </a:solidFill>
            <a:ln w="38100" cap="sq">
              <a:solidFill>
                <a:srgbClr val="000000"/>
              </a:solidFill>
              <a:prstDash val="solid"/>
              <a:miter/>
            </a:ln>
          </p:spPr>
        </p:sp>
        <p:sp>
          <p:nvSpPr>
            <p:cNvPr name="TextBox 52" id="52"/>
            <p:cNvSpPr txBox="true"/>
            <p:nvPr/>
          </p:nvSpPr>
          <p:spPr>
            <a:xfrm>
              <a:off x="0" y="-19050"/>
              <a:ext cx="3708400" cy="1837690"/>
            </a:xfrm>
            <a:prstGeom prst="rect">
              <a:avLst/>
            </a:prstGeom>
          </p:spPr>
          <p:txBody>
            <a:bodyPr anchor="ctr" rtlCol="false" tIns="50800" lIns="50800" bIns="50800" rIns="50800"/>
            <a:lstStyle/>
            <a:p>
              <a:pPr algn="ctr">
                <a:lnSpc>
                  <a:spcPts val="2898"/>
                </a:lnSpc>
              </a:pPr>
              <a:r>
                <a:rPr lang="en-US" sz="2300">
                  <a:solidFill>
                    <a:srgbClr val="000000"/>
                  </a:solidFill>
                  <a:latin typeface="Pixelated"/>
                  <a:ea typeface="Pixelated"/>
                  <a:cs typeface="Pixelated"/>
                  <a:sym typeface="Pixelated"/>
                </a:rPr>
                <a:t>App goes to BACKGROUND</a:t>
              </a:r>
            </a:p>
          </p:txBody>
        </p:sp>
      </p:grpSp>
      <p:sp>
        <p:nvSpPr>
          <p:cNvPr name="AutoShape 53" id="53"/>
          <p:cNvSpPr/>
          <p:nvPr/>
        </p:nvSpPr>
        <p:spPr>
          <a:xfrm flipH="true">
            <a:off x="13753719" y="7060567"/>
            <a:ext cx="439567" cy="0"/>
          </a:xfrm>
          <a:prstGeom prst="line">
            <a:avLst/>
          </a:prstGeom>
          <a:ln cap="rnd" w="38100">
            <a:solidFill>
              <a:srgbClr val="FFFFFF"/>
            </a:solidFill>
            <a:prstDash val="solid"/>
            <a:headEnd type="none" len="sm" w="sm"/>
            <a:tailEnd type="triangle" len="med" w="lg"/>
          </a:ln>
        </p:spPr>
      </p:sp>
      <p:grpSp>
        <p:nvGrpSpPr>
          <p:cNvPr name="Group 54" id="54"/>
          <p:cNvGrpSpPr/>
          <p:nvPr/>
        </p:nvGrpSpPr>
        <p:grpSpPr>
          <a:xfrm rot="0">
            <a:off x="10962894" y="6381750"/>
            <a:ext cx="2781300" cy="1363980"/>
            <a:chOff x="0" y="0"/>
            <a:chExt cx="3708400" cy="1818640"/>
          </a:xfrm>
        </p:grpSpPr>
        <p:sp>
          <p:nvSpPr>
            <p:cNvPr name="Freeform 55" id="55"/>
            <p:cNvSpPr/>
            <p:nvPr/>
          </p:nvSpPr>
          <p:spPr>
            <a:xfrm flipH="false" flipV="false" rot="0">
              <a:off x="0" y="0"/>
              <a:ext cx="3708400" cy="1818640"/>
            </a:xfrm>
            <a:custGeom>
              <a:avLst/>
              <a:gdLst/>
              <a:ahLst/>
              <a:cxnLst/>
              <a:rect r="r" b="b" t="t" l="l"/>
              <a:pathLst>
                <a:path h="1818640" w="3708400">
                  <a:moveTo>
                    <a:pt x="0" y="254635"/>
                  </a:moveTo>
                  <a:cubicBezTo>
                    <a:pt x="0" y="114046"/>
                    <a:pt x="114046" y="0"/>
                    <a:pt x="254635" y="0"/>
                  </a:cubicBezTo>
                  <a:lnTo>
                    <a:pt x="3453765" y="0"/>
                  </a:lnTo>
                  <a:cubicBezTo>
                    <a:pt x="3594354" y="0"/>
                    <a:pt x="3708400" y="114046"/>
                    <a:pt x="3708400" y="254635"/>
                  </a:cubicBezTo>
                  <a:lnTo>
                    <a:pt x="3708400" y="1564005"/>
                  </a:lnTo>
                  <a:cubicBezTo>
                    <a:pt x="3708400" y="1704594"/>
                    <a:pt x="3594354" y="1818640"/>
                    <a:pt x="3453765" y="1818640"/>
                  </a:cubicBezTo>
                  <a:lnTo>
                    <a:pt x="254635" y="1818640"/>
                  </a:lnTo>
                  <a:cubicBezTo>
                    <a:pt x="114046" y="1818640"/>
                    <a:pt x="0" y="1704594"/>
                    <a:pt x="0" y="1564005"/>
                  </a:cubicBezTo>
                  <a:close/>
                </a:path>
              </a:pathLst>
            </a:custGeom>
            <a:solidFill>
              <a:srgbClr val="FF8AD8"/>
            </a:solidFill>
            <a:ln w="38100" cap="sq">
              <a:solidFill>
                <a:srgbClr val="000000"/>
              </a:solidFill>
              <a:prstDash val="solid"/>
              <a:miter/>
            </a:ln>
          </p:spPr>
        </p:sp>
        <p:sp>
          <p:nvSpPr>
            <p:cNvPr name="TextBox 56" id="56"/>
            <p:cNvSpPr txBox="true"/>
            <p:nvPr/>
          </p:nvSpPr>
          <p:spPr>
            <a:xfrm>
              <a:off x="0" y="-19050"/>
              <a:ext cx="3708400" cy="1837690"/>
            </a:xfrm>
            <a:prstGeom prst="rect">
              <a:avLst/>
            </a:prstGeom>
          </p:spPr>
          <p:txBody>
            <a:bodyPr anchor="ctr" rtlCol="false" tIns="50800" lIns="50800" bIns="50800" rIns="50800"/>
            <a:lstStyle/>
            <a:p>
              <a:pPr algn="ctr">
                <a:lnSpc>
                  <a:spcPts val="2898"/>
                </a:lnSpc>
              </a:pPr>
              <a:r>
                <a:rPr lang="en-US" sz="2300">
                  <a:solidFill>
                    <a:srgbClr val="000000"/>
                  </a:solidFill>
                  <a:latin typeface="Pixelated"/>
                  <a:ea typeface="Pixelated"/>
                  <a:cs typeface="Pixelated"/>
                  <a:sym typeface="Pixelated"/>
                </a:rPr>
                <a:t>Reminder time arrives</a:t>
              </a:r>
            </a:p>
          </p:txBody>
        </p:sp>
      </p:grpSp>
      <p:grpSp>
        <p:nvGrpSpPr>
          <p:cNvPr name="Group 57" id="57"/>
          <p:cNvGrpSpPr/>
          <p:nvPr/>
        </p:nvGrpSpPr>
        <p:grpSpPr>
          <a:xfrm rot="0">
            <a:off x="7716774" y="6381750"/>
            <a:ext cx="2781300" cy="1363980"/>
            <a:chOff x="0" y="0"/>
            <a:chExt cx="3708400" cy="1818640"/>
          </a:xfrm>
        </p:grpSpPr>
        <p:sp>
          <p:nvSpPr>
            <p:cNvPr name="Freeform 58" id="58"/>
            <p:cNvSpPr/>
            <p:nvPr/>
          </p:nvSpPr>
          <p:spPr>
            <a:xfrm flipH="false" flipV="false" rot="0">
              <a:off x="0" y="0"/>
              <a:ext cx="3708400" cy="1818640"/>
            </a:xfrm>
            <a:custGeom>
              <a:avLst/>
              <a:gdLst/>
              <a:ahLst/>
              <a:cxnLst/>
              <a:rect r="r" b="b" t="t" l="l"/>
              <a:pathLst>
                <a:path h="1818640" w="3708400">
                  <a:moveTo>
                    <a:pt x="0" y="254635"/>
                  </a:moveTo>
                  <a:cubicBezTo>
                    <a:pt x="0" y="114046"/>
                    <a:pt x="114046" y="0"/>
                    <a:pt x="254635" y="0"/>
                  </a:cubicBezTo>
                  <a:lnTo>
                    <a:pt x="3453765" y="0"/>
                  </a:lnTo>
                  <a:cubicBezTo>
                    <a:pt x="3594354" y="0"/>
                    <a:pt x="3708400" y="114046"/>
                    <a:pt x="3708400" y="254635"/>
                  </a:cubicBezTo>
                  <a:lnTo>
                    <a:pt x="3708400" y="1564005"/>
                  </a:lnTo>
                  <a:cubicBezTo>
                    <a:pt x="3708400" y="1704594"/>
                    <a:pt x="3594354" y="1818640"/>
                    <a:pt x="3453765" y="1818640"/>
                  </a:cubicBezTo>
                  <a:lnTo>
                    <a:pt x="254635" y="1818640"/>
                  </a:lnTo>
                  <a:cubicBezTo>
                    <a:pt x="114046" y="1818640"/>
                    <a:pt x="0" y="1704594"/>
                    <a:pt x="0" y="1564005"/>
                  </a:cubicBezTo>
                  <a:close/>
                </a:path>
              </a:pathLst>
            </a:custGeom>
            <a:solidFill>
              <a:srgbClr val="FF8AD8"/>
            </a:solidFill>
            <a:ln w="38100" cap="sq">
              <a:solidFill>
                <a:srgbClr val="000000"/>
              </a:solidFill>
              <a:prstDash val="solid"/>
              <a:miter/>
            </a:ln>
          </p:spPr>
        </p:sp>
        <p:sp>
          <p:nvSpPr>
            <p:cNvPr name="TextBox 59" id="59"/>
            <p:cNvSpPr txBox="true"/>
            <p:nvPr/>
          </p:nvSpPr>
          <p:spPr>
            <a:xfrm>
              <a:off x="0" y="-19050"/>
              <a:ext cx="3708400" cy="1837690"/>
            </a:xfrm>
            <a:prstGeom prst="rect">
              <a:avLst/>
            </a:prstGeom>
          </p:spPr>
          <p:txBody>
            <a:bodyPr anchor="ctr" rtlCol="false" tIns="50800" lIns="50800" bIns="50800" rIns="50800"/>
            <a:lstStyle/>
            <a:p>
              <a:pPr algn="ctr">
                <a:lnSpc>
                  <a:spcPts val="2898"/>
                </a:lnSpc>
              </a:pPr>
              <a:r>
                <a:rPr lang="en-US" sz="2300">
                  <a:solidFill>
                    <a:srgbClr val="000000"/>
                  </a:solidFill>
                  <a:latin typeface="Pixelated"/>
                  <a:ea typeface="Pixelated"/>
                  <a:cs typeface="Pixelated"/>
                  <a:sym typeface="Pixelated"/>
                </a:rPr>
                <a:t>🔔 Notification</a:t>
              </a:r>
            </a:p>
          </p:txBody>
        </p:sp>
      </p:grpSp>
      <p:grpSp>
        <p:nvGrpSpPr>
          <p:cNvPr name="Group 60" id="60"/>
          <p:cNvGrpSpPr/>
          <p:nvPr/>
        </p:nvGrpSpPr>
        <p:grpSpPr>
          <a:xfrm rot="0">
            <a:off x="4470654" y="6381750"/>
            <a:ext cx="2781300" cy="1363980"/>
            <a:chOff x="0" y="0"/>
            <a:chExt cx="3708400" cy="1818640"/>
          </a:xfrm>
        </p:grpSpPr>
        <p:sp>
          <p:nvSpPr>
            <p:cNvPr name="Freeform 61" id="61"/>
            <p:cNvSpPr/>
            <p:nvPr/>
          </p:nvSpPr>
          <p:spPr>
            <a:xfrm flipH="false" flipV="false" rot="0">
              <a:off x="0" y="0"/>
              <a:ext cx="3708400" cy="1818640"/>
            </a:xfrm>
            <a:custGeom>
              <a:avLst/>
              <a:gdLst/>
              <a:ahLst/>
              <a:cxnLst/>
              <a:rect r="r" b="b" t="t" l="l"/>
              <a:pathLst>
                <a:path h="1818640" w="3708400">
                  <a:moveTo>
                    <a:pt x="0" y="254635"/>
                  </a:moveTo>
                  <a:cubicBezTo>
                    <a:pt x="0" y="114046"/>
                    <a:pt x="114046" y="0"/>
                    <a:pt x="254635" y="0"/>
                  </a:cubicBezTo>
                  <a:lnTo>
                    <a:pt x="3453765" y="0"/>
                  </a:lnTo>
                  <a:cubicBezTo>
                    <a:pt x="3594354" y="0"/>
                    <a:pt x="3708400" y="114046"/>
                    <a:pt x="3708400" y="254635"/>
                  </a:cubicBezTo>
                  <a:lnTo>
                    <a:pt x="3708400" y="1564005"/>
                  </a:lnTo>
                  <a:cubicBezTo>
                    <a:pt x="3708400" y="1704594"/>
                    <a:pt x="3594354" y="1818640"/>
                    <a:pt x="3453765" y="1818640"/>
                  </a:cubicBezTo>
                  <a:lnTo>
                    <a:pt x="254635" y="1818640"/>
                  </a:lnTo>
                  <a:cubicBezTo>
                    <a:pt x="114046" y="1818640"/>
                    <a:pt x="0" y="1704594"/>
                    <a:pt x="0" y="1564005"/>
                  </a:cubicBezTo>
                  <a:close/>
                </a:path>
              </a:pathLst>
            </a:custGeom>
            <a:solidFill>
              <a:srgbClr val="8FD3FF"/>
            </a:solidFill>
            <a:ln w="38100" cap="sq">
              <a:solidFill>
                <a:srgbClr val="000000"/>
              </a:solidFill>
              <a:prstDash val="solid"/>
              <a:miter/>
            </a:ln>
          </p:spPr>
        </p:sp>
        <p:sp>
          <p:nvSpPr>
            <p:cNvPr name="TextBox 62" id="62"/>
            <p:cNvSpPr txBox="true"/>
            <p:nvPr/>
          </p:nvSpPr>
          <p:spPr>
            <a:xfrm>
              <a:off x="0" y="-19050"/>
              <a:ext cx="3708400" cy="1837690"/>
            </a:xfrm>
            <a:prstGeom prst="rect">
              <a:avLst/>
            </a:prstGeom>
          </p:spPr>
          <p:txBody>
            <a:bodyPr anchor="ctr" rtlCol="false" tIns="50800" lIns="50800" bIns="50800" rIns="50800"/>
            <a:lstStyle/>
            <a:p>
              <a:pPr algn="ctr">
                <a:lnSpc>
                  <a:spcPts val="2898"/>
                </a:lnSpc>
              </a:pPr>
              <a:r>
                <a:rPr lang="en-US" sz="2300">
                  <a:solidFill>
                    <a:srgbClr val="000000"/>
                  </a:solidFill>
                  <a:latin typeface="Pixelated"/>
                  <a:ea typeface="Pixelated"/>
                  <a:cs typeface="Pixelated"/>
                  <a:sym typeface="Pixelated"/>
                </a:rPr>
                <a:t>User opens the app</a:t>
              </a:r>
            </a:p>
          </p:txBody>
        </p:sp>
      </p:grpSp>
      <p:grpSp>
        <p:nvGrpSpPr>
          <p:cNvPr name="Group 63" id="63"/>
          <p:cNvGrpSpPr/>
          <p:nvPr/>
        </p:nvGrpSpPr>
        <p:grpSpPr>
          <a:xfrm rot="0">
            <a:off x="1224534" y="6381750"/>
            <a:ext cx="2781300" cy="1363980"/>
            <a:chOff x="0" y="0"/>
            <a:chExt cx="3708400" cy="1818640"/>
          </a:xfrm>
        </p:grpSpPr>
        <p:sp>
          <p:nvSpPr>
            <p:cNvPr name="Freeform 64" id="64"/>
            <p:cNvSpPr/>
            <p:nvPr/>
          </p:nvSpPr>
          <p:spPr>
            <a:xfrm flipH="false" flipV="false" rot="0">
              <a:off x="0" y="0"/>
              <a:ext cx="3708400" cy="1818640"/>
            </a:xfrm>
            <a:custGeom>
              <a:avLst/>
              <a:gdLst/>
              <a:ahLst/>
              <a:cxnLst/>
              <a:rect r="r" b="b" t="t" l="l"/>
              <a:pathLst>
                <a:path h="1818640" w="3708400">
                  <a:moveTo>
                    <a:pt x="0" y="254635"/>
                  </a:moveTo>
                  <a:cubicBezTo>
                    <a:pt x="0" y="114046"/>
                    <a:pt x="114046" y="0"/>
                    <a:pt x="254635" y="0"/>
                  </a:cubicBezTo>
                  <a:lnTo>
                    <a:pt x="3453765" y="0"/>
                  </a:lnTo>
                  <a:cubicBezTo>
                    <a:pt x="3594354" y="0"/>
                    <a:pt x="3708400" y="114046"/>
                    <a:pt x="3708400" y="254635"/>
                  </a:cubicBezTo>
                  <a:lnTo>
                    <a:pt x="3708400" y="1564005"/>
                  </a:lnTo>
                  <a:cubicBezTo>
                    <a:pt x="3708400" y="1704594"/>
                    <a:pt x="3594354" y="1818640"/>
                    <a:pt x="3453765" y="1818640"/>
                  </a:cubicBezTo>
                  <a:lnTo>
                    <a:pt x="254635" y="1818640"/>
                  </a:lnTo>
                  <a:cubicBezTo>
                    <a:pt x="114046" y="1818640"/>
                    <a:pt x="0" y="1704594"/>
                    <a:pt x="0" y="1564005"/>
                  </a:cubicBezTo>
                  <a:close/>
                </a:path>
              </a:pathLst>
            </a:custGeom>
            <a:solidFill>
              <a:srgbClr val="8FD3FF"/>
            </a:solidFill>
            <a:ln w="38100" cap="sq">
              <a:solidFill>
                <a:srgbClr val="000000"/>
              </a:solidFill>
              <a:prstDash val="solid"/>
              <a:miter/>
            </a:ln>
          </p:spPr>
        </p:sp>
        <p:sp>
          <p:nvSpPr>
            <p:cNvPr name="TextBox 65" id="65"/>
            <p:cNvSpPr txBox="true"/>
            <p:nvPr/>
          </p:nvSpPr>
          <p:spPr>
            <a:xfrm>
              <a:off x="0" y="-19050"/>
              <a:ext cx="3708400" cy="1837690"/>
            </a:xfrm>
            <a:prstGeom prst="rect">
              <a:avLst/>
            </a:prstGeom>
          </p:spPr>
          <p:txBody>
            <a:bodyPr anchor="ctr" rtlCol="false" tIns="50800" lIns="50800" bIns="50800" rIns="50800"/>
            <a:lstStyle/>
            <a:p>
              <a:pPr algn="ctr">
                <a:lnSpc>
                  <a:spcPts val="2898"/>
                </a:lnSpc>
              </a:pPr>
              <a:r>
                <a:rPr lang="en-US" sz="2300">
                  <a:solidFill>
                    <a:srgbClr val="000000"/>
                  </a:solidFill>
                  <a:latin typeface="Pixelated"/>
                  <a:ea typeface="Pixelated"/>
                  <a:cs typeface="Pixelated"/>
                  <a:sym typeface="Pixelated"/>
                </a:rPr>
                <a:t>App is RESUMED</a:t>
              </a:r>
            </a:p>
          </p:txBody>
        </p:sp>
      </p:grpSp>
      <p:grpSp>
        <p:nvGrpSpPr>
          <p:cNvPr name="Group 66" id="66"/>
          <p:cNvGrpSpPr/>
          <p:nvPr/>
        </p:nvGrpSpPr>
        <p:grpSpPr>
          <a:xfrm rot="0">
            <a:off x="3833746" y="8396602"/>
            <a:ext cx="3232147" cy="598675"/>
            <a:chOff x="0" y="0"/>
            <a:chExt cx="4309529" cy="798233"/>
          </a:xfrm>
        </p:grpSpPr>
        <p:sp>
          <p:nvSpPr>
            <p:cNvPr name="Freeform 67" id="67"/>
            <p:cNvSpPr/>
            <p:nvPr/>
          </p:nvSpPr>
          <p:spPr>
            <a:xfrm flipH="false" flipV="false" rot="0">
              <a:off x="0" y="0"/>
              <a:ext cx="4309618" cy="798322"/>
            </a:xfrm>
            <a:custGeom>
              <a:avLst/>
              <a:gdLst/>
              <a:ahLst/>
              <a:cxnLst/>
              <a:rect r="r" b="b" t="t" l="l"/>
              <a:pathLst>
                <a:path h="798322" w="4309618">
                  <a:moveTo>
                    <a:pt x="0" y="239522"/>
                  </a:moveTo>
                  <a:cubicBezTo>
                    <a:pt x="0" y="107188"/>
                    <a:pt x="107188" y="0"/>
                    <a:pt x="239522" y="0"/>
                  </a:cubicBezTo>
                  <a:lnTo>
                    <a:pt x="4070096" y="0"/>
                  </a:lnTo>
                  <a:cubicBezTo>
                    <a:pt x="4202303" y="0"/>
                    <a:pt x="4309618" y="107188"/>
                    <a:pt x="4309618" y="239522"/>
                  </a:cubicBezTo>
                  <a:lnTo>
                    <a:pt x="4309618" y="558800"/>
                  </a:lnTo>
                  <a:cubicBezTo>
                    <a:pt x="4309618" y="691007"/>
                    <a:pt x="4202430" y="798322"/>
                    <a:pt x="4070096" y="798322"/>
                  </a:cubicBezTo>
                  <a:lnTo>
                    <a:pt x="239522" y="798322"/>
                  </a:lnTo>
                  <a:cubicBezTo>
                    <a:pt x="107188" y="798195"/>
                    <a:pt x="0" y="691007"/>
                    <a:pt x="0" y="558800"/>
                  </a:cubicBezTo>
                  <a:close/>
                </a:path>
              </a:pathLst>
            </a:custGeom>
            <a:solidFill>
              <a:srgbClr val="8FD3FF"/>
            </a:solidFill>
            <a:ln w="31750" cap="sq">
              <a:solidFill>
                <a:srgbClr val="000000"/>
              </a:solidFill>
              <a:prstDash val="solid"/>
              <a:miter/>
            </a:ln>
          </p:spPr>
        </p:sp>
        <p:sp>
          <p:nvSpPr>
            <p:cNvPr name="TextBox 68" id="68"/>
            <p:cNvSpPr txBox="true"/>
            <p:nvPr/>
          </p:nvSpPr>
          <p:spPr>
            <a:xfrm>
              <a:off x="0" y="0"/>
              <a:ext cx="4309529" cy="798233"/>
            </a:xfrm>
            <a:prstGeom prst="rect">
              <a:avLst/>
            </a:prstGeom>
          </p:spPr>
          <p:txBody>
            <a:bodyPr anchor="ctr" rtlCol="false" tIns="50800" lIns="50800" bIns="50800" rIns="50800"/>
            <a:lstStyle/>
            <a:p>
              <a:pPr algn="ctr">
                <a:lnSpc>
                  <a:spcPts val="2639"/>
                </a:lnSpc>
              </a:pPr>
              <a:r>
                <a:rPr lang="en-US" sz="2199">
                  <a:solidFill>
                    <a:srgbClr val="000000"/>
                  </a:solidFill>
                  <a:latin typeface="Pixelated"/>
                  <a:ea typeface="Pixelated"/>
                  <a:cs typeface="Pixelated"/>
                  <a:sym typeface="Pixelated"/>
                </a:rPr>
                <a:t>Lifecycle</a:t>
              </a:r>
            </a:p>
          </p:txBody>
        </p:sp>
      </p:grpSp>
      <p:grpSp>
        <p:nvGrpSpPr>
          <p:cNvPr name="Group 69" id="69"/>
          <p:cNvGrpSpPr/>
          <p:nvPr/>
        </p:nvGrpSpPr>
        <p:grpSpPr>
          <a:xfrm rot="0">
            <a:off x="7491346" y="8396602"/>
            <a:ext cx="3232147" cy="598675"/>
            <a:chOff x="0" y="0"/>
            <a:chExt cx="4309529" cy="798233"/>
          </a:xfrm>
        </p:grpSpPr>
        <p:sp>
          <p:nvSpPr>
            <p:cNvPr name="Freeform 70" id="70"/>
            <p:cNvSpPr/>
            <p:nvPr/>
          </p:nvSpPr>
          <p:spPr>
            <a:xfrm flipH="false" flipV="false" rot="0">
              <a:off x="0" y="0"/>
              <a:ext cx="4309618" cy="798322"/>
            </a:xfrm>
            <a:custGeom>
              <a:avLst/>
              <a:gdLst/>
              <a:ahLst/>
              <a:cxnLst/>
              <a:rect r="r" b="b" t="t" l="l"/>
              <a:pathLst>
                <a:path h="798322" w="4309618">
                  <a:moveTo>
                    <a:pt x="0" y="239522"/>
                  </a:moveTo>
                  <a:cubicBezTo>
                    <a:pt x="0" y="107188"/>
                    <a:pt x="107188" y="0"/>
                    <a:pt x="239522" y="0"/>
                  </a:cubicBezTo>
                  <a:lnTo>
                    <a:pt x="4070096" y="0"/>
                  </a:lnTo>
                  <a:cubicBezTo>
                    <a:pt x="4202303" y="0"/>
                    <a:pt x="4309618" y="107188"/>
                    <a:pt x="4309618" y="239522"/>
                  </a:cubicBezTo>
                  <a:lnTo>
                    <a:pt x="4309618" y="558800"/>
                  </a:lnTo>
                  <a:cubicBezTo>
                    <a:pt x="4309618" y="691007"/>
                    <a:pt x="4202430" y="798322"/>
                    <a:pt x="4070096" y="798322"/>
                  </a:cubicBezTo>
                  <a:lnTo>
                    <a:pt x="239522" y="798322"/>
                  </a:lnTo>
                  <a:cubicBezTo>
                    <a:pt x="107188" y="798195"/>
                    <a:pt x="0" y="691007"/>
                    <a:pt x="0" y="558800"/>
                  </a:cubicBezTo>
                  <a:close/>
                </a:path>
              </a:pathLst>
            </a:custGeom>
            <a:solidFill>
              <a:srgbClr val="FFE066"/>
            </a:solidFill>
            <a:ln w="31750" cap="sq">
              <a:solidFill>
                <a:srgbClr val="000000"/>
              </a:solidFill>
              <a:prstDash val="solid"/>
              <a:miter/>
            </a:ln>
          </p:spPr>
        </p:sp>
        <p:sp>
          <p:nvSpPr>
            <p:cNvPr name="TextBox 71" id="71"/>
            <p:cNvSpPr txBox="true"/>
            <p:nvPr/>
          </p:nvSpPr>
          <p:spPr>
            <a:xfrm>
              <a:off x="0" y="0"/>
              <a:ext cx="4309529" cy="798233"/>
            </a:xfrm>
            <a:prstGeom prst="rect">
              <a:avLst/>
            </a:prstGeom>
          </p:spPr>
          <p:txBody>
            <a:bodyPr anchor="ctr" rtlCol="false" tIns="50800" lIns="50800" bIns="50800" rIns="50800"/>
            <a:lstStyle/>
            <a:p>
              <a:pPr algn="ctr">
                <a:lnSpc>
                  <a:spcPts val="2639"/>
                </a:lnSpc>
              </a:pPr>
              <a:r>
                <a:rPr lang="en-US" sz="2199">
                  <a:solidFill>
                    <a:srgbClr val="000000"/>
                  </a:solidFill>
                  <a:latin typeface="Pixelated"/>
                  <a:ea typeface="Pixelated"/>
                  <a:cs typeface="Pixelated"/>
                  <a:sym typeface="Pixelated"/>
                </a:rPr>
                <a:t>Permissions</a:t>
              </a:r>
            </a:p>
          </p:txBody>
        </p:sp>
      </p:grpSp>
      <p:grpSp>
        <p:nvGrpSpPr>
          <p:cNvPr name="Group 72" id="72"/>
          <p:cNvGrpSpPr/>
          <p:nvPr/>
        </p:nvGrpSpPr>
        <p:grpSpPr>
          <a:xfrm rot="0">
            <a:off x="11148946" y="8396602"/>
            <a:ext cx="3232147" cy="598675"/>
            <a:chOff x="0" y="0"/>
            <a:chExt cx="4309529" cy="798233"/>
          </a:xfrm>
        </p:grpSpPr>
        <p:sp>
          <p:nvSpPr>
            <p:cNvPr name="Freeform 73" id="73"/>
            <p:cNvSpPr/>
            <p:nvPr/>
          </p:nvSpPr>
          <p:spPr>
            <a:xfrm flipH="false" flipV="false" rot="0">
              <a:off x="0" y="0"/>
              <a:ext cx="4309618" cy="798322"/>
            </a:xfrm>
            <a:custGeom>
              <a:avLst/>
              <a:gdLst/>
              <a:ahLst/>
              <a:cxnLst/>
              <a:rect r="r" b="b" t="t" l="l"/>
              <a:pathLst>
                <a:path h="798322" w="4309618">
                  <a:moveTo>
                    <a:pt x="0" y="239522"/>
                  </a:moveTo>
                  <a:cubicBezTo>
                    <a:pt x="0" y="107188"/>
                    <a:pt x="107188" y="0"/>
                    <a:pt x="239522" y="0"/>
                  </a:cubicBezTo>
                  <a:lnTo>
                    <a:pt x="4070096" y="0"/>
                  </a:lnTo>
                  <a:cubicBezTo>
                    <a:pt x="4202303" y="0"/>
                    <a:pt x="4309618" y="107188"/>
                    <a:pt x="4309618" y="239522"/>
                  </a:cubicBezTo>
                  <a:lnTo>
                    <a:pt x="4309618" y="558800"/>
                  </a:lnTo>
                  <a:cubicBezTo>
                    <a:pt x="4309618" y="691007"/>
                    <a:pt x="4202430" y="798322"/>
                    <a:pt x="4070096" y="798322"/>
                  </a:cubicBezTo>
                  <a:lnTo>
                    <a:pt x="239522" y="798322"/>
                  </a:lnTo>
                  <a:cubicBezTo>
                    <a:pt x="107188" y="798195"/>
                    <a:pt x="0" y="691007"/>
                    <a:pt x="0" y="558800"/>
                  </a:cubicBezTo>
                  <a:close/>
                </a:path>
              </a:pathLst>
            </a:custGeom>
            <a:solidFill>
              <a:srgbClr val="FF8AD8"/>
            </a:solidFill>
            <a:ln w="31750" cap="sq">
              <a:solidFill>
                <a:srgbClr val="000000"/>
              </a:solidFill>
              <a:prstDash val="solid"/>
              <a:miter/>
            </a:ln>
          </p:spPr>
        </p:sp>
        <p:sp>
          <p:nvSpPr>
            <p:cNvPr name="TextBox 74" id="74"/>
            <p:cNvSpPr txBox="true"/>
            <p:nvPr/>
          </p:nvSpPr>
          <p:spPr>
            <a:xfrm>
              <a:off x="0" y="0"/>
              <a:ext cx="4309529" cy="798233"/>
            </a:xfrm>
            <a:prstGeom prst="rect">
              <a:avLst/>
            </a:prstGeom>
          </p:spPr>
          <p:txBody>
            <a:bodyPr anchor="ctr" rtlCol="false" tIns="50800" lIns="50800" bIns="50800" rIns="50800"/>
            <a:lstStyle/>
            <a:p>
              <a:pPr algn="ctr">
                <a:lnSpc>
                  <a:spcPts val="2639"/>
                </a:lnSpc>
              </a:pPr>
              <a:r>
                <a:rPr lang="en-US" sz="2199">
                  <a:solidFill>
                    <a:srgbClr val="000000"/>
                  </a:solidFill>
                  <a:latin typeface="Pixelated"/>
                  <a:ea typeface="Pixelated"/>
                  <a:cs typeface="Pixelated"/>
                  <a:sym typeface="Pixelated"/>
                </a:rPr>
                <a:t>Notifications</a:t>
              </a:r>
            </a:p>
          </p:txBody>
        </p:sp>
      </p:grpSp>
      <p:sp>
        <p:nvSpPr>
          <p:cNvPr name="AutoShape 75" id="75"/>
          <p:cNvSpPr/>
          <p:nvPr/>
        </p:nvSpPr>
        <p:spPr>
          <a:xfrm flipH="true">
            <a:off x="4002512" y="7041517"/>
            <a:ext cx="439567" cy="0"/>
          </a:xfrm>
          <a:prstGeom prst="line">
            <a:avLst/>
          </a:prstGeom>
          <a:ln cap="rnd" w="38100">
            <a:solidFill>
              <a:srgbClr val="FFFFFF"/>
            </a:solidFill>
            <a:prstDash val="solid"/>
            <a:headEnd type="none" len="sm" w="sm"/>
            <a:tailEnd type="triangle" len="med" w="lg"/>
          </a:ln>
        </p:spPr>
      </p:sp>
      <p:sp>
        <p:nvSpPr>
          <p:cNvPr name="AutoShape 76" id="76"/>
          <p:cNvSpPr/>
          <p:nvPr/>
        </p:nvSpPr>
        <p:spPr>
          <a:xfrm flipH="true">
            <a:off x="7277207" y="7022467"/>
            <a:ext cx="439567" cy="0"/>
          </a:xfrm>
          <a:prstGeom prst="line">
            <a:avLst/>
          </a:prstGeom>
          <a:ln cap="rnd" w="38100">
            <a:solidFill>
              <a:srgbClr val="FFFFFF"/>
            </a:solidFill>
            <a:prstDash val="solid"/>
            <a:headEnd type="none" len="sm" w="sm"/>
            <a:tailEnd type="triangle" len="med" w="lg"/>
          </a:ln>
        </p:spPr>
      </p:sp>
      <p:sp>
        <p:nvSpPr>
          <p:cNvPr name="AutoShape 77" id="77"/>
          <p:cNvSpPr/>
          <p:nvPr/>
        </p:nvSpPr>
        <p:spPr>
          <a:xfrm flipH="true">
            <a:off x="10498074" y="7041517"/>
            <a:ext cx="439567" cy="0"/>
          </a:xfrm>
          <a:prstGeom prst="line">
            <a:avLst/>
          </a:prstGeom>
          <a:ln cap="rnd" w="38100">
            <a:solidFill>
              <a:srgbClr val="FFFFFF"/>
            </a:solidFill>
            <a:prstDash val="solid"/>
            <a:headEnd type="none" len="sm" w="sm"/>
            <a:tailEnd type="triangle" len="med" w="lg"/>
          </a:ln>
        </p:spPr>
      </p:sp>
      <p:sp>
        <p:nvSpPr>
          <p:cNvPr name="AutoShape 78" id="78"/>
          <p:cNvSpPr/>
          <p:nvPr/>
        </p:nvSpPr>
        <p:spPr>
          <a:xfrm>
            <a:off x="10526649" y="4922520"/>
            <a:ext cx="436245" cy="0"/>
          </a:xfrm>
          <a:prstGeom prst="line">
            <a:avLst/>
          </a:prstGeom>
          <a:ln cap="rnd" w="38100">
            <a:solidFill>
              <a:srgbClr val="FFFFFF"/>
            </a:solidFill>
            <a:prstDash val="solid"/>
            <a:headEnd type="none" len="sm" w="sm"/>
            <a:tailEnd type="triangle" len="med" w="lg"/>
          </a:ln>
        </p:spPr>
      </p:sp>
      <p:sp>
        <p:nvSpPr>
          <p:cNvPr name="AutoShape 79" id="79"/>
          <p:cNvSpPr/>
          <p:nvPr/>
        </p:nvSpPr>
        <p:spPr>
          <a:xfrm>
            <a:off x="7280529" y="4941570"/>
            <a:ext cx="436245" cy="0"/>
          </a:xfrm>
          <a:prstGeom prst="line">
            <a:avLst/>
          </a:prstGeom>
          <a:ln cap="rnd" w="38100">
            <a:solidFill>
              <a:srgbClr val="FFFFFF"/>
            </a:solidFill>
            <a:prstDash val="solid"/>
            <a:headEnd type="none" len="sm" w="sm"/>
            <a:tailEnd type="triangle" len="med" w="lg"/>
          </a:ln>
        </p:spPr>
      </p:sp>
      <p:sp>
        <p:nvSpPr>
          <p:cNvPr name="AutoShape 80" id="80"/>
          <p:cNvSpPr/>
          <p:nvPr/>
        </p:nvSpPr>
        <p:spPr>
          <a:xfrm>
            <a:off x="13772769" y="4903470"/>
            <a:ext cx="436245" cy="0"/>
          </a:xfrm>
          <a:prstGeom prst="line">
            <a:avLst/>
          </a:prstGeom>
          <a:ln cap="rnd" w="38100">
            <a:solidFill>
              <a:srgbClr val="FFFFFF"/>
            </a:solidFill>
            <a:prstDash val="solid"/>
            <a:headEnd type="none" len="sm" w="sm"/>
            <a:tailEnd type="triangle" len="med" w="lg"/>
          </a:ln>
        </p:spPr>
      </p:sp>
      <p:sp>
        <p:nvSpPr>
          <p:cNvPr name="AutoShape 81" id="81"/>
          <p:cNvSpPr/>
          <p:nvPr/>
        </p:nvSpPr>
        <p:spPr>
          <a:xfrm flipH="true">
            <a:off x="15791882" y="5727968"/>
            <a:ext cx="29714" cy="653782"/>
          </a:xfrm>
          <a:prstGeom prst="line">
            <a:avLst/>
          </a:prstGeom>
          <a:ln cap="rnd" w="38100">
            <a:solidFill>
              <a:srgbClr val="FFFFFF"/>
            </a:solidFill>
            <a:prstDash val="solid"/>
            <a:headEnd type="none" len="sm" w="sm"/>
            <a:tailEnd type="triangle" len="med" w="lg"/>
          </a:ln>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3447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59"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7" id="7"/>
          <p:cNvSpPr/>
          <p:nvPr/>
        </p:nvSpPr>
        <p:spPr>
          <a:xfrm flipH="false" flipV="false" rot="0">
            <a:off x="13716000"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8" id="8"/>
          <p:cNvSpPr/>
          <p:nvPr/>
        </p:nvSpPr>
        <p:spPr>
          <a:xfrm flipH="false" flipV="false" rot="0">
            <a:off x="15606293" y="4526280"/>
            <a:ext cx="1735693" cy="4114800"/>
          </a:xfrm>
          <a:custGeom>
            <a:avLst/>
            <a:gdLst/>
            <a:ahLst/>
            <a:cxnLst/>
            <a:rect r="r" b="b" t="t" l="l"/>
            <a:pathLst>
              <a:path h="4114800" w="1735693">
                <a:moveTo>
                  <a:pt x="0" y="0"/>
                </a:moveTo>
                <a:lnTo>
                  <a:pt x="1735694" y="0"/>
                </a:lnTo>
                <a:lnTo>
                  <a:pt x="173569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9" id="9"/>
          <p:cNvSpPr/>
          <p:nvPr/>
        </p:nvSpPr>
        <p:spPr>
          <a:xfrm flipH="false" flipV="false" rot="0">
            <a:off x="11275390"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0" id="10"/>
          <p:cNvSpPr/>
          <p:nvPr/>
        </p:nvSpPr>
        <p:spPr>
          <a:xfrm flipH="false" flipV="false" rot="0">
            <a:off x="5637695"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1" id="11"/>
          <p:cNvSpPr/>
          <p:nvPr/>
        </p:nvSpPr>
        <p:spPr>
          <a:xfrm flipH="false" flipV="false" rot="0">
            <a:off x="1028700" y="4526280"/>
            <a:ext cx="1735693" cy="4114800"/>
          </a:xfrm>
          <a:custGeom>
            <a:avLst/>
            <a:gdLst/>
            <a:ahLst/>
            <a:cxnLst/>
            <a:rect r="r" b="b" t="t" l="l"/>
            <a:pathLst>
              <a:path h="4114800" w="1735693">
                <a:moveTo>
                  <a:pt x="0" y="0"/>
                </a:moveTo>
                <a:lnTo>
                  <a:pt x="1735693" y="0"/>
                </a:lnTo>
                <a:lnTo>
                  <a:pt x="173569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12" id="12"/>
          <p:cNvSpPr/>
          <p:nvPr/>
        </p:nvSpPr>
        <p:spPr>
          <a:xfrm flipH="false" flipV="false" rot="0">
            <a:off x="5477789" y="7654261"/>
            <a:ext cx="958044" cy="958044"/>
          </a:xfrm>
          <a:custGeom>
            <a:avLst/>
            <a:gdLst/>
            <a:ahLst/>
            <a:cxnLst/>
            <a:rect r="r" b="b" t="t" l="l"/>
            <a:pathLst>
              <a:path h="958044" w="958044">
                <a:moveTo>
                  <a:pt x="0" y="0"/>
                </a:moveTo>
                <a:lnTo>
                  <a:pt x="958044" y="0"/>
                </a:lnTo>
                <a:lnTo>
                  <a:pt x="958044"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5" y="7654261"/>
            <a:ext cx="958044" cy="958044"/>
          </a:xfrm>
          <a:custGeom>
            <a:avLst/>
            <a:gdLst/>
            <a:ahLst/>
            <a:cxnLst/>
            <a:rect r="r" b="b" t="t" l="l"/>
            <a:pathLst>
              <a:path h="958044" w="958044">
                <a:moveTo>
                  <a:pt x="0" y="0"/>
                </a:moveTo>
                <a:lnTo>
                  <a:pt x="958043" y="0"/>
                </a:lnTo>
                <a:lnTo>
                  <a:pt x="958043"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3" y="4795695"/>
            <a:ext cx="1956883" cy="3816610"/>
          </a:xfrm>
          <a:custGeom>
            <a:avLst/>
            <a:gdLst/>
            <a:ahLst/>
            <a:cxnLst/>
            <a:rect r="r" b="b" t="t" l="l"/>
            <a:pathLst>
              <a:path h="3816610" w="1956883">
                <a:moveTo>
                  <a:pt x="0" y="0"/>
                </a:moveTo>
                <a:lnTo>
                  <a:pt x="1956883" y="0"/>
                </a:lnTo>
                <a:lnTo>
                  <a:pt x="1956883" y="3816610"/>
                </a:lnTo>
                <a:lnTo>
                  <a:pt x="0" y="3816610"/>
                </a:lnTo>
                <a:lnTo>
                  <a:pt x="0" y="0"/>
                </a:lnTo>
                <a:close/>
              </a:path>
            </a:pathLst>
          </a:custGeom>
          <a:blipFill>
            <a:blip r:embed="rId14">
              <a:extLst>
                <a:ext uri="{96DAC541-7B7A-43D3-8B79-37D633B846F1}">
                  <asvg:svgBlip xmlns:asvg="http://schemas.microsoft.com/office/drawing/2016/SVG/main" r:embed="rId15"/>
                </a:ext>
              </a:extLst>
            </a:blip>
            <a:stretch>
              <a:fillRect l="-96" t="0" r="-96" b="0"/>
            </a:stretch>
          </a:blipFill>
        </p:spPr>
      </p:sp>
      <p:sp>
        <p:nvSpPr>
          <p:cNvPr name="Freeform 15" id="15"/>
          <p:cNvSpPr/>
          <p:nvPr/>
        </p:nvSpPr>
        <p:spPr>
          <a:xfrm flipH="false" flipV="false" rot="0">
            <a:off x="474144" y="720090"/>
            <a:ext cx="17339722" cy="8889235"/>
          </a:xfrm>
          <a:custGeom>
            <a:avLst/>
            <a:gdLst/>
            <a:ahLst/>
            <a:cxnLst/>
            <a:rect r="r" b="b" t="t" l="l"/>
            <a:pathLst>
              <a:path h="8889235" w="17339722">
                <a:moveTo>
                  <a:pt x="0" y="0"/>
                </a:moveTo>
                <a:lnTo>
                  <a:pt x="17339722" y="0"/>
                </a:lnTo>
                <a:lnTo>
                  <a:pt x="17339722" y="8889235"/>
                </a:lnTo>
                <a:lnTo>
                  <a:pt x="0" y="888923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0"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7" id="17"/>
          <p:cNvSpPr/>
          <p:nvPr/>
        </p:nvSpPr>
        <p:spPr>
          <a:xfrm flipH="false" flipV="false" rot="0">
            <a:off x="16754304"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grpSp>
        <p:nvGrpSpPr>
          <p:cNvPr name="Group 18" id="18"/>
          <p:cNvGrpSpPr/>
          <p:nvPr/>
        </p:nvGrpSpPr>
        <p:grpSpPr>
          <a:xfrm rot="0">
            <a:off x="1896551" y="411480"/>
            <a:ext cx="715613" cy="617220"/>
            <a:chOff x="0" y="0"/>
            <a:chExt cx="954151" cy="822960"/>
          </a:xfrm>
        </p:grpSpPr>
        <p:sp>
          <p:nvSpPr>
            <p:cNvPr name="Freeform 19" id="19"/>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0" id="20"/>
          <p:cNvGrpSpPr/>
          <p:nvPr/>
        </p:nvGrpSpPr>
        <p:grpSpPr>
          <a:xfrm rot="0">
            <a:off x="2612165" y="411480"/>
            <a:ext cx="715613" cy="617220"/>
            <a:chOff x="0" y="0"/>
            <a:chExt cx="954151" cy="822960"/>
          </a:xfrm>
        </p:grpSpPr>
        <p:sp>
          <p:nvSpPr>
            <p:cNvPr name="Freeform 21" id="21"/>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2" id="22"/>
          <p:cNvGrpSpPr/>
          <p:nvPr/>
        </p:nvGrpSpPr>
        <p:grpSpPr>
          <a:xfrm rot="0">
            <a:off x="3327787" y="411480"/>
            <a:ext cx="715613" cy="617220"/>
            <a:chOff x="0" y="0"/>
            <a:chExt cx="954151" cy="822960"/>
          </a:xfrm>
        </p:grpSpPr>
        <p:sp>
          <p:nvSpPr>
            <p:cNvPr name="Freeform 23" id="23"/>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sp>
        <p:nvSpPr>
          <p:cNvPr name="Freeform 24" id="24"/>
          <p:cNvSpPr/>
          <p:nvPr/>
        </p:nvSpPr>
        <p:spPr>
          <a:xfrm flipH="false" flipV="false" rot="0">
            <a:off x="13975671" y="411480"/>
            <a:ext cx="729758" cy="729758"/>
          </a:xfrm>
          <a:custGeom>
            <a:avLst/>
            <a:gdLst/>
            <a:ahLst/>
            <a:cxnLst/>
            <a:rect r="r" b="b" t="t" l="l"/>
            <a:pathLst>
              <a:path h="729758" w="729758">
                <a:moveTo>
                  <a:pt x="0" y="0"/>
                </a:moveTo>
                <a:lnTo>
                  <a:pt x="729757" y="0"/>
                </a:lnTo>
                <a:lnTo>
                  <a:pt x="729757"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5" id="25"/>
          <p:cNvSpPr txBox="true"/>
          <p:nvPr/>
        </p:nvSpPr>
        <p:spPr>
          <a:xfrm rot="0">
            <a:off x="2060277" y="1664970"/>
            <a:ext cx="14084884" cy="1257300"/>
          </a:xfrm>
          <a:prstGeom prst="rect">
            <a:avLst/>
          </a:prstGeom>
        </p:spPr>
        <p:txBody>
          <a:bodyPr anchor="t" rtlCol="false" tIns="0" lIns="0" bIns="0" rIns="0">
            <a:spAutoFit/>
          </a:bodyPr>
          <a:lstStyle/>
          <a:p>
            <a:pPr algn="ctr">
              <a:lnSpc>
                <a:spcPts val="9600"/>
              </a:lnSpc>
            </a:pPr>
            <a:r>
              <a:rPr lang="en-US" sz="8000">
                <a:solidFill>
                  <a:srgbClr val="FFFFFF"/>
                </a:solidFill>
                <a:latin typeface="VT323"/>
                <a:ea typeface="VT323"/>
                <a:cs typeface="VT323"/>
                <a:sym typeface="VT323"/>
              </a:rPr>
              <a:t>LOCAL DATA &amp; REMOTE DATA</a:t>
            </a:r>
          </a:p>
        </p:txBody>
      </p:sp>
      <p:sp>
        <p:nvSpPr>
          <p:cNvPr name="Freeform 26" id="26"/>
          <p:cNvSpPr/>
          <p:nvPr/>
        </p:nvSpPr>
        <p:spPr>
          <a:xfrm flipH="false" flipV="false" rot="0">
            <a:off x="14863515"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7" id="27"/>
          <p:cNvSpPr/>
          <p:nvPr/>
        </p:nvSpPr>
        <p:spPr>
          <a:xfrm flipH="false" flipV="false" rot="0">
            <a:off x="15751359"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8" id="28"/>
          <p:cNvSpPr/>
          <p:nvPr/>
        </p:nvSpPr>
        <p:spPr>
          <a:xfrm flipH="false" flipV="false" rot="0">
            <a:off x="15462675" y="2057400"/>
            <a:ext cx="653567" cy="609600"/>
          </a:xfrm>
          <a:custGeom>
            <a:avLst/>
            <a:gdLst/>
            <a:ahLst/>
            <a:cxnLst/>
            <a:rect r="r" b="b" t="t" l="l"/>
            <a:pathLst>
              <a:path h="609600" w="653567">
                <a:moveTo>
                  <a:pt x="0" y="0"/>
                </a:moveTo>
                <a:lnTo>
                  <a:pt x="653568" y="0"/>
                </a:lnTo>
                <a:lnTo>
                  <a:pt x="653568" y="609600"/>
                </a:lnTo>
                <a:lnTo>
                  <a:pt x="0" y="609600"/>
                </a:lnTo>
                <a:lnTo>
                  <a:pt x="0" y="0"/>
                </a:lnTo>
                <a:close/>
              </a:path>
            </a:pathLst>
          </a:custGeom>
          <a:blipFill>
            <a:blip r:embed="rId21">
              <a:extLst>
                <a:ext uri="{96DAC541-7B7A-43D3-8B79-37D633B846F1}">
                  <asvg:svgBlip xmlns:asvg="http://schemas.microsoft.com/office/drawing/2016/SVG/main" r:embed="rId22"/>
                </a:ext>
              </a:extLst>
            </a:blip>
            <a:stretch>
              <a:fillRect l="0" t="-498" r="0" b="-498"/>
            </a:stretch>
          </a:blipFill>
        </p:spPr>
      </p:sp>
      <p:sp>
        <p:nvSpPr>
          <p:cNvPr name="Freeform 29" id="29"/>
          <p:cNvSpPr/>
          <p:nvPr/>
        </p:nvSpPr>
        <p:spPr>
          <a:xfrm flipH="false" flipV="false" rot="0">
            <a:off x="2880360" y="4069080"/>
            <a:ext cx="4937760" cy="960120"/>
          </a:xfrm>
          <a:custGeom>
            <a:avLst/>
            <a:gdLst/>
            <a:ahLst/>
            <a:cxnLst/>
            <a:rect r="r" b="b" t="t" l="l"/>
            <a:pathLst>
              <a:path h="960120" w="4937760">
                <a:moveTo>
                  <a:pt x="0" y="0"/>
                </a:moveTo>
                <a:lnTo>
                  <a:pt x="4937760" y="0"/>
                </a:lnTo>
                <a:lnTo>
                  <a:pt x="4937760" y="960120"/>
                </a:lnTo>
                <a:lnTo>
                  <a:pt x="0" y="960120"/>
                </a:lnTo>
                <a:lnTo>
                  <a:pt x="0" y="0"/>
                </a:lnTo>
                <a:close/>
              </a:path>
            </a:pathLst>
          </a:custGeom>
          <a:blipFill>
            <a:blip r:embed="rId23">
              <a:extLst>
                <a:ext uri="{96DAC541-7B7A-43D3-8B79-37D633B846F1}">
                  <asvg:svgBlip xmlns:asvg="http://schemas.microsoft.com/office/drawing/2016/SVG/main" r:embed="rId24"/>
                </a:ext>
              </a:extLst>
            </a:blip>
            <a:stretch>
              <a:fillRect l="0" t="-6482" r="0" b="-6482"/>
            </a:stretch>
          </a:blipFill>
        </p:spPr>
      </p:sp>
      <p:sp>
        <p:nvSpPr>
          <p:cNvPr name="Freeform 30" id="30"/>
          <p:cNvSpPr/>
          <p:nvPr/>
        </p:nvSpPr>
        <p:spPr>
          <a:xfrm flipH="false" flipV="false" rot="0">
            <a:off x="10634472" y="4069080"/>
            <a:ext cx="4937760" cy="960120"/>
          </a:xfrm>
          <a:custGeom>
            <a:avLst/>
            <a:gdLst/>
            <a:ahLst/>
            <a:cxnLst/>
            <a:rect r="r" b="b" t="t" l="l"/>
            <a:pathLst>
              <a:path h="960120" w="4937760">
                <a:moveTo>
                  <a:pt x="0" y="0"/>
                </a:moveTo>
                <a:lnTo>
                  <a:pt x="4937760" y="0"/>
                </a:lnTo>
                <a:lnTo>
                  <a:pt x="4937760" y="960120"/>
                </a:lnTo>
                <a:lnTo>
                  <a:pt x="0" y="960120"/>
                </a:lnTo>
                <a:lnTo>
                  <a:pt x="0" y="0"/>
                </a:lnTo>
                <a:close/>
              </a:path>
            </a:pathLst>
          </a:custGeom>
          <a:blipFill>
            <a:blip r:embed="rId23">
              <a:extLst>
                <a:ext uri="{96DAC541-7B7A-43D3-8B79-37D633B846F1}">
                  <asvg:svgBlip xmlns:asvg="http://schemas.microsoft.com/office/drawing/2016/SVG/main" r:embed="rId24"/>
                </a:ext>
              </a:extLst>
            </a:blip>
            <a:stretch>
              <a:fillRect l="0" t="-6482" r="0" b="-6482"/>
            </a:stretch>
          </a:blipFill>
        </p:spPr>
      </p:sp>
      <p:grpSp>
        <p:nvGrpSpPr>
          <p:cNvPr name="Group 31" id="31"/>
          <p:cNvGrpSpPr/>
          <p:nvPr/>
        </p:nvGrpSpPr>
        <p:grpSpPr>
          <a:xfrm rot="0">
            <a:off x="2060277" y="1204979"/>
            <a:ext cx="13990320" cy="457200"/>
            <a:chOff x="0" y="0"/>
            <a:chExt cx="18653760" cy="609600"/>
          </a:xfrm>
        </p:grpSpPr>
        <p:sp>
          <p:nvSpPr>
            <p:cNvPr name="Freeform 32" id="32"/>
            <p:cNvSpPr/>
            <p:nvPr/>
          </p:nvSpPr>
          <p:spPr>
            <a:xfrm flipH="false" flipV="false" rot="0">
              <a:off x="0" y="0"/>
              <a:ext cx="18653761" cy="609600"/>
            </a:xfrm>
            <a:custGeom>
              <a:avLst/>
              <a:gdLst/>
              <a:ahLst/>
              <a:cxnLst/>
              <a:rect r="r" b="b" t="t" l="l"/>
              <a:pathLst>
                <a:path h="609600" w="18653761">
                  <a:moveTo>
                    <a:pt x="0" y="0"/>
                  </a:moveTo>
                  <a:lnTo>
                    <a:pt x="18653761" y="0"/>
                  </a:lnTo>
                  <a:lnTo>
                    <a:pt x="18653761" y="609600"/>
                  </a:lnTo>
                  <a:lnTo>
                    <a:pt x="0" y="609600"/>
                  </a:lnTo>
                  <a:close/>
                </a:path>
              </a:pathLst>
            </a:custGeom>
            <a:blipFill>
              <a:blip r:embed="rId25">
                <a:alphaModFix amt="0"/>
              </a:blip>
              <a:stretch>
                <a:fillRect l="0" t="-546242" r="0" b="-546242"/>
              </a:stretch>
            </a:blipFill>
          </p:spPr>
        </p:sp>
        <p:sp>
          <p:nvSpPr>
            <p:cNvPr name="TextBox 33" id="33"/>
            <p:cNvSpPr txBox="true"/>
            <p:nvPr/>
          </p:nvSpPr>
          <p:spPr>
            <a:xfrm>
              <a:off x="0" y="-19050"/>
              <a:ext cx="18653760" cy="628650"/>
            </a:xfrm>
            <a:prstGeom prst="rect">
              <a:avLst/>
            </a:prstGeom>
          </p:spPr>
          <p:txBody>
            <a:bodyPr anchor="ctr" rtlCol="false" tIns="0" lIns="0" bIns="0" rIns="0"/>
            <a:lstStyle/>
            <a:p>
              <a:pPr algn="ctr">
                <a:lnSpc>
                  <a:spcPts val="3600"/>
                </a:lnSpc>
              </a:pPr>
              <a:r>
                <a:rPr lang="en-US" sz="3000">
                  <a:solidFill>
                    <a:srgbClr val="FFFFFF"/>
                  </a:solidFill>
                  <a:latin typeface="VT323"/>
                  <a:ea typeface="VT323"/>
                  <a:cs typeface="VT323"/>
                  <a:sym typeface="VT323"/>
                </a:rPr>
                <a:t>SYNCHRONIZING LOCAL &amp; REMOTE APPLICATION DATA</a:t>
              </a:r>
            </a:p>
          </p:txBody>
        </p:sp>
      </p:grpSp>
      <p:grpSp>
        <p:nvGrpSpPr>
          <p:cNvPr name="Group 34" id="34"/>
          <p:cNvGrpSpPr/>
          <p:nvPr/>
        </p:nvGrpSpPr>
        <p:grpSpPr>
          <a:xfrm rot="0">
            <a:off x="2103120" y="3017520"/>
            <a:ext cx="13990320" cy="457200"/>
            <a:chOff x="0" y="0"/>
            <a:chExt cx="18653760" cy="609600"/>
          </a:xfrm>
        </p:grpSpPr>
        <p:sp>
          <p:nvSpPr>
            <p:cNvPr name="Freeform 35" id="35"/>
            <p:cNvSpPr/>
            <p:nvPr/>
          </p:nvSpPr>
          <p:spPr>
            <a:xfrm flipH="false" flipV="false" rot="0">
              <a:off x="0" y="0"/>
              <a:ext cx="18653761" cy="609600"/>
            </a:xfrm>
            <a:custGeom>
              <a:avLst/>
              <a:gdLst/>
              <a:ahLst/>
              <a:cxnLst/>
              <a:rect r="r" b="b" t="t" l="l"/>
              <a:pathLst>
                <a:path h="609600" w="18653761">
                  <a:moveTo>
                    <a:pt x="0" y="0"/>
                  </a:moveTo>
                  <a:lnTo>
                    <a:pt x="18653761" y="0"/>
                  </a:lnTo>
                  <a:lnTo>
                    <a:pt x="18653761" y="609600"/>
                  </a:lnTo>
                  <a:lnTo>
                    <a:pt x="0" y="609600"/>
                  </a:lnTo>
                  <a:close/>
                </a:path>
              </a:pathLst>
            </a:custGeom>
            <a:blipFill>
              <a:blip r:embed="rId25">
                <a:alphaModFix amt="0"/>
              </a:blip>
              <a:stretch>
                <a:fillRect l="0" t="-546242" r="0" b="-546242"/>
              </a:stretch>
            </a:blipFill>
          </p:spPr>
        </p:sp>
        <p:sp>
          <p:nvSpPr>
            <p:cNvPr name="TextBox 36" id="36"/>
            <p:cNvSpPr txBox="true"/>
            <p:nvPr/>
          </p:nvSpPr>
          <p:spPr>
            <a:xfrm>
              <a:off x="0" y="-66675"/>
              <a:ext cx="18653760" cy="676275"/>
            </a:xfrm>
            <a:prstGeom prst="rect">
              <a:avLst/>
            </a:prstGeom>
          </p:spPr>
          <p:txBody>
            <a:bodyPr anchor="ctr" rtlCol="false" tIns="0" lIns="0" bIns="0" rIns="0"/>
            <a:lstStyle/>
            <a:p>
              <a:pPr algn="ctr">
                <a:lnSpc>
                  <a:spcPts val="4031"/>
                </a:lnSpc>
              </a:pPr>
              <a:r>
                <a:rPr lang="en-US" sz="2799">
                  <a:solidFill>
                    <a:srgbClr val="FFE066"/>
                  </a:solidFill>
                  <a:latin typeface="Pixelated"/>
                  <a:ea typeface="Pixelated"/>
                  <a:cs typeface="Pixelated"/>
                  <a:sym typeface="Pixelated"/>
                </a:rPr>
                <a:t>Where does an app store data?</a:t>
              </a:r>
            </a:p>
          </p:txBody>
        </p:sp>
      </p:grpSp>
      <p:grpSp>
        <p:nvGrpSpPr>
          <p:cNvPr name="Group 37" id="37"/>
          <p:cNvGrpSpPr/>
          <p:nvPr/>
        </p:nvGrpSpPr>
        <p:grpSpPr>
          <a:xfrm rot="0">
            <a:off x="2103120" y="3520440"/>
            <a:ext cx="13990320" cy="457200"/>
            <a:chOff x="0" y="0"/>
            <a:chExt cx="18653760" cy="609600"/>
          </a:xfrm>
        </p:grpSpPr>
        <p:sp>
          <p:nvSpPr>
            <p:cNvPr name="Freeform 38" id="38"/>
            <p:cNvSpPr/>
            <p:nvPr/>
          </p:nvSpPr>
          <p:spPr>
            <a:xfrm flipH="false" flipV="false" rot="0">
              <a:off x="0" y="0"/>
              <a:ext cx="18653761" cy="609600"/>
            </a:xfrm>
            <a:custGeom>
              <a:avLst/>
              <a:gdLst/>
              <a:ahLst/>
              <a:cxnLst/>
              <a:rect r="r" b="b" t="t" l="l"/>
              <a:pathLst>
                <a:path h="609600" w="18653761">
                  <a:moveTo>
                    <a:pt x="0" y="0"/>
                  </a:moveTo>
                  <a:lnTo>
                    <a:pt x="18653761" y="0"/>
                  </a:lnTo>
                  <a:lnTo>
                    <a:pt x="18653761" y="609600"/>
                  </a:lnTo>
                  <a:lnTo>
                    <a:pt x="0" y="609600"/>
                  </a:lnTo>
                  <a:close/>
                </a:path>
              </a:pathLst>
            </a:custGeom>
            <a:blipFill>
              <a:blip r:embed="rId25">
                <a:alphaModFix amt="0"/>
              </a:blip>
              <a:stretch>
                <a:fillRect l="0" t="-546242" r="0" b="-546242"/>
              </a:stretch>
            </a:blipFill>
          </p:spPr>
        </p:sp>
        <p:sp>
          <p:nvSpPr>
            <p:cNvPr name="TextBox 39" id="39"/>
            <p:cNvSpPr txBox="true"/>
            <p:nvPr/>
          </p:nvSpPr>
          <p:spPr>
            <a:xfrm>
              <a:off x="0" y="-66675"/>
              <a:ext cx="18653760" cy="676275"/>
            </a:xfrm>
            <a:prstGeom prst="rect">
              <a:avLst/>
            </a:prstGeom>
          </p:spPr>
          <p:txBody>
            <a:bodyPr anchor="ctr" rtlCol="false" tIns="0" lIns="0" bIns="0" rIns="0"/>
            <a:lstStyle/>
            <a:p>
              <a:pPr algn="ctr">
                <a:lnSpc>
                  <a:spcPts val="3744"/>
                </a:lnSpc>
              </a:pPr>
              <a:r>
                <a:rPr lang="en-US" sz="2600">
                  <a:solidFill>
                    <a:srgbClr val="FFFFFF"/>
                  </a:solidFill>
                  <a:latin typeface="Pixelated"/>
                  <a:ea typeface="Pixelated"/>
                  <a:cs typeface="Pixelated"/>
                  <a:sym typeface="Pixelated"/>
                </a:rPr>
                <a:t>An application can work with two types of data:</a:t>
              </a:r>
            </a:p>
          </p:txBody>
        </p:sp>
      </p:grpSp>
      <p:grpSp>
        <p:nvGrpSpPr>
          <p:cNvPr name="Group 40" id="40"/>
          <p:cNvGrpSpPr/>
          <p:nvPr/>
        </p:nvGrpSpPr>
        <p:grpSpPr>
          <a:xfrm rot="0">
            <a:off x="2880360" y="4069080"/>
            <a:ext cx="4937760" cy="960120"/>
            <a:chOff x="0" y="0"/>
            <a:chExt cx="6583680" cy="1280160"/>
          </a:xfrm>
        </p:grpSpPr>
        <p:sp>
          <p:nvSpPr>
            <p:cNvPr name="Freeform 41" id="41"/>
            <p:cNvSpPr/>
            <p:nvPr/>
          </p:nvSpPr>
          <p:spPr>
            <a:xfrm flipH="false" flipV="false" rot="0">
              <a:off x="0" y="0"/>
              <a:ext cx="6583680" cy="1280160"/>
            </a:xfrm>
            <a:custGeom>
              <a:avLst/>
              <a:gdLst/>
              <a:ahLst/>
              <a:cxnLst/>
              <a:rect r="r" b="b" t="t" l="l"/>
              <a:pathLst>
                <a:path h="1280160" w="6583680">
                  <a:moveTo>
                    <a:pt x="0" y="0"/>
                  </a:moveTo>
                  <a:lnTo>
                    <a:pt x="6583680" y="0"/>
                  </a:lnTo>
                  <a:lnTo>
                    <a:pt x="6583680" y="1280160"/>
                  </a:lnTo>
                  <a:lnTo>
                    <a:pt x="0" y="1280160"/>
                  </a:lnTo>
                  <a:close/>
                </a:path>
              </a:pathLst>
            </a:custGeom>
            <a:blipFill>
              <a:blip r:embed="rId25">
                <a:alphaModFix amt="0"/>
              </a:blip>
              <a:stretch>
                <a:fillRect l="0" t="-50208" r="0" b="-50208"/>
              </a:stretch>
            </a:blipFill>
          </p:spPr>
        </p:sp>
        <p:sp>
          <p:nvSpPr>
            <p:cNvPr name="TextBox 42" id="42"/>
            <p:cNvSpPr txBox="true"/>
            <p:nvPr/>
          </p:nvSpPr>
          <p:spPr>
            <a:xfrm>
              <a:off x="0" y="-9525"/>
              <a:ext cx="6583680" cy="1289685"/>
            </a:xfrm>
            <a:prstGeom prst="rect">
              <a:avLst/>
            </a:prstGeom>
          </p:spPr>
          <p:txBody>
            <a:bodyPr anchor="ctr" rtlCol="false" tIns="0" lIns="0" bIns="0" rIns="0"/>
            <a:lstStyle/>
            <a:p>
              <a:pPr algn="ctr">
                <a:lnSpc>
                  <a:spcPts val="3840"/>
                </a:lnSpc>
              </a:pPr>
              <a:r>
                <a:rPr lang="en-US" sz="3200">
                  <a:solidFill>
                    <a:srgbClr val="000000"/>
                  </a:solidFill>
                  <a:latin typeface="Pixelated"/>
                  <a:ea typeface="Pixelated"/>
                  <a:cs typeface="Pixelated"/>
                  <a:sym typeface="Pixelated"/>
                </a:rPr>
                <a:t>Local Data</a:t>
              </a:r>
            </a:p>
          </p:txBody>
        </p:sp>
      </p:grpSp>
      <p:grpSp>
        <p:nvGrpSpPr>
          <p:cNvPr name="Group 43" id="43"/>
          <p:cNvGrpSpPr/>
          <p:nvPr/>
        </p:nvGrpSpPr>
        <p:grpSpPr>
          <a:xfrm rot="0">
            <a:off x="10634472" y="4069080"/>
            <a:ext cx="4937760" cy="960120"/>
            <a:chOff x="0" y="0"/>
            <a:chExt cx="6583680" cy="1280160"/>
          </a:xfrm>
        </p:grpSpPr>
        <p:sp>
          <p:nvSpPr>
            <p:cNvPr name="Freeform 44" id="44"/>
            <p:cNvSpPr/>
            <p:nvPr/>
          </p:nvSpPr>
          <p:spPr>
            <a:xfrm flipH="false" flipV="false" rot="0">
              <a:off x="0" y="0"/>
              <a:ext cx="6583680" cy="1280160"/>
            </a:xfrm>
            <a:custGeom>
              <a:avLst/>
              <a:gdLst/>
              <a:ahLst/>
              <a:cxnLst/>
              <a:rect r="r" b="b" t="t" l="l"/>
              <a:pathLst>
                <a:path h="1280160" w="6583680">
                  <a:moveTo>
                    <a:pt x="0" y="0"/>
                  </a:moveTo>
                  <a:lnTo>
                    <a:pt x="6583680" y="0"/>
                  </a:lnTo>
                  <a:lnTo>
                    <a:pt x="6583680" y="1280160"/>
                  </a:lnTo>
                  <a:lnTo>
                    <a:pt x="0" y="1280160"/>
                  </a:lnTo>
                  <a:close/>
                </a:path>
              </a:pathLst>
            </a:custGeom>
            <a:blipFill>
              <a:blip r:embed="rId25">
                <a:alphaModFix amt="0"/>
              </a:blip>
              <a:stretch>
                <a:fillRect l="0" t="-50208" r="0" b="-50208"/>
              </a:stretch>
            </a:blipFill>
          </p:spPr>
        </p:sp>
        <p:sp>
          <p:nvSpPr>
            <p:cNvPr name="TextBox 45" id="45"/>
            <p:cNvSpPr txBox="true"/>
            <p:nvPr/>
          </p:nvSpPr>
          <p:spPr>
            <a:xfrm>
              <a:off x="0" y="-9525"/>
              <a:ext cx="6583680" cy="1289685"/>
            </a:xfrm>
            <a:prstGeom prst="rect">
              <a:avLst/>
            </a:prstGeom>
          </p:spPr>
          <p:txBody>
            <a:bodyPr anchor="ctr" rtlCol="false" tIns="0" lIns="0" bIns="0" rIns="0"/>
            <a:lstStyle/>
            <a:p>
              <a:pPr algn="ctr">
                <a:lnSpc>
                  <a:spcPts val="3840"/>
                </a:lnSpc>
              </a:pPr>
              <a:r>
                <a:rPr lang="en-US" sz="3200">
                  <a:solidFill>
                    <a:srgbClr val="000000"/>
                  </a:solidFill>
                  <a:latin typeface="Pixelated"/>
                  <a:ea typeface="Pixelated"/>
                  <a:cs typeface="Pixelated"/>
                  <a:sym typeface="Pixelated"/>
                </a:rPr>
                <a:t>Remote Data</a:t>
              </a:r>
            </a:p>
          </p:txBody>
        </p:sp>
      </p:grpSp>
      <p:sp>
        <p:nvSpPr>
          <p:cNvPr name="TextBox 46" id="46"/>
          <p:cNvSpPr txBox="true"/>
          <p:nvPr/>
        </p:nvSpPr>
        <p:spPr>
          <a:xfrm rot="0">
            <a:off x="2377440" y="5200650"/>
            <a:ext cx="5943600" cy="1108710"/>
          </a:xfrm>
          <a:prstGeom prst="rect">
            <a:avLst/>
          </a:prstGeom>
        </p:spPr>
        <p:txBody>
          <a:bodyPr anchor="t" rtlCol="false" tIns="0" lIns="0" bIns="0" rIns="0">
            <a:spAutoFit/>
          </a:bodyPr>
          <a:lstStyle/>
          <a:p>
            <a:pPr algn="ctr">
              <a:lnSpc>
                <a:spcPts val="3599"/>
              </a:lnSpc>
            </a:pPr>
            <a:r>
              <a:rPr lang="en-US" sz="2499">
                <a:solidFill>
                  <a:srgbClr val="FFFFFF"/>
                </a:solidFill>
                <a:latin typeface="Pixelated"/>
                <a:ea typeface="Pixelated"/>
                <a:cs typeface="Pixelated"/>
                <a:sym typeface="Pixelated"/>
              </a:rPr>
              <a:t>Data stored on the user's device.</a:t>
            </a:r>
          </a:p>
        </p:txBody>
      </p:sp>
      <p:sp>
        <p:nvSpPr>
          <p:cNvPr name="TextBox 47" id="47"/>
          <p:cNvSpPr txBox="true"/>
          <p:nvPr/>
        </p:nvSpPr>
        <p:spPr>
          <a:xfrm rot="0">
            <a:off x="10149840" y="5200650"/>
            <a:ext cx="5943600" cy="1108710"/>
          </a:xfrm>
          <a:prstGeom prst="rect">
            <a:avLst/>
          </a:prstGeom>
        </p:spPr>
        <p:txBody>
          <a:bodyPr anchor="t" rtlCol="false" tIns="0" lIns="0" bIns="0" rIns="0">
            <a:spAutoFit/>
          </a:bodyPr>
          <a:lstStyle/>
          <a:p>
            <a:pPr algn="ctr">
              <a:lnSpc>
                <a:spcPts val="3599"/>
              </a:lnSpc>
            </a:pPr>
            <a:r>
              <a:rPr lang="en-US" sz="2499">
                <a:solidFill>
                  <a:srgbClr val="FFFFFF"/>
                </a:solidFill>
                <a:latin typeface="Pixelated"/>
                <a:ea typeface="Pixelated"/>
                <a:cs typeface="Pixelated"/>
                <a:sym typeface="Pixelated"/>
              </a:rPr>
              <a:t>Data stored on a server and accessed through the internet.</a:t>
            </a:r>
          </a:p>
        </p:txBody>
      </p:sp>
      <p:sp>
        <p:nvSpPr>
          <p:cNvPr name="TextBox 48" id="48"/>
          <p:cNvSpPr txBox="true"/>
          <p:nvPr/>
        </p:nvSpPr>
        <p:spPr>
          <a:xfrm rot="0">
            <a:off x="3108960" y="6288405"/>
            <a:ext cx="4572000" cy="523875"/>
          </a:xfrm>
          <a:prstGeom prst="rect">
            <a:avLst/>
          </a:prstGeom>
        </p:spPr>
        <p:txBody>
          <a:bodyPr anchor="t" rtlCol="false" tIns="0" lIns="0" bIns="0" rIns="0">
            <a:spAutoFit/>
          </a:bodyPr>
          <a:lstStyle/>
          <a:p>
            <a:pPr algn="l">
              <a:lnSpc>
                <a:spcPts val="3744"/>
              </a:lnSpc>
            </a:pPr>
            <a:r>
              <a:rPr lang="en-US" sz="2600">
                <a:solidFill>
                  <a:srgbClr val="FFE066"/>
                </a:solidFill>
                <a:latin typeface="Pixelated"/>
                <a:ea typeface="Pixelated"/>
                <a:cs typeface="Pixelated"/>
                <a:sym typeface="Pixelated"/>
              </a:rPr>
              <a:t>Examples:</a:t>
            </a:r>
          </a:p>
        </p:txBody>
      </p:sp>
      <p:sp>
        <p:nvSpPr>
          <p:cNvPr name="TextBox 49" id="49"/>
          <p:cNvSpPr txBox="true"/>
          <p:nvPr/>
        </p:nvSpPr>
        <p:spPr>
          <a:xfrm rot="0">
            <a:off x="10881360" y="6288405"/>
            <a:ext cx="4572000" cy="523875"/>
          </a:xfrm>
          <a:prstGeom prst="rect">
            <a:avLst/>
          </a:prstGeom>
        </p:spPr>
        <p:txBody>
          <a:bodyPr anchor="t" rtlCol="false" tIns="0" lIns="0" bIns="0" rIns="0">
            <a:spAutoFit/>
          </a:bodyPr>
          <a:lstStyle/>
          <a:p>
            <a:pPr algn="l">
              <a:lnSpc>
                <a:spcPts val="3744"/>
              </a:lnSpc>
            </a:pPr>
            <a:r>
              <a:rPr lang="en-US" sz="2600">
                <a:solidFill>
                  <a:srgbClr val="FFE066"/>
                </a:solidFill>
                <a:latin typeface="Pixelated"/>
                <a:ea typeface="Pixelated"/>
                <a:cs typeface="Pixelated"/>
                <a:sym typeface="Pixelated"/>
              </a:rPr>
              <a:t>Examples:</a:t>
            </a:r>
          </a:p>
        </p:txBody>
      </p:sp>
      <p:sp>
        <p:nvSpPr>
          <p:cNvPr name="TextBox 50" id="50"/>
          <p:cNvSpPr txBox="true"/>
          <p:nvPr/>
        </p:nvSpPr>
        <p:spPr>
          <a:xfrm rot="0">
            <a:off x="3108960" y="6858000"/>
            <a:ext cx="4572000" cy="2011680"/>
          </a:xfrm>
          <a:prstGeom prst="rect">
            <a:avLst/>
          </a:prstGeom>
        </p:spPr>
        <p:txBody>
          <a:bodyPr anchor="t" rtlCol="false" tIns="0" lIns="0" bIns="0" rIns="0">
            <a:spAutoFit/>
          </a:bodyPr>
          <a:lstStyle/>
          <a:p>
            <a:pPr algn="l" marL="301625" indent="-150812" lvl="1">
              <a:lnSpc>
                <a:spcPts val="2999"/>
              </a:lnSpc>
              <a:buFont typeface="Arial"/>
              <a:buChar char="•"/>
            </a:pPr>
            <a:r>
              <a:rPr lang="en-US" sz="2499">
                <a:solidFill>
                  <a:srgbClr val="FFFFFF"/>
                </a:solidFill>
                <a:latin typeface="Pixelated"/>
                <a:ea typeface="Pixelated"/>
                <a:cs typeface="Pixelated"/>
                <a:sym typeface="Pixelated"/>
              </a:rPr>
              <a:t>Tasks</a:t>
            </a:r>
          </a:p>
          <a:p>
            <a:pPr algn="l" marL="301625" indent="-150812" lvl="1">
              <a:lnSpc>
                <a:spcPts val="2999"/>
              </a:lnSpc>
              <a:buFont typeface="Arial"/>
              <a:buChar char="•"/>
            </a:pPr>
            <a:r>
              <a:rPr lang="en-US" sz="2499">
                <a:solidFill>
                  <a:srgbClr val="FFFFFF"/>
                </a:solidFill>
                <a:latin typeface="Pixelated"/>
                <a:ea typeface="Pixelated"/>
                <a:cs typeface="Pixelated"/>
                <a:sym typeface="Pixelated"/>
              </a:rPr>
              <a:t>Notes</a:t>
            </a:r>
          </a:p>
          <a:p>
            <a:pPr algn="l" marL="301625" indent="-150812" lvl="1">
              <a:lnSpc>
                <a:spcPts val="2999"/>
              </a:lnSpc>
              <a:buFont typeface="Arial"/>
              <a:buChar char="•"/>
            </a:pPr>
            <a:r>
              <a:rPr lang="en-US" sz="2499">
                <a:solidFill>
                  <a:srgbClr val="FFFFFF"/>
                </a:solidFill>
                <a:latin typeface="Pixelated"/>
                <a:ea typeface="Pixelated"/>
                <a:cs typeface="Pixelated"/>
                <a:sym typeface="Pixelated"/>
              </a:rPr>
              <a:t>App settings</a:t>
            </a:r>
          </a:p>
          <a:p>
            <a:pPr algn="l" marL="301625" indent="-150812" lvl="1">
              <a:lnSpc>
                <a:spcPts val="2999"/>
              </a:lnSpc>
              <a:buFont typeface="Arial"/>
              <a:buChar char="•"/>
            </a:pPr>
            <a:r>
              <a:rPr lang="en-US" sz="2499">
                <a:solidFill>
                  <a:srgbClr val="FFFFFF"/>
                </a:solidFill>
                <a:latin typeface="Pixelated"/>
                <a:ea typeface="Pixelated"/>
                <a:cs typeface="Pixelated"/>
                <a:sym typeface="Pixelated"/>
              </a:rPr>
              <a:t>User preferences</a:t>
            </a:r>
          </a:p>
        </p:txBody>
      </p:sp>
      <p:sp>
        <p:nvSpPr>
          <p:cNvPr name="TextBox 51" id="51"/>
          <p:cNvSpPr txBox="true"/>
          <p:nvPr/>
        </p:nvSpPr>
        <p:spPr>
          <a:xfrm rot="0">
            <a:off x="10881360" y="6858000"/>
            <a:ext cx="4572000" cy="2011680"/>
          </a:xfrm>
          <a:prstGeom prst="rect">
            <a:avLst/>
          </a:prstGeom>
        </p:spPr>
        <p:txBody>
          <a:bodyPr anchor="t" rtlCol="false" tIns="0" lIns="0" bIns="0" rIns="0">
            <a:spAutoFit/>
          </a:bodyPr>
          <a:lstStyle/>
          <a:p>
            <a:pPr algn="l" marL="301625" indent="-150812" lvl="1">
              <a:lnSpc>
                <a:spcPts val="2999"/>
              </a:lnSpc>
              <a:buFont typeface="Arial"/>
              <a:buChar char="•"/>
            </a:pPr>
            <a:r>
              <a:rPr lang="en-US" sz="2499">
                <a:solidFill>
                  <a:srgbClr val="FFFFFF"/>
                </a:solidFill>
                <a:latin typeface="Pixelated"/>
                <a:ea typeface="Pixelated"/>
                <a:cs typeface="Pixelated"/>
                <a:sym typeface="Pixelated"/>
              </a:rPr>
              <a:t>User account</a:t>
            </a:r>
          </a:p>
          <a:p>
            <a:pPr algn="l" marL="301625" indent="-150812" lvl="1">
              <a:lnSpc>
                <a:spcPts val="2999"/>
              </a:lnSpc>
              <a:buFont typeface="Arial"/>
              <a:buChar char="•"/>
            </a:pPr>
            <a:r>
              <a:rPr lang="en-US" sz="2499">
                <a:solidFill>
                  <a:srgbClr val="FFFFFF"/>
                </a:solidFill>
                <a:latin typeface="Pixelated"/>
                <a:ea typeface="Pixelated"/>
                <a:cs typeface="Pixelated"/>
                <a:sym typeface="Pixelated"/>
              </a:rPr>
              <a:t>Online orders</a:t>
            </a:r>
          </a:p>
          <a:p>
            <a:pPr algn="l" marL="301625" indent="-150812" lvl="1">
              <a:lnSpc>
                <a:spcPts val="2999"/>
              </a:lnSpc>
              <a:buFont typeface="Arial"/>
              <a:buChar char="•"/>
            </a:pPr>
            <a:r>
              <a:rPr lang="en-US" sz="2499">
                <a:solidFill>
                  <a:srgbClr val="FFFFFF"/>
                </a:solidFill>
                <a:latin typeface="Pixelated"/>
                <a:ea typeface="Pixelated"/>
                <a:cs typeface="Pixelated"/>
                <a:sym typeface="Pixelated"/>
              </a:rPr>
              <a:t>Messages</a:t>
            </a:r>
          </a:p>
          <a:p>
            <a:pPr algn="l" marL="301625" indent="-150812" lvl="1">
              <a:lnSpc>
                <a:spcPts val="2999"/>
              </a:lnSpc>
              <a:buFont typeface="Arial"/>
              <a:buChar char="•"/>
            </a:pPr>
            <a:r>
              <a:rPr lang="en-US" sz="2499">
                <a:solidFill>
                  <a:srgbClr val="FFFFFF"/>
                </a:solidFill>
                <a:latin typeface="Pixelated"/>
                <a:ea typeface="Pixelated"/>
                <a:cs typeface="Pixelated"/>
                <a:sym typeface="Pixelated"/>
              </a:rPr>
              <a:t>Cloud data</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59"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7" id="7"/>
          <p:cNvSpPr/>
          <p:nvPr/>
        </p:nvSpPr>
        <p:spPr>
          <a:xfrm flipH="false" flipV="false" rot="0">
            <a:off x="13716000"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8" id="8"/>
          <p:cNvSpPr/>
          <p:nvPr/>
        </p:nvSpPr>
        <p:spPr>
          <a:xfrm flipH="false" flipV="false" rot="0">
            <a:off x="15606293" y="4526280"/>
            <a:ext cx="1735693" cy="4114800"/>
          </a:xfrm>
          <a:custGeom>
            <a:avLst/>
            <a:gdLst/>
            <a:ahLst/>
            <a:cxnLst/>
            <a:rect r="r" b="b" t="t" l="l"/>
            <a:pathLst>
              <a:path h="4114800" w="1735693">
                <a:moveTo>
                  <a:pt x="0" y="0"/>
                </a:moveTo>
                <a:lnTo>
                  <a:pt x="1735694" y="0"/>
                </a:lnTo>
                <a:lnTo>
                  <a:pt x="173569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9" id="9"/>
          <p:cNvSpPr/>
          <p:nvPr/>
        </p:nvSpPr>
        <p:spPr>
          <a:xfrm flipH="false" flipV="false" rot="0">
            <a:off x="11275390"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0" id="10"/>
          <p:cNvSpPr/>
          <p:nvPr/>
        </p:nvSpPr>
        <p:spPr>
          <a:xfrm flipH="false" flipV="false" rot="0">
            <a:off x="5637695"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1" id="11"/>
          <p:cNvSpPr/>
          <p:nvPr/>
        </p:nvSpPr>
        <p:spPr>
          <a:xfrm flipH="false" flipV="false" rot="0">
            <a:off x="1028700" y="4526280"/>
            <a:ext cx="1735693" cy="4114800"/>
          </a:xfrm>
          <a:custGeom>
            <a:avLst/>
            <a:gdLst/>
            <a:ahLst/>
            <a:cxnLst/>
            <a:rect r="r" b="b" t="t" l="l"/>
            <a:pathLst>
              <a:path h="4114800" w="1735693">
                <a:moveTo>
                  <a:pt x="0" y="0"/>
                </a:moveTo>
                <a:lnTo>
                  <a:pt x="1735693" y="0"/>
                </a:lnTo>
                <a:lnTo>
                  <a:pt x="173569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12" id="12"/>
          <p:cNvSpPr/>
          <p:nvPr/>
        </p:nvSpPr>
        <p:spPr>
          <a:xfrm flipH="false" flipV="false" rot="0">
            <a:off x="5477789" y="7654261"/>
            <a:ext cx="958044" cy="958044"/>
          </a:xfrm>
          <a:custGeom>
            <a:avLst/>
            <a:gdLst/>
            <a:ahLst/>
            <a:cxnLst/>
            <a:rect r="r" b="b" t="t" l="l"/>
            <a:pathLst>
              <a:path h="958044" w="958044">
                <a:moveTo>
                  <a:pt x="0" y="0"/>
                </a:moveTo>
                <a:lnTo>
                  <a:pt x="958044" y="0"/>
                </a:lnTo>
                <a:lnTo>
                  <a:pt x="958044"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5" y="7654261"/>
            <a:ext cx="958044" cy="958044"/>
          </a:xfrm>
          <a:custGeom>
            <a:avLst/>
            <a:gdLst/>
            <a:ahLst/>
            <a:cxnLst/>
            <a:rect r="r" b="b" t="t" l="l"/>
            <a:pathLst>
              <a:path h="958044" w="958044">
                <a:moveTo>
                  <a:pt x="0" y="0"/>
                </a:moveTo>
                <a:lnTo>
                  <a:pt x="958043" y="0"/>
                </a:lnTo>
                <a:lnTo>
                  <a:pt x="958043"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3" y="4795695"/>
            <a:ext cx="1956883" cy="3816610"/>
          </a:xfrm>
          <a:custGeom>
            <a:avLst/>
            <a:gdLst/>
            <a:ahLst/>
            <a:cxnLst/>
            <a:rect r="r" b="b" t="t" l="l"/>
            <a:pathLst>
              <a:path h="3816610" w="1956883">
                <a:moveTo>
                  <a:pt x="0" y="0"/>
                </a:moveTo>
                <a:lnTo>
                  <a:pt x="1956883" y="0"/>
                </a:lnTo>
                <a:lnTo>
                  <a:pt x="1956883" y="3816610"/>
                </a:lnTo>
                <a:lnTo>
                  <a:pt x="0" y="3816610"/>
                </a:lnTo>
                <a:lnTo>
                  <a:pt x="0" y="0"/>
                </a:lnTo>
                <a:close/>
              </a:path>
            </a:pathLst>
          </a:custGeom>
          <a:blipFill>
            <a:blip r:embed="rId14">
              <a:extLst>
                <a:ext uri="{96DAC541-7B7A-43D3-8B79-37D633B846F1}">
                  <asvg:svgBlip xmlns:asvg="http://schemas.microsoft.com/office/drawing/2016/SVG/main" r:embed="rId15"/>
                </a:ext>
              </a:extLst>
            </a:blip>
            <a:stretch>
              <a:fillRect l="-96" t="0" r="-96" b="0"/>
            </a:stretch>
          </a:blipFill>
        </p:spPr>
      </p:sp>
      <p:sp>
        <p:nvSpPr>
          <p:cNvPr name="Freeform 15" id="15"/>
          <p:cNvSpPr/>
          <p:nvPr/>
        </p:nvSpPr>
        <p:spPr>
          <a:xfrm flipH="false" flipV="false" rot="0">
            <a:off x="478920" y="720090"/>
            <a:ext cx="17349209" cy="9308020"/>
          </a:xfrm>
          <a:custGeom>
            <a:avLst/>
            <a:gdLst/>
            <a:ahLst/>
            <a:cxnLst/>
            <a:rect r="r" b="b" t="t" l="l"/>
            <a:pathLst>
              <a:path h="9308020" w="17349209">
                <a:moveTo>
                  <a:pt x="0" y="0"/>
                </a:moveTo>
                <a:lnTo>
                  <a:pt x="17349210" y="0"/>
                </a:lnTo>
                <a:lnTo>
                  <a:pt x="17349210" y="9308020"/>
                </a:lnTo>
                <a:lnTo>
                  <a:pt x="0" y="930802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0"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7" id="17"/>
          <p:cNvSpPr/>
          <p:nvPr/>
        </p:nvSpPr>
        <p:spPr>
          <a:xfrm flipH="false" flipV="false" rot="0">
            <a:off x="16754304"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grpSp>
        <p:nvGrpSpPr>
          <p:cNvPr name="Group 18" id="18"/>
          <p:cNvGrpSpPr/>
          <p:nvPr/>
        </p:nvGrpSpPr>
        <p:grpSpPr>
          <a:xfrm rot="0">
            <a:off x="1896551" y="411480"/>
            <a:ext cx="715613" cy="617220"/>
            <a:chOff x="0" y="0"/>
            <a:chExt cx="954151" cy="822960"/>
          </a:xfrm>
        </p:grpSpPr>
        <p:sp>
          <p:nvSpPr>
            <p:cNvPr name="Freeform 19" id="19"/>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0" id="20"/>
          <p:cNvGrpSpPr/>
          <p:nvPr/>
        </p:nvGrpSpPr>
        <p:grpSpPr>
          <a:xfrm rot="0">
            <a:off x="2612165" y="411480"/>
            <a:ext cx="715613" cy="617220"/>
            <a:chOff x="0" y="0"/>
            <a:chExt cx="954151" cy="822960"/>
          </a:xfrm>
        </p:grpSpPr>
        <p:sp>
          <p:nvSpPr>
            <p:cNvPr name="Freeform 21" id="21"/>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2" id="22"/>
          <p:cNvGrpSpPr/>
          <p:nvPr/>
        </p:nvGrpSpPr>
        <p:grpSpPr>
          <a:xfrm rot="0">
            <a:off x="3327787" y="411480"/>
            <a:ext cx="715613" cy="617220"/>
            <a:chOff x="0" y="0"/>
            <a:chExt cx="954151" cy="822960"/>
          </a:xfrm>
        </p:grpSpPr>
        <p:sp>
          <p:nvSpPr>
            <p:cNvPr name="Freeform 23" id="23"/>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sp>
        <p:nvSpPr>
          <p:cNvPr name="Freeform 24" id="24"/>
          <p:cNvSpPr/>
          <p:nvPr/>
        </p:nvSpPr>
        <p:spPr>
          <a:xfrm flipH="false" flipV="false" rot="0">
            <a:off x="13975671" y="411480"/>
            <a:ext cx="729758" cy="729758"/>
          </a:xfrm>
          <a:custGeom>
            <a:avLst/>
            <a:gdLst/>
            <a:ahLst/>
            <a:cxnLst/>
            <a:rect r="r" b="b" t="t" l="l"/>
            <a:pathLst>
              <a:path h="729758" w="729758">
                <a:moveTo>
                  <a:pt x="0" y="0"/>
                </a:moveTo>
                <a:lnTo>
                  <a:pt x="729757" y="0"/>
                </a:lnTo>
                <a:lnTo>
                  <a:pt x="729757"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5" id="25"/>
          <p:cNvSpPr txBox="true"/>
          <p:nvPr/>
        </p:nvSpPr>
        <p:spPr>
          <a:xfrm rot="0">
            <a:off x="1705127" y="1576387"/>
            <a:ext cx="14411115" cy="942975"/>
          </a:xfrm>
          <a:prstGeom prst="rect">
            <a:avLst/>
          </a:prstGeom>
        </p:spPr>
        <p:txBody>
          <a:bodyPr anchor="t" rtlCol="false" tIns="0" lIns="0" bIns="0" rIns="0">
            <a:spAutoFit/>
          </a:bodyPr>
          <a:lstStyle/>
          <a:p>
            <a:pPr algn="ctr">
              <a:lnSpc>
                <a:spcPts val="7319"/>
              </a:lnSpc>
            </a:pPr>
            <a:r>
              <a:rPr lang="en-US" sz="6099">
                <a:solidFill>
                  <a:srgbClr val="FFFFFF"/>
                </a:solidFill>
                <a:latin typeface="VT323"/>
                <a:ea typeface="VT323"/>
                <a:cs typeface="VT323"/>
                <a:sym typeface="VT323"/>
              </a:rPr>
              <a:t>SYNCHRONIZATION</a:t>
            </a:r>
          </a:p>
        </p:txBody>
      </p:sp>
      <p:sp>
        <p:nvSpPr>
          <p:cNvPr name="Freeform 26" id="26"/>
          <p:cNvSpPr/>
          <p:nvPr/>
        </p:nvSpPr>
        <p:spPr>
          <a:xfrm flipH="false" flipV="false" rot="0">
            <a:off x="14863515"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7" id="27"/>
          <p:cNvSpPr/>
          <p:nvPr/>
        </p:nvSpPr>
        <p:spPr>
          <a:xfrm flipH="false" flipV="false" rot="0">
            <a:off x="15751359"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28" id="28"/>
          <p:cNvGrpSpPr/>
          <p:nvPr/>
        </p:nvGrpSpPr>
        <p:grpSpPr>
          <a:xfrm rot="0">
            <a:off x="1645920" y="2788920"/>
            <a:ext cx="14904720" cy="548640"/>
            <a:chOff x="0" y="0"/>
            <a:chExt cx="19872960" cy="731520"/>
          </a:xfrm>
        </p:grpSpPr>
        <p:sp>
          <p:nvSpPr>
            <p:cNvPr name="Freeform 29" id="29"/>
            <p:cNvSpPr/>
            <p:nvPr/>
          </p:nvSpPr>
          <p:spPr>
            <a:xfrm flipH="false" flipV="false" rot="0">
              <a:off x="0" y="0"/>
              <a:ext cx="19872961" cy="731520"/>
            </a:xfrm>
            <a:custGeom>
              <a:avLst/>
              <a:gdLst/>
              <a:ahLst/>
              <a:cxnLst/>
              <a:rect r="r" b="b" t="t" l="l"/>
              <a:pathLst>
                <a:path h="731520" w="19872961">
                  <a:moveTo>
                    <a:pt x="0" y="0"/>
                  </a:moveTo>
                  <a:lnTo>
                    <a:pt x="19872961" y="0"/>
                  </a:lnTo>
                  <a:lnTo>
                    <a:pt x="19872961" y="731520"/>
                  </a:lnTo>
                  <a:lnTo>
                    <a:pt x="0" y="731520"/>
                  </a:lnTo>
                  <a:close/>
                </a:path>
              </a:pathLst>
            </a:custGeom>
            <a:blipFill>
              <a:blip r:embed="rId21">
                <a:alphaModFix amt="0"/>
              </a:blip>
              <a:stretch>
                <a:fillRect l="0" t="-479343" r="0" b="-479343"/>
              </a:stretch>
            </a:blipFill>
          </p:spPr>
        </p:sp>
        <p:sp>
          <p:nvSpPr>
            <p:cNvPr name="TextBox 30" id="30"/>
            <p:cNvSpPr txBox="true"/>
            <p:nvPr/>
          </p:nvSpPr>
          <p:spPr>
            <a:xfrm>
              <a:off x="0" y="-66675"/>
              <a:ext cx="19872960" cy="798195"/>
            </a:xfrm>
            <a:prstGeom prst="rect">
              <a:avLst/>
            </a:prstGeom>
          </p:spPr>
          <p:txBody>
            <a:bodyPr anchor="ctr" rtlCol="false" tIns="0" lIns="0" bIns="0" rIns="0"/>
            <a:lstStyle/>
            <a:p>
              <a:pPr algn="ctr">
                <a:lnSpc>
                  <a:spcPts val="3744"/>
                </a:lnSpc>
              </a:pPr>
              <a:r>
                <a:rPr lang="en-US" sz="2600">
                  <a:solidFill>
                    <a:srgbClr val="FFFFFF"/>
                  </a:solidFill>
                  <a:latin typeface="Pixelated"/>
                  <a:ea typeface="Pixelated"/>
                  <a:cs typeface="Pixelated"/>
                  <a:sym typeface="Pixelated"/>
                </a:rPr>
                <a:t>Synchronization means keeping the local data and remote data updated with each other.</a:t>
              </a:r>
            </a:p>
          </p:txBody>
        </p:sp>
      </p:grpSp>
      <p:grpSp>
        <p:nvGrpSpPr>
          <p:cNvPr name="Group 31" id="31"/>
          <p:cNvGrpSpPr/>
          <p:nvPr/>
        </p:nvGrpSpPr>
        <p:grpSpPr>
          <a:xfrm rot="0">
            <a:off x="1700784" y="3840480"/>
            <a:ext cx="5029200" cy="502920"/>
            <a:chOff x="0" y="0"/>
            <a:chExt cx="6705600" cy="670560"/>
          </a:xfrm>
        </p:grpSpPr>
        <p:sp>
          <p:nvSpPr>
            <p:cNvPr name="Freeform 32" id="32"/>
            <p:cNvSpPr/>
            <p:nvPr/>
          </p:nvSpPr>
          <p:spPr>
            <a:xfrm flipH="false" flipV="false" rot="0">
              <a:off x="0" y="0"/>
              <a:ext cx="6705600" cy="670560"/>
            </a:xfrm>
            <a:custGeom>
              <a:avLst/>
              <a:gdLst/>
              <a:ahLst/>
              <a:cxnLst/>
              <a:rect r="r" b="b" t="t" l="l"/>
              <a:pathLst>
                <a:path h="670560" w="6705600">
                  <a:moveTo>
                    <a:pt x="0" y="0"/>
                  </a:moveTo>
                  <a:lnTo>
                    <a:pt x="6705600" y="0"/>
                  </a:lnTo>
                  <a:lnTo>
                    <a:pt x="6705600" y="670560"/>
                  </a:lnTo>
                  <a:lnTo>
                    <a:pt x="0" y="670560"/>
                  </a:lnTo>
                  <a:close/>
                </a:path>
              </a:pathLst>
            </a:custGeom>
            <a:blipFill>
              <a:blip r:embed="rId21">
                <a:alphaModFix amt="0"/>
              </a:blip>
              <a:stretch>
                <a:fillRect l="0" t="-144850" r="0" b="-144850"/>
              </a:stretch>
            </a:blipFill>
          </p:spPr>
        </p:sp>
        <p:sp>
          <p:nvSpPr>
            <p:cNvPr name="TextBox 33" id="33"/>
            <p:cNvSpPr txBox="true"/>
            <p:nvPr/>
          </p:nvSpPr>
          <p:spPr>
            <a:xfrm>
              <a:off x="0" y="-57150"/>
              <a:ext cx="6705600" cy="727710"/>
            </a:xfrm>
            <a:prstGeom prst="rect">
              <a:avLst/>
            </a:prstGeom>
          </p:spPr>
          <p:txBody>
            <a:bodyPr anchor="ctr" rtlCol="false" tIns="0" lIns="0" bIns="0" rIns="0"/>
            <a:lstStyle/>
            <a:p>
              <a:pPr algn="ctr">
                <a:lnSpc>
                  <a:spcPts val="3599"/>
                </a:lnSpc>
              </a:pPr>
              <a:r>
                <a:rPr lang="en-US" sz="2499">
                  <a:solidFill>
                    <a:srgbClr val="FFE066"/>
                  </a:solidFill>
                  <a:latin typeface="Pixelated"/>
                  <a:ea typeface="Pixelated"/>
                  <a:cs typeface="Pixelated"/>
                  <a:sym typeface="Pixelated"/>
                </a:rPr>
                <a:t>Suppose both contain:</a:t>
              </a:r>
            </a:p>
          </p:txBody>
        </p:sp>
      </p:grpSp>
      <p:grpSp>
        <p:nvGrpSpPr>
          <p:cNvPr name="Group 34" id="34"/>
          <p:cNvGrpSpPr/>
          <p:nvPr/>
        </p:nvGrpSpPr>
        <p:grpSpPr>
          <a:xfrm rot="0">
            <a:off x="1681734" y="4552950"/>
            <a:ext cx="2415540" cy="678180"/>
            <a:chOff x="0" y="0"/>
            <a:chExt cx="3220720" cy="904240"/>
          </a:xfrm>
        </p:grpSpPr>
        <p:sp>
          <p:nvSpPr>
            <p:cNvPr name="Freeform 35" id="35"/>
            <p:cNvSpPr/>
            <p:nvPr/>
          </p:nvSpPr>
          <p:spPr>
            <a:xfrm flipH="false" flipV="false" rot="0">
              <a:off x="0" y="0"/>
              <a:ext cx="3220720" cy="904240"/>
            </a:xfrm>
            <a:custGeom>
              <a:avLst/>
              <a:gdLst/>
              <a:ahLst/>
              <a:cxnLst/>
              <a:rect r="r" b="b" t="t" l="l"/>
              <a:pathLst>
                <a:path h="904240" w="3220720">
                  <a:moveTo>
                    <a:pt x="0" y="0"/>
                  </a:moveTo>
                  <a:lnTo>
                    <a:pt x="3220720" y="0"/>
                  </a:lnTo>
                  <a:lnTo>
                    <a:pt x="3220720" y="904240"/>
                  </a:lnTo>
                  <a:lnTo>
                    <a:pt x="0" y="904240"/>
                  </a:lnTo>
                  <a:close/>
                </a:path>
              </a:pathLst>
            </a:custGeom>
            <a:solidFill>
              <a:srgbClr val="D9D9D9"/>
            </a:solidFill>
            <a:ln w="38100" cap="sq">
              <a:solidFill>
                <a:srgbClr val="000000"/>
              </a:solidFill>
              <a:prstDash val="solid"/>
              <a:miter/>
            </a:ln>
          </p:spPr>
        </p:sp>
        <p:sp>
          <p:nvSpPr>
            <p:cNvPr name="TextBox 36" id="36"/>
            <p:cNvSpPr txBox="true"/>
            <p:nvPr/>
          </p:nvSpPr>
          <p:spPr>
            <a:xfrm>
              <a:off x="0" y="-9525"/>
              <a:ext cx="3220720" cy="913765"/>
            </a:xfrm>
            <a:prstGeom prst="rect">
              <a:avLst/>
            </a:prstGeom>
          </p:spPr>
          <p:txBody>
            <a:bodyPr anchor="ctr" rtlCol="false" tIns="50800" lIns="50800" bIns="50800" rIns="50800"/>
            <a:lstStyle/>
            <a:p>
              <a:pPr algn="ctr">
                <a:lnSpc>
                  <a:spcPts val="3120"/>
                </a:lnSpc>
              </a:pPr>
              <a:r>
                <a:rPr lang="en-US" sz="2600">
                  <a:solidFill>
                    <a:srgbClr val="000000"/>
                  </a:solidFill>
                  <a:latin typeface="Pixelated"/>
                  <a:ea typeface="Pixelated"/>
                  <a:cs typeface="Pixelated"/>
                  <a:sym typeface="Pixelated"/>
                </a:rPr>
                <a:t>PHONE</a:t>
              </a:r>
            </a:p>
          </p:txBody>
        </p:sp>
      </p:grpSp>
      <p:grpSp>
        <p:nvGrpSpPr>
          <p:cNvPr name="Group 37" id="37"/>
          <p:cNvGrpSpPr/>
          <p:nvPr/>
        </p:nvGrpSpPr>
        <p:grpSpPr>
          <a:xfrm rot="0">
            <a:off x="1681734" y="5193030"/>
            <a:ext cx="2415540" cy="2827020"/>
            <a:chOff x="0" y="0"/>
            <a:chExt cx="3220720" cy="3769360"/>
          </a:xfrm>
        </p:grpSpPr>
        <p:sp>
          <p:nvSpPr>
            <p:cNvPr name="Freeform 38" id="38"/>
            <p:cNvSpPr/>
            <p:nvPr/>
          </p:nvSpPr>
          <p:spPr>
            <a:xfrm flipH="false" flipV="false" rot="0">
              <a:off x="0" y="0"/>
              <a:ext cx="3220720" cy="3769360"/>
            </a:xfrm>
            <a:custGeom>
              <a:avLst/>
              <a:gdLst/>
              <a:ahLst/>
              <a:cxnLst/>
              <a:rect r="r" b="b" t="t" l="l"/>
              <a:pathLst>
                <a:path h="3769360" w="3220720">
                  <a:moveTo>
                    <a:pt x="0" y="0"/>
                  </a:moveTo>
                  <a:lnTo>
                    <a:pt x="3220720" y="0"/>
                  </a:lnTo>
                  <a:lnTo>
                    <a:pt x="3220720" y="3769360"/>
                  </a:lnTo>
                  <a:lnTo>
                    <a:pt x="0" y="3769360"/>
                  </a:lnTo>
                  <a:close/>
                </a:path>
              </a:pathLst>
            </a:custGeom>
            <a:solidFill>
              <a:srgbClr val="4A2A92"/>
            </a:solidFill>
            <a:ln w="38100" cap="sq">
              <a:solidFill>
                <a:srgbClr val="000000"/>
              </a:solidFill>
              <a:prstDash val="solid"/>
              <a:miter/>
            </a:ln>
          </p:spPr>
        </p:sp>
        <p:sp>
          <p:nvSpPr>
            <p:cNvPr name="TextBox 39" id="39"/>
            <p:cNvSpPr txBox="true"/>
            <p:nvPr/>
          </p:nvSpPr>
          <p:spPr>
            <a:xfrm>
              <a:off x="0" y="-9525"/>
              <a:ext cx="3220720" cy="3778885"/>
            </a:xfrm>
            <a:prstGeom prst="rect">
              <a:avLst/>
            </a:prstGeom>
          </p:spPr>
          <p:txBody>
            <a:bodyPr anchor="ctr" rtlCol="false" tIns="50800" lIns="50800" bIns="50800" rIns="50800"/>
            <a:lstStyle/>
            <a:p>
              <a:pPr algn="ctr">
                <a:lnSpc>
                  <a:spcPts val="3120"/>
                </a:lnSpc>
              </a:pPr>
              <a:r>
                <a:rPr lang="en-US" sz="2600">
                  <a:solidFill>
                    <a:srgbClr val="FFFFFF"/>
                  </a:solidFill>
                  <a:latin typeface="Pixelated"/>
                  <a:ea typeface="Pixelated"/>
                  <a:cs typeface="Pixelated"/>
                  <a:sym typeface="Pixelated"/>
                </a:rPr>
                <a:t>Task A</a:t>
              </a:r>
            </a:p>
            <a:p>
              <a:pPr algn="ctr">
                <a:lnSpc>
                  <a:spcPts val="3120"/>
                </a:lnSpc>
              </a:pPr>
              <a:r>
                <a:rPr lang="en-US" sz="2600">
                  <a:solidFill>
                    <a:srgbClr val="FFFFFF"/>
                  </a:solidFill>
                  <a:latin typeface="Pixelated"/>
                  <a:ea typeface="Pixelated"/>
                  <a:cs typeface="Pixelated"/>
                  <a:sym typeface="Pixelated"/>
                </a:rPr>
                <a:t>Task B</a:t>
              </a:r>
            </a:p>
            <a:p>
              <a:pPr algn="ctr">
                <a:lnSpc>
                  <a:spcPts val="3120"/>
                </a:lnSpc>
              </a:pPr>
              <a:r>
                <a:rPr lang="en-US" sz="2600">
                  <a:solidFill>
                    <a:srgbClr val="FFFFFF"/>
                  </a:solidFill>
                  <a:latin typeface="Pixelated"/>
                  <a:ea typeface="Pixelated"/>
                  <a:cs typeface="Pixelated"/>
                  <a:sym typeface="Pixelated"/>
                </a:rPr>
                <a:t>Task C</a:t>
              </a:r>
            </a:p>
          </p:txBody>
        </p:sp>
      </p:grpSp>
      <p:grpSp>
        <p:nvGrpSpPr>
          <p:cNvPr name="Group 40" id="40"/>
          <p:cNvGrpSpPr/>
          <p:nvPr/>
        </p:nvGrpSpPr>
        <p:grpSpPr>
          <a:xfrm rot="0">
            <a:off x="4333494" y="4552950"/>
            <a:ext cx="2415540" cy="678180"/>
            <a:chOff x="0" y="0"/>
            <a:chExt cx="3220720" cy="904240"/>
          </a:xfrm>
        </p:grpSpPr>
        <p:sp>
          <p:nvSpPr>
            <p:cNvPr name="Freeform 41" id="41"/>
            <p:cNvSpPr/>
            <p:nvPr/>
          </p:nvSpPr>
          <p:spPr>
            <a:xfrm flipH="false" flipV="false" rot="0">
              <a:off x="0" y="0"/>
              <a:ext cx="3220720" cy="904240"/>
            </a:xfrm>
            <a:custGeom>
              <a:avLst/>
              <a:gdLst/>
              <a:ahLst/>
              <a:cxnLst/>
              <a:rect r="r" b="b" t="t" l="l"/>
              <a:pathLst>
                <a:path h="904240" w="3220720">
                  <a:moveTo>
                    <a:pt x="0" y="0"/>
                  </a:moveTo>
                  <a:lnTo>
                    <a:pt x="3220720" y="0"/>
                  </a:lnTo>
                  <a:lnTo>
                    <a:pt x="3220720" y="904240"/>
                  </a:lnTo>
                  <a:lnTo>
                    <a:pt x="0" y="904240"/>
                  </a:lnTo>
                  <a:close/>
                </a:path>
              </a:pathLst>
            </a:custGeom>
            <a:solidFill>
              <a:srgbClr val="D9D9D9"/>
            </a:solidFill>
            <a:ln w="38100" cap="sq">
              <a:solidFill>
                <a:srgbClr val="000000"/>
              </a:solidFill>
              <a:prstDash val="solid"/>
              <a:miter/>
            </a:ln>
          </p:spPr>
        </p:sp>
        <p:sp>
          <p:nvSpPr>
            <p:cNvPr name="TextBox 42" id="42"/>
            <p:cNvSpPr txBox="true"/>
            <p:nvPr/>
          </p:nvSpPr>
          <p:spPr>
            <a:xfrm>
              <a:off x="0" y="-9525"/>
              <a:ext cx="3220720" cy="913765"/>
            </a:xfrm>
            <a:prstGeom prst="rect">
              <a:avLst/>
            </a:prstGeom>
          </p:spPr>
          <p:txBody>
            <a:bodyPr anchor="ctr" rtlCol="false" tIns="50800" lIns="50800" bIns="50800" rIns="50800"/>
            <a:lstStyle/>
            <a:p>
              <a:pPr algn="ctr">
                <a:lnSpc>
                  <a:spcPts val="3120"/>
                </a:lnSpc>
              </a:pPr>
              <a:r>
                <a:rPr lang="en-US" sz="2600">
                  <a:solidFill>
                    <a:srgbClr val="000000"/>
                  </a:solidFill>
                  <a:latin typeface="Pixelated"/>
                  <a:ea typeface="Pixelated"/>
                  <a:cs typeface="Pixelated"/>
                  <a:sym typeface="Pixelated"/>
                </a:rPr>
                <a:t>SERVER</a:t>
              </a:r>
            </a:p>
          </p:txBody>
        </p:sp>
      </p:grpSp>
      <p:grpSp>
        <p:nvGrpSpPr>
          <p:cNvPr name="Group 43" id="43"/>
          <p:cNvGrpSpPr/>
          <p:nvPr/>
        </p:nvGrpSpPr>
        <p:grpSpPr>
          <a:xfrm rot="0">
            <a:off x="4333494" y="5193030"/>
            <a:ext cx="2415540" cy="2827020"/>
            <a:chOff x="0" y="0"/>
            <a:chExt cx="3220720" cy="3769360"/>
          </a:xfrm>
        </p:grpSpPr>
        <p:sp>
          <p:nvSpPr>
            <p:cNvPr name="Freeform 44" id="44"/>
            <p:cNvSpPr/>
            <p:nvPr/>
          </p:nvSpPr>
          <p:spPr>
            <a:xfrm flipH="false" flipV="false" rot="0">
              <a:off x="0" y="0"/>
              <a:ext cx="3220720" cy="3769360"/>
            </a:xfrm>
            <a:custGeom>
              <a:avLst/>
              <a:gdLst/>
              <a:ahLst/>
              <a:cxnLst/>
              <a:rect r="r" b="b" t="t" l="l"/>
              <a:pathLst>
                <a:path h="3769360" w="3220720">
                  <a:moveTo>
                    <a:pt x="0" y="0"/>
                  </a:moveTo>
                  <a:lnTo>
                    <a:pt x="3220720" y="0"/>
                  </a:lnTo>
                  <a:lnTo>
                    <a:pt x="3220720" y="3769360"/>
                  </a:lnTo>
                  <a:lnTo>
                    <a:pt x="0" y="3769360"/>
                  </a:lnTo>
                  <a:close/>
                </a:path>
              </a:pathLst>
            </a:custGeom>
            <a:solidFill>
              <a:srgbClr val="4A2A92"/>
            </a:solidFill>
            <a:ln w="38100" cap="sq">
              <a:solidFill>
                <a:srgbClr val="000000"/>
              </a:solidFill>
              <a:prstDash val="solid"/>
              <a:miter/>
            </a:ln>
          </p:spPr>
        </p:sp>
        <p:sp>
          <p:nvSpPr>
            <p:cNvPr name="TextBox 45" id="45"/>
            <p:cNvSpPr txBox="true"/>
            <p:nvPr/>
          </p:nvSpPr>
          <p:spPr>
            <a:xfrm>
              <a:off x="0" y="-9525"/>
              <a:ext cx="3220720" cy="3778885"/>
            </a:xfrm>
            <a:prstGeom prst="rect">
              <a:avLst/>
            </a:prstGeom>
          </p:spPr>
          <p:txBody>
            <a:bodyPr anchor="ctr" rtlCol="false" tIns="50800" lIns="50800" bIns="50800" rIns="50800"/>
            <a:lstStyle/>
            <a:p>
              <a:pPr algn="ctr">
                <a:lnSpc>
                  <a:spcPts val="3120"/>
                </a:lnSpc>
              </a:pPr>
              <a:r>
                <a:rPr lang="en-US" sz="2600">
                  <a:solidFill>
                    <a:srgbClr val="FFFFFF"/>
                  </a:solidFill>
                  <a:latin typeface="Pixelated"/>
                  <a:ea typeface="Pixelated"/>
                  <a:cs typeface="Pixelated"/>
                  <a:sym typeface="Pixelated"/>
                </a:rPr>
                <a:t>Task A</a:t>
              </a:r>
            </a:p>
            <a:p>
              <a:pPr algn="ctr">
                <a:lnSpc>
                  <a:spcPts val="3120"/>
                </a:lnSpc>
              </a:pPr>
              <a:r>
                <a:rPr lang="en-US" sz="2600">
                  <a:solidFill>
                    <a:srgbClr val="FFFFFF"/>
                  </a:solidFill>
                  <a:latin typeface="Pixelated"/>
                  <a:ea typeface="Pixelated"/>
                  <a:cs typeface="Pixelated"/>
                  <a:sym typeface="Pixelated"/>
                </a:rPr>
                <a:t>Task B</a:t>
              </a:r>
            </a:p>
            <a:p>
              <a:pPr algn="ctr">
                <a:lnSpc>
                  <a:spcPts val="3120"/>
                </a:lnSpc>
              </a:pPr>
              <a:r>
                <a:rPr lang="en-US" sz="2600">
                  <a:solidFill>
                    <a:srgbClr val="FFFFFF"/>
                  </a:solidFill>
                  <a:latin typeface="Pixelated"/>
                  <a:ea typeface="Pixelated"/>
                  <a:cs typeface="Pixelated"/>
                  <a:sym typeface="Pixelated"/>
                </a:rPr>
                <a:t>Task C</a:t>
              </a:r>
            </a:p>
          </p:txBody>
        </p:sp>
      </p:grpSp>
      <p:grpSp>
        <p:nvGrpSpPr>
          <p:cNvPr name="Group 46" id="46"/>
          <p:cNvGrpSpPr/>
          <p:nvPr/>
        </p:nvGrpSpPr>
        <p:grpSpPr>
          <a:xfrm rot="0">
            <a:off x="7278624" y="3611880"/>
            <a:ext cx="3657600" cy="868680"/>
            <a:chOff x="0" y="0"/>
            <a:chExt cx="4876800" cy="1158240"/>
          </a:xfrm>
        </p:grpSpPr>
        <p:sp>
          <p:nvSpPr>
            <p:cNvPr name="Freeform 47" id="47"/>
            <p:cNvSpPr/>
            <p:nvPr/>
          </p:nvSpPr>
          <p:spPr>
            <a:xfrm flipH="false" flipV="false" rot="0">
              <a:off x="0" y="0"/>
              <a:ext cx="4876800" cy="1158240"/>
            </a:xfrm>
            <a:custGeom>
              <a:avLst/>
              <a:gdLst/>
              <a:ahLst/>
              <a:cxnLst/>
              <a:rect r="r" b="b" t="t" l="l"/>
              <a:pathLst>
                <a:path h="1158240" w="4876800">
                  <a:moveTo>
                    <a:pt x="0" y="0"/>
                  </a:moveTo>
                  <a:lnTo>
                    <a:pt x="4876800" y="0"/>
                  </a:lnTo>
                  <a:lnTo>
                    <a:pt x="4876800" y="1158240"/>
                  </a:lnTo>
                  <a:lnTo>
                    <a:pt x="0" y="1158240"/>
                  </a:lnTo>
                  <a:close/>
                </a:path>
              </a:pathLst>
            </a:custGeom>
            <a:blipFill>
              <a:blip r:embed="rId21">
                <a:alphaModFix amt="0"/>
              </a:blip>
              <a:stretch>
                <a:fillRect l="0" t="-32042" r="0" b="-32042"/>
              </a:stretch>
            </a:blipFill>
          </p:spPr>
        </p:sp>
        <p:sp>
          <p:nvSpPr>
            <p:cNvPr name="TextBox 48" id="48"/>
            <p:cNvSpPr txBox="true"/>
            <p:nvPr/>
          </p:nvSpPr>
          <p:spPr>
            <a:xfrm>
              <a:off x="0" y="-19050"/>
              <a:ext cx="4876800" cy="1177290"/>
            </a:xfrm>
            <a:prstGeom prst="rect">
              <a:avLst/>
            </a:prstGeom>
          </p:spPr>
          <p:txBody>
            <a:bodyPr anchor="ctr" rtlCol="false" tIns="0" lIns="0" bIns="0" rIns="0"/>
            <a:lstStyle/>
            <a:p>
              <a:pPr algn="ctr">
                <a:lnSpc>
                  <a:spcPts val="3149"/>
                </a:lnSpc>
              </a:pPr>
              <a:r>
                <a:rPr lang="en-US" sz="2499">
                  <a:solidFill>
                    <a:srgbClr val="FFE066"/>
                  </a:solidFill>
                  <a:latin typeface="Pixelated"/>
                  <a:ea typeface="Pixelated"/>
                  <a:cs typeface="Pixelated"/>
                  <a:sym typeface="Pixelated"/>
                </a:rPr>
                <a:t>When internet comes back</a:t>
              </a:r>
            </a:p>
          </p:txBody>
        </p:sp>
      </p:grpSp>
      <p:grpSp>
        <p:nvGrpSpPr>
          <p:cNvPr name="Group 49" id="49"/>
          <p:cNvGrpSpPr/>
          <p:nvPr/>
        </p:nvGrpSpPr>
        <p:grpSpPr>
          <a:xfrm rot="0">
            <a:off x="7442454" y="4552950"/>
            <a:ext cx="3329940" cy="605028"/>
            <a:chOff x="0" y="0"/>
            <a:chExt cx="4439920" cy="806704"/>
          </a:xfrm>
        </p:grpSpPr>
        <p:sp>
          <p:nvSpPr>
            <p:cNvPr name="Freeform 50" id="50"/>
            <p:cNvSpPr/>
            <p:nvPr/>
          </p:nvSpPr>
          <p:spPr>
            <a:xfrm flipH="false" flipV="false" rot="0">
              <a:off x="0" y="0"/>
              <a:ext cx="4439920" cy="806704"/>
            </a:xfrm>
            <a:custGeom>
              <a:avLst/>
              <a:gdLst/>
              <a:ahLst/>
              <a:cxnLst/>
              <a:rect r="r" b="b" t="t" l="l"/>
              <a:pathLst>
                <a:path h="806704" w="4439920">
                  <a:moveTo>
                    <a:pt x="0" y="201676"/>
                  </a:moveTo>
                  <a:cubicBezTo>
                    <a:pt x="0" y="90297"/>
                    <a:pt x="90297" y="0"/>
                    <a:pt x="201676" y="0"/>
                  </a:cubicBezTo>
                  <a:lnTo>
                    <a:pt x="4238244" y="0"/>
                  </a:lnTo>
                  <a:cubicBezTo>
                    <a:pt x="4349623" y="0"/>
                    <a:pt x="4439920" y="90297"/>
                    <a:pt x="4439920" y="201676"/>
                  </a:cubicBezTo>
                  <a:lnTo>
                    <a:pt x="4439920" y="605028"/>
                  </a:lnTo>
                  <a:cubicBezTo>
                    <a:pt x="4439920" y="716407"/>
                    <a:pt x="4349623" y="806704"/>
                    <a:pt x="4238244" y="806704"/>
                  </a:cubicBezTo>
                  <a:lnTo>
                    <a:pt x="201676" y="806704"/>
                  </a:lnTo>
                  <a:cubicBezTo>
                    <a:pt x="90297" y="806704"/>
                    <a:pt x="0" y="716407"/>
                    <a:pt x="0" y="605028"/>
                  </a:cubicBezTo>
                  <a:close/>
                </a:path>
              </a:pathLst>
            </a:custGeom>
            <a:solidFill>
              <a:srgbClr val="D9D9D9"/>
            </a:solidFill>
            <a:ln w="38100" cap="sq">
              <a:solidFill>
                <a:srgbClr val="000000"/>
              </a:solidFill>
              <a:prstDash val="solid"/>
              <a:miter/>
            </a:ln>
          </p:spPr>
        </p:sp>
        <p:sp>
          <p:nvSpPr>
            <p:cNvPr name="TextBox 51" id="51"/>
            <p:cNvSpPr txBox="true"/>
            <p:nvPr/>
          </p:nvSpPr>
          <p:spPr>
            <a:xfrm>
              <a:off x="0" y="-9525"/>
              <a:ext cx="4439920" cy="816229"/>
            </a:xfrm>
            <a:prstGeom prst="rect">
              <a:avLst/>
            </a:prstGeom>
          </p:spPr>
          <p:txBody>
            <a:bodyPr anchor="ctr" rtlCol="false" tIns="50800" lIns="50800" bIns="50800" rIns="50800"/>
            <a:lstStyle/>
            <a:p>
              <a:pPr algn="ctr">
                <a:lnSpc>
                  <a:spcPts val="2879"/>
                </a:lnSpc>
              </a:pPr>
              <a:r>
                <a:rPr lang="en-US" sz="2400">
                  <a:solidFill>
                    <a:srgbClr val="000000"/>
                  </a:solidFill>
                  <a:latin typeface="Pixelated"/>
                  <a:ea typeface="Pixelated"/>
                  <a:cs typeface="Pixelated"/>
                  <a:sym typeface="Pixelated"/>
                </a:rPr>
                <a:t>Phone</a:t>
              </a:r>
            </a:p>
          </p:txBody>
        </p:sp>
      </p:grpSp>
      <p:sp>
        <p:nvSpPr>
          <p:cNvPr name="AutoShape 52" id="52"/>
          <p:cNvSpPr/>
          <p:nvPr/>
        </p:nvSpPr>
        <p:spPr>
          <a:xfrm>
            <a:off x="8990355" y="5143500"/>
            <a:ext cx="117069" cy="387858"/>
          </a:xfrm>
          <a:prstGeom prst="line">
            <a:avLst/>
          </a:prstGeom>
          <a:ln cap="rnd" w="38100">
            <a:solidFill>
              <a:srgbClr val="FFFFFF"/>
            </a:solidFill>
            <a:prstDash val="solid"/>
            <a:headEnd type="none" len="sm" w="sm"/>
            <a:tailEnd type="triangle" len="med" w="lg"/>
          </a:ln>
        </p:spPr>
      </p:sp>
      <p:grpSp>
        <p:nvGrpSpPr>
          <p:cNvPr name="Group 53" id="53"/>
          <p:cNvGrpSpPr/>
          <p:nvPr/>
        </p:nvGrpSpPr>
        <p:grpSpPr>
          <a:xfrm rot="0">
            <a:off x="7442454" y="5531358"/>
            <a:ext cx="3329940" cy="605028"/>
            <a:chOff x="0" y="0"/>
            <a:chExt cx="4439920" cy="806704"/>
          </a:xfrm>
        </p:grpSpPr>
        <p:sp>
          <p:nvSpPr>
            <p:cNvPr name="Freeform 54" id="54"/>
            <p:cNvSpPr/>
            <p:nvPr/>
          </p:nvSpPr>
          <p:spPr>
            <a:xfrm flipH="false" flipV="false" rot="0">
              <a:off x="0" y="0"/>
              <a:ext cx="4439920" cy="806704"/>
            </a:xfrm>
            <a:custGeom>
              <a:avLst/>
              <a:gdLst/>
              <a:ahLst/>
              <a:cxnLst/>
              <a:rect r="r" b="b" t="t" l="l"/>
              <a:pathLst>
                <a:path h="806704" w="4439920">
                  <a:moveTo>
                    <a:pt x="0" y="201676"/>
                  </a:moveTo>
                  <a:cubicBezTo>
                    <a:pt x="0" y="90297"/>
                    <a:pt x="90297" y="0"/>
                    <a:pt x="201676" y="0"/>
                  </a:cubicBezTo>
                  <a:lnTo>
                    <a:pt x="4238244" y="0"/>
                  </a:lnTo>
                  <a:cubicBezTo>
                    <a:pt x="4349623" y="0"/>
                    <a:pt x="4439920" y="90297"/>
                    <a:pt x="4439920" y="201676"/>
                  </a:cubicBezTo>
                  <a:lnTo>
                    <a:pt x="4439920" y="605028"/>
                  </a:lnTo>
                  <a:cubicBezTo>
                    <a:pt x="4439920" y="716407"/>
                    <a:pt x="4349623" y="806704"/>
                    <a:pt x="4238244" y="806704"/>
                  </a:cubicBezTo>
                  <a:lnTo>
                    <a:pt x="201676" y="806704"/>
                  </a:lnTo>
                  <a:cubicBezTo>
                    <a:pt x="90297" y="806704"/>
                    <a:pt x="0" y="716407"/>
                    <a:pt x="0" y="605028"/>
                  </a:cubicBezTo>
                  <a:close/>
                </a:path>
              </a:pathLst>
            </a:custGeom>
            <a:solidFill>
              <a:srgbClr val="D9D9D9"/>
            </a:solidFill>
            <a:ln w="38100" cap="sq">
              <a:solidFill>
                <a:srgbClr val="000000"/>
              </a:solidFill>
              <a:prstDash val="solid"/>
              <a:miter/>
            </a:ln>
          </p:spPr>
        </p:sp>
        <p:sp>
          <p:nvSpPr>
            <p:cNvPr name="TextBox 55" id="55"/>
            <p:cNvSpPr txBox="true"/>
            <p:nvPr/>
          </p:nvSpPr>
          <p:spPr>
            <a:xfrm>
              <a:off x="0" y="-9525"/>
              <a:ext cx="4439920" cy="816229"/>
            </a:xfrm>
            <a:prstGeom prst="rect">
              <a:avLst/>
            </a:prstGeom>
          </p:spPr>
          <p:txBody>
            <a:bodyPr anchor="ctr" rtlCol="false" tIns="50800" lIns="50800" bIns="50800" rIns="50800"/>
            <a:lstStyle/>
            <a:p>
              <a:pPr algn="ctr">
                <a:lnSpc>
                  <a:spcPts val="2879"/>
                </a:lnSpc>
              </a:pPr>
              <a:r>
                <a:rPr lang="en-US" sz="2400">
                  <a:solidFill>
                    <a:srgbClr val="000000"/>
                  </a:solidFill>
                  <a:latin typeface="Pixelated"/>
                  <a:ea typeface="Pixelated"/>
                  <a:cs typeface="Pixelated"/>
                  <a:sym typeface="Pixelated"/>
                </a:rPr>
                <a:t>Internet</a:t>
              </a:r>
            </a:p>
          </p:txBody>
        </p:sp>
      </p:grpSp>
      <p:grpSp>
        <p:nvGrpSpPr>
          <p:cNvPr name="Group 56" id="56"/>
          <p:cNvGrpSpPr/>
          <p:nvPr/>
        </p:nvGrpSpPr>
        <p:grpSpPr>
          <a:xfrm rot="0">
            <a:off x="7442454" y="6509766"/>
            <a:ext cx="3329940" cy="605028"/>
            <a:chOff x="0" y="0"/>
            <a:chExt cx="4439920" cy="806704"/>
          </a:xfrm>
        </p:grpSpPr>
        <p:sp>
          <p:nvSpPr>
            <p:cNvPr name="Freeform 57" id="57"/>
            <p:cNvSpPr/>
            <p:nvPr/>
          </p:nvSpPr>
          <p:spPr>
            <a:xfrm flipH="false" flipV="false" rot="0">
              <a:off x="0" y="0"/>
              <a:ext cx="4439920" cy="806704"/>
            </a:xfrm>
            <a:custGeom>
              <a:avLst/>
              <a:gdLst/>
              <a:ahLst/>
              <a:cxnLst/>
              <a:rect r="r" b="b" t="t" l="l"/>
              <a:pathLst>
                <a:path h="806704" w="4439920">
                  <a:moveTo>
                    <a:pt x="0" y="201676"/>
                  </a:moveTo>
                  <a:cubicBezTo>
                    <a:pt x="0" y="90297"/>
                    <a:pt x="90297" y="0"/>
                    <a:pt x="201676" y="0"/>
                  </a:cubicBezTo>
                  <a:lnTo>
                    <a:pt x="4238244" y="0"/>
                  </a:lnTo>
                  <a:cubicBezTo>
                    <a:pt x="4349623" y="0"/>
                    <a:pt x="4439920" y="90297"/>
                    <a:pt x="4439920" y="201676"/>
                  </a:cubicBezTo>
                  <a:lnTo>
                    <a:pt x="4439920" y="605028"/>
                  </a:lnTo>
                  <a:cubicBezTo>
                    <a:pt x="4439920" y="716407"/>
                    <a:pt x="4349623" y="806704"/>
                    <a:pt x="4238244" y="806704"/>
                  </a:cubicBezTo>
                  <a:lnTo>
                    <a:pt x="201676" y="806704"/>
                  </a:lnTo>
                  <a:cubicBezTo>
                    <a:pt x="90297" y="806704"/>
                    <a:pt x="0" y="716407"/>
                    <a:pt x="0" y="605028"/>
                  </a:cubicBezTo>
                  <a:close/>
                </a:path>
              </a:pathLst>
            </a:custGeom>
            <a:solidFill>
              <a:srgbClr val="FFE066"/>
            </a:solidFill>
            <a:ln w="38100" cap="sq">
              <a:solidFill>
                <a:srgbClr val="000000"/>
              </a:solidFill>
              <a:prstDash val="solid"/>
              <a:miter/>
            </a:ln>
          </p:spPr>
        </p:sp>
        <p:sp>
          <p:nvSpPr>
            <p:cNvPr name="TextBox 58" id="58"/>
            <p:cNvSpPr txBox="true"/>
            <p:nvPr/>
          </p:nvSpPr>
          <p:spPr>
            <a:xfrm>
              <a:off x="0" y="-9525"/>
              <a:ext cx="4439920" cy="816229"/>
            </a:xfrm>
            <a:prstGeom prst="rect">
              <a:avLst/>
            </a:prstGeom>
          </p:spPr>
          <p:txBody>
            <a:bodyPr anchor="ctr" rtlCol="false" tIns="50800" lIns="50800" bIns="50800" rIns="50800"/>
            <a:lstStyle/>
            <a:p>
              <a:pPr algn="ctr">
                <a:lnSpc>
                  <a:spcPts val="2879"/>
                </a:lnSpc>
              </a:pPr>
              <a:r>
                <a:rPr lang="en-US" sz="2400">
                  <a:solidFill>
                    <a:srgbClr val="000000"/>
                  </a:solidFill>
                  <a:latin typeface="Pixelated"/>
                  <a:ea typeface="Pixelated"/>
                  <a:cs typeface="Pixelated"/>
                  <a:sym typeface="Pixelated"/>
                </a:rPr>
                <a:t>Send Task D</a:t>
              </a:r>
            </a:p>
          </p:txBody>
        </p:sp>
      </p:grpSp>
      <p:grpSp>
        <p:nvGrpSpPr>
          <p:cNvPr name="Group 59" id="59"/>
          <p:cNvGrpSpPr/>
          <p:nvPr/>
        </p:nvGrpSpPr>
        <p:grpSpPr>
          <a:xfrm rot="0">
            <a:off x="7420240" y="7494168"/>
            <a:ext cx="3329940" cy="605028"/>
            <a:chOff x="0" y="0"/>
            <a:chExt cx="4439920" cy="806704"/>
          </a:xfrm>
        </p:grpSpPr>
        <p:sp>
          <p:nvSpPr>
            <p:cNvPr name="Freeform 60" id="60"/>
            <p:cNvSpPr/>
            <p:nvPr/>
          </p:nvSpPr>
          <p:spPr>
            <a:xfrm flipH="false" flipV="false" rot="0">
              <a:off x="0" y="0"/>
              <a:ext cx="4439920" cy="806704"/>
            </a:xfrm>
            <a:custGeom>
              <a:avLst/>
              <a:gdLst/>
              <a:ahLst/>
              <a:cxnLst/>
              <a:rect r="r" b="b" t="t" l="l"/>
              <a:pathLst>
                <a:path h="806704" w="4439920">
                  <a:moveTo>
                    <a:pt x="0" y="201676"/>
                  </a:moveTo>
                  <a:cubicBezTo>
                    <a:pt x="0" y="90297"/>
                    <a:pt x="90297" y="0"/>
                    <a:pt x="201676" y="0"/>
                  </a:cubicBezTo>
                  <a:lnTo>
                    <a:pt x="4238244" y="0"/>
                  </a:lnTo>
                  <a:cubicBezTo>
                    <a:pt x="4349623" y="0"/>
                    <a:pt x="4439920" y="90297"/>
                    <a:pt x="4439920" y="201676"/>
                  </a:cubicBezTo>
                  <a:lnTo>
                    <a:pt x="4439920" y="605028"/>
                  </a:lnTo>
                  <a:cubicBezTo>
                    <a:pt x="4439920" y="716407"/>
                    <a:pt x="4349623" y="806704"/>
                    <a:pt x="4238244" y="806704"/>
                  </a:cubicBezTo>
                  <a:lnTo>
                    <a:pt x="201676" y="806704"/>
                  </a:lnTo>
                  <a:cubicBezTo>
                    <a:pt x="90297" y="806704"/>
                    <a:pt x="0" y="716407"/>
                    <a:pt x="0" y="605028"/>
                  </a:cubicBezTo>
                  <a:close/>
                </a:path>
              </a:pathLst>
            </a:custGeom>
            <a:solidFill>
              <a:srgbClr val="D9D9D9"/>
            </a:solidFill>
            <a:ln w="38100" cap="sq">
              <a:solidFill>
                <a:srgbClr val="000000"/>
              </a:solidFill>
              <a:prstDash val="solid"/>
              <a:miter/>
            </a:ln>
          </p:spPr>
        </p:sp>
        <p:sp>
          <p:nvSpPr>
            <p:cNvPr name="TextBox 61" id="61"/>
            <p:cNvSpPr txBox="true"/>
            <p:nvPr/>
          </p:nvSpPr>
          <p:spPr>
            <a:xfrm>
              <a:off x="0" y="-9525"/>
              <a:ext cx="4439920" cy="816229"/>
            </a:xfrm>
            <a:prstGeom prst="rect">
              <a:avLst/>
            </a:prstGeom>
          </p:spPr>
          <p:txBody>
            <a:bodyPr anchor="ctr" rtlCol="false" tIns="50800" lIns="50800" bIns="50800" rIns="50800"/>
            <a:lstStyle/>
            <a:p>
              <a:pPr algn="ctr">
                <a:lnSpc>
                  <a:spcPts val="2879"/>
                </a:lnSpc>
              </a:pPr>
              <a:r>
                <a:rPr lang="en-US" sz="2400">
                  <a:solidFill>
                    <a:srgbClr val="000000"/>
                  </a:solidFill>
                  <a:latin typeface="Pixelated"/>
                  <a:ea typeface="Pixelated"/>
                  <a:cs typeface="Pixelated"/>
                  <a:sym typeface="Pixelated"/>
                </a:rPr>
                <a:t>Server</a:t>
              </a:r>
            </a:p>
          </p:txBody>
        </p:sp>
      </p:grpSp>
      <p:grpSp>
        <p:nvGrpSpPr>
          <p:cNvPr name="Group 62" id="62"/>
          <p:cNvGrpSpPr/>
          <p:nvPr/>
        </p:nvGrpSpPr>
        <p:grpSpPr>
          <a:xfrm rot="0">
            <a:off x="7442454" y="8466582"/>
            <a:ext cx="3329940" cy="605028"/>
            <a:chOff x="0" y="0"/>
            <a:chExt cx="4439920" cy="806704"/>
          </a:xfrm>
        </p:grpSpPr>
        <p:sp>
          <p:nvSpPr>
            <p:cNvPr name="Freeform 63" id="63"/>
            <p:cNvSpPr/>
            <p:nvPr/>
          </p:nvSpPr>
          <p:spPr>
            <a:xfrm flipH="false" flipV="false" rot="0">
              <a:off x="0" y="0"/>
              <a:ext cx="4439920" cy="806704"/>
            </a:xfrm>
            <a:custGeom>
              <a:avLst/>
              <a:gdLst/>
              <a:ahLst/>
              <a:cxnLst/>
              <a:rect r="r" b="b" t="t" l="l"/>
              <a:pathLst>
                <a:path h="806704" w="4439920">
                  <a:moveTo>
                    <a:pt x="0" y="201676"/>
                  </a:moveTo>
                  <a:cubicBezTo>
                    <a:pt x="0" y="90297"/>
                    <a:pt x="90297" y="0"/>
                    <a:pt x="201676" y="0"/>
                  </a:cubicBezTo>
                  <a:lnTo>
                    <a:pt x="4238244" y="0"/>
                  </a:lnTo>
                  <a:cubicBezTo>
                    <a:pt x="4349623" y="0"/>
                    <a:pt x="4439920" y="90297"/>
                    <a:pt x="4439920" y="201676"/>
                  </a:cubicBezTo>
                  <a:lnTo>
                    <a:pt x="4439920" y="605028"/>
                  </a:lnTo>
                  <a:cubicBezTo>
                    <a:pt x="4439920" y="716407"/>
                    <a:pt x="4349623" y="806704"/>
                    <a:pt x="4238244" y="806704"/>
                  </a:cubicBezTo>
                  <a:lnTo>
                    <a:pt x="201676" y="806704"/>
                  </a:lnTo>
                  <a:cubicBezTo>
                    <a:pt x="90297" y="806704"/>
                    <a:pt x="0" y="716407"/>
                    <a:pt x="0" y="605028"/>
                  </a:cubicBezTo>
                  <a:close/>
                </a:path>
              </a:pathLst>
            </a:custGeom>
            <a:solidFill>
              <a:srgbClr val="9BE58F"/>
            </a:solidFill>
            <a:ln w="38100" cap="sq">
              <a:solidFill>
                <a:srgbClr val="000000"/>
              </a:solidFill>
              <a:prstDash val="solid"/>
              <a:miter/>
            </a:ln>
          </p:spPr>
        </p:sp>
        <p:sp>
          <p:nvSpPr>
            <p:cNvPr name="TextBox 64" id="64"/>
            <p:cNvSpPr txBox="true"/>
            <p:nvPr/>
          </p:nvSpPr>
          <p:spPr>
            <a:xfrm>
              <a:off x="0" y="-9525"/>
              <a:ext cx="4439920" cy="816229"/>
            </a:xfrm>
            <a:prstGeom prst="rect">
              <a:avLst/>
            </a:prstGeom>
          </p:spPr>
          <p:txBody>
            <a:bodyPr anchor="ctr" rtlCol="false" tIns="50800" lIns="50800" bIns="50800" rIns="50800"/>
            <a:lstStyle/>
            <a:p>
              <a:pPr algn="ctr">
                <a:lnSpc>
                  <a:spcPts val="2879"/>
                </a:lnSpc>
              </a:pPr>
              <a:r>
                <a:rPr lang="en-US" sz="2400">
                  <a:solidFill>
                    <a:srgbClr val="000000"/>
                  </a:solidFill>
                  <a:latin typeface="Pixelated"/>
                  <a:ea typeface="Pixelated"/>
                  <a:cs typeface="Pixelated"/>
                  <a:sym typeface="Pixelated"/>
                </a:rPr>
                <a:t>✓ Updated</a:t>
              </a:r>
            </a:p>
          </p:txBody>
        </p:sp>
      </p:grpSp>
      <p:grpSp>
        <p:nvGrpSpPr>
          <p:cNvPr name="Group 65" id="65"/>
          <p:cNvGrpSpPr/>
          <p:nvPr/>
        </p:nvGrpSpPr>
        <p:grpSpPr>
          <a:xfrm rot="0">
            <a:off x="11484864" y="3840480"/>
            <a:ext cx="5029200" cy="502920"/>
            <a:chOff x="0" y="0"/>
            <a:chExt cx="6705600" cy="670560"/>
          </a:xfrm>
        </p:grpSpPr>
        <p:sp>
          <p:nvSpPr>
            <p:cNvPr name="Freeform 66" id="66"/>
            <p:cNvSpPr/>
            <p:nvPr/>
          </p:nvSpPr>
          <p:spPr>
            <a:xfrm flipH="false" flipV="false" rot="0">
              <a:off x="0" y="0"/>
              <a:ext cx="6705600" cy="670560"/>
            </a:xfrm>
            <a:custGeom>
              <a:avLst/>
              <a:gdLst/>
              <a:ahLst/>
              <a:cxnLst/>
              <a:rect r="r" b="b" t="t" l="l"/>
              <a:pathLst>
                <a:path h="670560" w="6705600">
                  <a:moveTo>
                    <a:pt x="0" y="0"/>
                  </a:moveTo>
                  <a:lnTo>
                    <a:pt x="6705600" y="0"/>
                  </a:lnTo>
                  <a:lnTo>
                    <a:pt x="6705600" y="670560"/>
                  </a:lnTo>
                  <a:lnTo>
                    <a:pt x="0" y="670560"/>
                  </a:lnTo>
                  <a:close/>
                </a:path>
              </a:pathLst>
            </a:custGeom>
            <a:blipFill>
              <a:blip r:embed="rId21">
                <a:alphaModFix amt="0"/>
              </a:blip>
              <a:stretch>
                <a:fillRect l="0" t="-144850" r="0" b="-144850"/>
              </a:stretch>
            </a:blipFill>
          </p:spPr>
        </p:sp>
        <p:sp>
          <p:nvSpPr>
            <p:cNvPr name="TextBox 67" id="67"/>
            <p:cNvSpPr txBox="true"/>
            <p:nvPr/>
          </p:nvSpPr>
          <p:spPr>
            <a:xfrm>
              <a:off x="0" y="-57150"/>
              <a:ext cx="6705600" cy="727710"/>
            </a:xfrm>
            <a:prstGeom prst="rect">
              <a:avLst/>
            </a:prstGeom>
          </p:spPr>
          <p:txBody>
            <a:bodyPr anchor="ctr" rtlCol="false" tIns="0" lIns="0" bIns="0" rIns="0"/>
            <a:lstStyle/>
            <a:p>
              <a:pPr algn="ctr">
                <a:lnSpc>
                  <a:spcPts val="3599"/>
                </a:lnSpc>
              </a:pPr>
              <a:r>
                <a:rPr lang="en-US" sz="2499">
                  <a:solidFill>
                    <a:srgbClr val="FFE066"/>
                  </a:solidFill>
                  <a:latin typeface="Pixelated"/>
                  <a:ea typeface="Pixelated"/>
                  <a:cs typeface="Pixelated"/>
                  <a:sym typeface="Pixelated"/>
                </a:rPr>
                <a:t>Now:</a:t>
              </a:r>
            </a:p>
          </p:txBody>
        </p:sp>
      </p:grpSp>
      <p:grpSp>
        <p:nvGrpSpPr>
          <p:cNvPr name="Group 68" id="68"/>
          <p:cNvGrpSpPr/>
          <p:nvPr/>
        </p:nvGrpSpPr>
        <p:grpSpPr>
          <a:xfrm rot="0">
            <a:off x="11465814" y="4552950"/>
            <a:ext cx="2415540" cy="678180"/>
            <a:chOff x="0" y="0"/>
            <a:chExt cx="3220720" cy="904240"/>
          </a:xfrm>
        </p:grpSpPr>
        <p:sp>
          <p:nvSpPr>
            <p:cNvPr name="Freeform 69" id="69"/>
            <p:cNvSpPr/>
            <p:nvPr/>
          </p:nvSpPr>
          <p:spPr>
            <a:xfrm flipH="false" flipV="false" rot="0">
              <a:off x="0" y="0"/>
              <a:ext cx="3220720" cy="904240"/>
            </a:xfrm>
            <a:custGeom>
              <a:avLst/>
              <a:gdLst/>
              <a:ahLst/>
              <a:cxnLst/>
              <a:rect r="r" b="b" t="t" l="l"/>
              <a:pathLst>
                <a:path h="904240" w="3220720">
                  <a:moveTo>
                    <a:pt x="0" y="0"/>
                  </a:moveTo>
                  <a:lnTo>
                    <a:pt x="3220720" y="0"/>
                  </a:lnTo>
                  <a:lnTo>
                    <a:pt x="3220720" y="904240"/>
                  </a:lnTo>
                  <a:lnTo>
                    <a:pt x="0" y="904240"/>
                  </a:lnTo>
                  <a:close/>
                </a:path>
              </a:pathLst>
            </a:custGeom>
            <a:solidFill>
              <a:srgbClr val="D9D9D9"/>
            </a:solidFill>
            <a:ln w="38100" cap="sq">
              <a:solidFill>
                <a:srgbClr val="000000"/>
              </a:solidFill>
              <a:prstDash val="solid"/>
              <a:miter/>
            </a:ln>
          </p:spPr>
        </p:sp>
        <p:sp>
          <p:nvSpPr>
            <p:cNvPr name="TextBox 70" id="70"/>
            <p:cNvSpPr txBox="true"/>
            <p:nvPr/>
          </p:nvSpPr>
          <p:spPr>
            <a:xfrm>
              <a:off x="0" y="-9525"/>
              <a:ext cx="3220720" cy="913765"/>
            </a:xfrm>
            <a:prstGeom prst="rect">
              <a:avLst/>
            </a:prstGeom>
          </p:spPr>
          <p:txBody>
            <a:bodyPr anchor="ctr" rtlCol="false" tIns="50800" lIns="50800" bIns="50800" rIns="50800"/>
            <a:lstStyle/>
            <a:p>
              <a:pPr algn="ctr">
                <a:lnSpc>
                  <a:spcPts val="3120"/>
                </a:lnSpc>
              </a:pPr>
              <a:r>
                <a:rPr lang="en-US" sz="2600">
                  <a:solidFill>
                    <a:srgbClr val="000000"/>
                  </a:solidFill>
                  <a:latin typeface="Pixelated"/>
                  <a:ea typeface="Pixelated"/>
                  <a:cs typeface="Pixelated"/>
                  <a:sym typeface="Pixelated"/>
                </a:rPr>
                <a:t>PHONE</a:t>
              </a:r>
            </a:p>
          </p:txBody>
        </p:sp>
      </p:grpSp>
      <p:grpSp>
        <p:nvGrpSpPr>
          <p:cNvPr name="Group 71" id="71"/>
          <p:cNvGrpSpPr/>
          <p:nvPr/>
        </p:nvGrpSpPr>
        <p:grpSpPr>
          <a:xfrm rot="0">
            <a:off x="11465814" y="5193030"/>
            <a:ext cx="2415540" cy="2827020"/>
            <a:chOff x="0" y="0"/>
            <a:chExt cx="3220720" cy="3769360"/>
          </a:xfrm>
        </p:grpSpPr>
        <p:sp>
          <p:nvSpPr>
            <p:cNvPr name="Freeform 72" id="72"/>
            <p:cNvSpPr/>
            <p:nvPr/>
          </p:nvSpPr>
          <p:spPr>
            <a:xfrm flipH="false" flipV="false" rot="0">
              <a:off x="0" y="0"/>
              <a:ext cx="3220720" cy="3769360"/>
            </a:xfrm>
            <a:custGeom>
              <a:avLst/>
              <a:gdLst/>
              <a:ahLst/>
              <a:cxnLst/>
              <a:rect r="r" b="b" t="t" l="l"/>
              <a:pathLst>
                <a:path h="3769360" w="3220720">
                  <a:moveTo>
                    <a:pt x="0" y="0"/>
                  </a:moveTo>
                  <a:lnTo>
                    <a:pt x="3220720" y="0"/>
                  </a:lnTo>
                  <a:lnTo>
                    <a:pt x="3220720" y="3769360"/>
                  </a:lnTo>
                  <a:lnTo>
                    <a:pt x="0" y="3769360"/>
                  </a:lnTo>
                  <a:close/>
                </a:path>
              </a:pathLst>
            </a:custGeom>
            <a:solidFill>
              <a:srgbClr val="4A2A92"/>
            </a:solidFill>
            <a:ln w="38100" cap="sq">
              <a:solidFill>
                <a:srgbClr val="000000"/>
              </a:solidFill>
              <a:prstDash val="solid"/>
              <a:miter/>
            </a:ln>
          </p:spPr>
        </p:sp>
        <p:sp>
          <p:nvSpPr>
            <p:cNvPr name="TextBox 73" id="73"/>
            <p:cNvSpPr txBox="true"/>
            <p:nvPr/>
          </p:nvSpPr>
          <p:spPr>
            <a:xfrm>
              <a:off x="0" y="-9525"/>
              <a:ext cx="3220720" cy="3778885"/>
            </a:xfrm>
            <a:prstGeom prst="rect">
              <a:avLst/>
            </a:prstGeom>
          </p:spPr>
          <p:txBody>
            <a:bodyPr anchor="ctr" rtlCol="false" tIns="50800" lIns="50800" bIns="50800" rIns="50800"/>
            <a:lstStyle/>
            <a:p>
              <a:pPr algn="ctr">
                <a:lnSpc>
                  <a:spcPts val="3120"/>
                </a:lnSpc>
              </a:pPr>
              <a:r>
                <a:rPr lang="en-US" sz="2600">
                  <a:solidFill>
                    <a:srgbClr val="FFFFFF"/>
                  </a:solidFill>
                  <a:latin typeface="Pixelated"/>
                  <a:ea typeface="Pixelated"/>
                  <a:cs typeface="Pixelated"/>
                  <a:sym typeface="Pixelated"/>
                </a:rPr>
                <a:t>Task A</a:t>
              </a:r>
            </a:p>
            <a:p>
              <a:pPr algn="ctr">
                <a:lnSpc>
                  <a:spcPts val="3120"/>
                </a:lnSpc>
              </a:pPr>
              <a:r>
                <a:rPr lang="en-US" sz="2600">
                  <a:solidFill>
                    <a:srgbClr val="FFFFFF"/>
                  </a:solidFill>
                  <a:latin typeface="Pixelated"/>
                  <a:ea typeface="Pixelated"/>
                  <a:cs typeface="Pixelated"/>
                  <a:sym typeface="Pixelated"/>
                </a:rPr>
                <a:t>Task B</a:t>
              </a:r>
            </a:p>
            <a:p>
              <a:pPr algn="ctr">
                <a:lnSpc>
                  <a:spcPts val="3120"/>
                </a:lnSpc>
              </a:pPr>
              <a:r>
                <a:rPr lang="en-US" sz="2600">
                  <a:solidFill>
                    <a:srgbClr val="FFFFFF"/>
                  </a:solidFill>
                  <a:latin typeface="Pixelated"/>
                  <a:ea typeface="Pixelated"/>
                  <a:cs typeface="Pixelated"/>
                  <a:sym typeface="Pixelated"/>
                </a:rPr>
                <a:t>Task C</a:t>
              </a:r>
            </a:p>
            <a:p>
              <a:pPr algn="ctr">
                <a:lnSpc>
                  <a:spcPts val="3120"/>
                </a:lnSpc>
              </a:pPr>
              <a:r>
                <a:rPr lang="en-US" sz="2600">
                  <a:solidFill>
                    <a:srgbClr val="FFFFFF"/>
                  </a:solidFill>
                  <a:latin typeface="Pixelated"/>
                  <a:ea typeface="Pixelated"/>
                  <a:cs typeface="Pixelated"/>
                  <a:sym typeface="Pixelated"/>
                </a:rPr>
                <a:t>Task D</a:t>
              </a:r>
            </a:p>
          </p:txBody>
        </p:sp>
      </p:grpSp>
      <p:grpSp>
        <p:nvGrpSpPr>
          <p:cNvPr name="Group 74" id="74"/>
          <p:cNvGrpSpPr/>
          <p:nvPr/>
        </p:nvGrpSpPr>
        <p:grpSpPr>
          <a:xfrm rot="0">
            <a:off x="14117574" y="4552950"/>
            <a:ext cx="2415540" cy="678180"/>
            <a:chOff x="0" y="0"/>
            <a:chExt cx="3220720" cy="904240"/>
          </a:xfrm>
        </p:grpSpPr>
        <p:sp>
          <p:nvSpPr>
            <p:cNvPr name="Freeform 75" id="75"/>
            <p:cNvSpPr/>
            <p:nvPr/>
          </p:nvSpPr>
          <p:spPr>
            <a:xfrm flipH="false" flipV="false" rot="0">
              <a:off x="0" y="0"/>
              <a:ext cx="3220720" cy="904240"/>
            </a:xfrm>
            <a:custGeom>
              <a:avLst/>
              <a:gdLst/>
              <a:ahLst/>
              <a:cxnLst/>
              <a:rect r="r" b="b" t="t" l="l"/>
              <a:pathLst>
                <a:path h="904240" w="3220720">
                  <a:moveTo>
                    <a:pt x="0" y="0"/>
                  </a:moveTo>
                  <a:lnTo>
                    <a:pt x="3220720" y="0"/>
                  </a:lnTo>
                  <a:lnTo>
                    <a:pt x="3220720" y="904240"/>
                  </a:lnTo>
                  <a:lnTo>
                    <a:pt x="0" y="904240"/>
                  </a:lnTo>
                  <a:close/>
                </a:path>
              </a:pathLst>
            </a:custGeom>
            <a:solidFill>
              <a:srgbClr val="D9D9D9"/>
            </a:solidFill>
            <a:ln w="38100" cap="sq">
              <a:solidFill>
                <a:srgbClr val="000000"/>
              </a:solidFill>
              <a:prstDash val="solid"/>
              <a:miter/>
            </a:ln>
          </p:spPr>
        </p:sp>
        <p:sp>
          <p:nvSpPr>
            <p:cNvPr name="TextBox 76" id="76"/>
            <p:cNvSpPr txBox="true"/>
            <p:nvPr/>
          </p:nvSpPr>
          <p:spPr>
            <a:xfrm>
              <a:off x="0" y="-9525"/>
              <a:ext cx="3220720" cy="913765"/>
            </a:xfrm>
            <a:prstGeom prst="rect">
              <a:avLst/>
            </a:prstGeom>
          </p:spPr>
          <p:txBody>
            <a:bodyPr anchor="ctr" rtlCol="false" tIns="50800" lIns="50800" bIns="50800" rIns="50800"/>
            <a:lstStyle/>
            <a:p>
              <a:pPr algn="ctr">
                <a:lnSpc>
                  <a:spcPts val="3120"/>
                </a:lnSpc>
              </a:pPr>
              <a:r>
                <a:rPr lang="en-US" sz="2600">
                  <a:solidFill>
                    <a:srgbClr val="000000"/>
                  </a:solidFill>
                  <a:latin typeface="Pixelated"/>
                  <a:ea typeface="Pixelated"/>
                  <a:cs typeface="Pixelated"/>
                  <a:sym typeface="Pixelated"/>
                </a:rPr>
                <a:t>SERVER</a:t>
              </a:r>
            </a:p>
          </p:txBody>
        </p:sp>
      </p:grpSp>
      <p:grpSp>
        <p:nvGrpSpPr>
          <p:cNvPr name="Group 77" id="77"/>
          <p:cNvGrpSpPr/>
          <p:nvPr/>
        </p:nvGrpSpPr>
        <p:grpSpPr>
          <a:xfrm rot="0">
            <a:off x="14117574" y="5193030"/>
            <a:ext cx="2415540" cy="2827020"/>
            <a:chOff x="0" y="0"/>
            <a:chExt cx="3220720" cy="3769360"/>
          </a:xfrm>
        </p:grpSpPr>
        <p:sp>
          <p:nvSpPr>
            <p:cNvPr name="Freeform 78" id="78"/>
            <p:cNvSpPr/>
            <p:nvPr/>
          </p:nvSpPr>
          <p:spPr>
            <a:xfrm flipH="false" flipV="false" rot="0">
              <a:off x="0" y="0"/>
              <a:ext cx="3220720" cy="3769360"/>
            </a:xfrm>
            <a:custGeom>
              <a:avLst/>
              <a:gdLst/>
              <a:ahLst/>
              <a:cxnLst/>
              <a:rect r="r" b="b" t="t" l="l"/>
              <a:pathLst>
                <a:path h="3769360" w="3220720">
                  <a:moveTo>
                    <a:pt x="0" y="0"/>
                  </a:moveTo>
                  <a:lnTo>
                    <a:pt x="3220720" y="0"/>
                  </a:lnTo>
                  <a:lnTo>
                    <a:pt x="3220720" y="3769360"/>
                  </a:lnTo>
                  <a:lnTo>
                    <a:pt x="0" y="3769360"/>
                  </a:lnTo>
                  <a:close/>
                </a:path>
              </a:pathLst>
            </a:custGeom>
            <a:solidFill>
              <a:srgbClr val="4A2A92"/>
            </a:solidFill>
            <a:ln w="38100" cap="sq">
              <a:solidFill>
                <a:srgbClr val="000000"/>
              </a:solidFill>
              <a:prstDash val="solid"/>
              <a:miter/>
            </a:ln>
          </p:spPr>
        </p:sp>
        <p:sp>
          <p:nvSpPr>
            <p:cNvPr name="TextBox 79" id="79"/>
            <p:cNvSpPr txBox="true"/>
            <p:nvPr/>
          </p:nvSpPr>
          <p:spPr>
            <a:xfrm>
              <a:off x="0" y="-9525"/>
              <a:ext cx="3220720" cy="3778885"/>
            </a:xfrm>
            <a:prstGeom prst="rect">
              <a:avLst/>
            </a:prstGeom>
          </p:spPr>
          <p:txBody>
            <a:bodyPr anchor="ctr" rtlCol="false" tIns="50800" lIns="50800" bIns="50800" rIns="50800"/>
            <a:lstStyle/>
            <a:p>
              <a:pPr algn="ctr">
                <a:lnSpc>
                  <a:spcPts val="3120"/>
                </a:lnSpc>
              </a:pPr>
              <a:r>
                <a:rPr lang="en-US" sz="2600">
                  <a:solidFill>
                    <a:srgbClr val="FFFFFF"/>
                  </a:solidFill>
                  <a:latin typeface="Pixelated"/>
                  <a:ea typeface="Pixelated"/>
                  <a:cs typeface="Pixelated"/>
                  <a:sym typeface="Pixelated"/>
                </a:rPr>
                <a:t>Task A</a:t>
              </a:r>
            </a:p>
            <a:p>
              <a:pPr algn="ctr">
                <a:lnSpc>
                  <a:spcPts val="3120"/>
                </a:lnSpc>
              </a:pPr>
              <a:r>
                <a:rPr lang="en-US" sz="2600">
                  <a:solidFill>
                    <a:srgbClr val="FFFFFF"/>
                  </a:solidFill>
                  <a:latin typeface="Pixelated"/>
                  <a:ea typeface="Pixelated"/>
                  <a:cs typeface="Pixelated"/>
                  <a:sym typeface="Pixelated"/>
                </a:rPr>
                <a:t>Task B</a:t>
              </a:r>
            </a:p>
            <a:p>
              <a:pPr algn="ctr">
                <a:lnSpc>
                  <a:spcPts val="3120"/>
                </a:lnSpc>
              </a:pPr>
              <a:r>
                <a:rPr lang="en-US" sz="2600">
                  <a:solidFill>
                    <a:srgbClr val="FFFFFF"/>
                  </a:solidFill>
                  <a:latin typeface="Pixelated"/>
                  <a:ea typeface="Pixelated"/>
                  <a:cs typeface="Pixelated"/>
                  <a:sym typeface="Pixelated"/>
                </a:rPr>
                <a:t>Task C</a:t>
              </a:r>
            </a:p>
            <a:p>
              <a:pPr algn="ctr">
                <a:lnSpc>
                  <a:spcPts val="3120"/>
                </a:lnSpc>
              </a:pPr>
              <a:r>
                <a:rPr lang="en-US" sz="2600">
                  <a:solidFill>
                    <a:srgbClr val="FFFFFF"/>
                  </a:solidFill>
                  <a:latin typeface="Pixelated"/>
                  <a:ea typeface="Pixelated"/>
                  <a:cs typeface="Pixelated"/>
                  <a:sym typeface="Pixelated"/>
                </a:rPr>
                <a:t>Task D</a:t>
              </a:r>
            </a:p>
          </p:txBody>
        </p:sp>
      </p:grpSp>
      <p:sp>
        <p:nvSpPr>
          <p:cNvPr name="AutoShape 80" id="80"/>
          <p:cNvSpPr/>
          <p:nvPr/>
        </p:nvSpPr>
        <p:spPr>
          <a:xfrm flipH="true">
            <a:off x="9180289" y="8065052"/>
            <a:ext cx="70719" cy="402019"/>
          </a:xfrm>
          <a:prstGeom prst="line">
            <a:avLst/>
          </a:prstGeom>
          <a:ln cap="rnd" w="38100">
            <a:solidFill>
              <a:srgbClr val="FFFFFF"/>
            </a:solidFill>
            <a:prstDash val="solid"/>
            <a:headEnd type="none" len="sm" w="sm"/>
            <a:tailEnd type="triangle" len="med" w="lg"/>
          </a:ln>
        </p:spPr>
      </p:sp>
      <p:sp>
        <p:nvSpPr>
          <p:cNvPr name="AutoShape 81" id="81"/>
          <p:cNvSpPr/>
          <p:nvPr/>
        </p:nvSpPr>
        <p:spPr>
          <a:xfrm>
            <a:off x="9153525" y="7114794"/>
            <a:ext cx="0" cy="373380"/>
          </a:xfrm>
          <a:prstGeom prst="line">
            <a:avLst/>
          </a:prstGeom>
          <a:ln cap="rnd" w="38100">
            <a:solidFill>
              <a:srgbClr val="FFFFFF"/>
            </a:solidFill>
            <a:prstDash val="solid"/>
            <a:headEnd type="none" len="sm" w="sm"/>
            <a:tailEnd type="triangle" len="med" w="lg"/>
          </a:ln>
        </p:spPr>
      </p:sp>
      <p:sp>
        <p:nvSpPr>
          <p:cNvPr name="AutoShape 82" id="82"/>
          <p:cNvSpPr/>
          <p:nvPr/>
        </p:nvSpPr>
        <p:spPr>
          <a:xfrm>
            <a:off x="9162206" y="6141891"/>
            <a:ext cx="18083" cy="404930"/>
          </a:xfrm>
          <a:prstGeom prst="line">
            <a:avLst/>
          </a:prstGeom>
          <a:ln cap="rnd" w="38100">
            <a:solidFill>
              <a:srgbClr val="FFFFFF"/>
            </a:solidFill>
            <a:prstDash val="solid"/>
            <a:headEnd type="none" len="sm" w="sm"/>
            <a:tailEnd type="triangle" len="med" w="lg"/>
          </a:ln>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59"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7" id="7"/>
          <p:cNvSpPr/>
          <p:nvPr/>
        </p:nvSpPr>
        <p:spPr>
          <a:xfrm flipH="false" flipV="false" rot="0">
            <a:off x="13716000"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8" id="8"/>
          <p:cNvSpPr/>
          <p:nvPr/>
        </p:nvSpPr>
        <p:spPr>
          <a:xfrm flipH="false" flipV="false" rot="0">
            <a:off x="15606293" y="4526280"/>
            <a:ext cx="1735693" cy="4114800"/>
          </a:xfrm>
          <a:custGeom>
            <a:avLst/>
            <a:gdLst/>
            <a:ahLst/>
            <a:cxnLst/>
            <a:rect r="r" b="b" t="t" l="l"/>
            <a:pathLst>
              <a:path h="4114800" w="1735693">
                <a:moveTo>
                  <a:pt x="0" y="0"/>
                </a:moveTo>
                <a:lnTo>
                  <a:pt x="1735694" y="0"/>
                </a:lnTo>
                <a:lnTo>
                  <a:pt x="173569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9" id="9"/>
          <p:cNvSpPr/>
          <p:nvPr/>
        </p:nvSpPr>
        <p:spPr>
          <a:xfrm flipH="false" flipV="false" rot="0">
            <a:off x="11275390"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0" id="10"/>
          <p:cNvSpPr/>
          <p:nvPr/>
        </p:nvSpPr>
        <p:spPr>
          <a:xfrm flipH="false" flipV="false" rot="0">
            <a:off x="5637695"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1" id="11"/>
          <p:cNvSpPr/>
          <p:nvPr/>
        </p:nvSpPr>
        <p:spPr>
          <a:xfrm flipH="false" flipV="false" rot="0">
            <a:off x="1028700" y="4526280"/>
            <a:ext cx="1735693" cy="4114800"/>
          </a:xfrm>
          <a:custGeom>
            <a:avLst/>
            <a:gdLst/>
            <a:ahLst/>
            <a:cxnLst/>
            <a:rect r="r" b="b" t="t" l="l"/>
            <a:pathLst>
              <a:path h="4114800" w="1735693">
                <a:moveTo>
                  <a:pt x="0" y="0"/>
                </a:moveTo>
                <a:lnTo>
                  <a:pt x="1735693" y="0"/>
                </a:lnTo>
                <a:lnTo>
                  <a:pt x="173569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12" id="12"/>
          <p:cNvSpPr/>
          <p:nvPr/>
        </p:nvSpPr>
        <p:spPr>
          <a:xfrm flipH="false" flipV="false" rot="0">
            <a:off x="5749509" y="7539885"/>
            <a:ext cx="958044" cy="958044"/>
          </a:xfrm>
          <a:custGeom>
            <a:avLst/>
            <a:gdLst/>
            <a:ahLst/>
            <a:cxnLst/>
            <a:rect r="r" b="b" t="t" l="l"/>
            <a:pathLst>
              <a:path h="958044" w="958044">
                <a:moveTo>
                  <a:pt x="0" y="0"/>
                </a:moveTo>
                <a:lnTo>
                  <a:pt x="958043" y="0"/>
                </a:lnTo>
                <a:lnTo>
                  <a:pt x="958043"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5" y="7654261"/>
            <a:ext cx="958044" cy="958044"/>
          </a:xfrm>
          <a:custGeom>
            <a:avLst/>
            <a:gdLst/>
            <a:ahLst/>
            <a:cxnLst/>
            <a:rect r="r" b="b" t="t" l="l"/>
            <a:pathLst>
              <a:path h="958044" w="958044">
                <a:moveTo>
                  <a:pt x="0" y="0"/>
                </a:moveTo>
                <a:lnTo>
                  <a:pt x="958043" y="0"/>
                </a:lnTo>
                <a:lnTo>
                  <a:pt x="958043"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3" y="4795695"/>
            <a:ext cx="1956883" cy="3816610"/>
          </a:xfrm>
          <a:custGeom>
            <a:avLst/>
            <a:gdLst/>
            <a:ahLst/>
            <a:cxnLst/>
            <a:rect r="r" b="b" t="t" l="l"/>
            <a:pathLst>
              <a:path h="3816610" w="1956883">
                <a:moveTo>
                  <a:pt x="0" y="0"/>
                </a:moveTo>
                <a:lnTo>
                  <a:pt x="1956883" y="0"/>
                </a:lnTo>
                <a:lnTo>
                  <a:pt x="1956883" y="3816610"/>
                </a:lnTo>
                <a:lnTo>
                  <a:pt x="0" y="3816610"/>
                </a:lnTo>
                <a:lnTo>
                  <a:pt x="0" y="0"/>
                </a:lnTo>
                <a:close/>
              </a:path>
            </a:pathLst>
          </a:custGeom>
          <a:blipFill>
            <a:blip r:embed="rId14">
              <a:extLst>
                <a:ext uri="{96DAC541-7B7A-43D3-8B79-37D633B846F1}">
                  <asvg:svgBlip xmlns:asvg="http://schemas.microsoft.com/office/drawing/2016/SVG/main" r:embed="rId15"/>
                </a:ext>
              </a:extLst>
            </a:blip>
            <a:stretch>
              <a:fillRect l="-96" t="0" r="-96" b="0"/>
            </a:stretch>
          </a:blipFill>
        </p:spPr>
      </p:sp>
      <p:sp>
        <p:nvSpPr>
          <p:cNvPr name="Freeform 15" id="15"/>
          <p:cNvSpPr/>
          <p:nvPr/>
        </p:nvSpPr>
        <p:spPr>
          <a:xfrm flipH="false" flipV="false" rot="0">
            <a:off x="501657" y="695484"/>
            <a:ext cx="17467567" cy="9371520"/>
          </a:xfrm>
          <a:custGeom>
            <a:avLst/>
            <a:gdLst/>
            <a:ahLst/>
            <a:cxnLst/>
            <a:rect r="r" b="b" t="t" l="l"/>
            <a:pathLst>
              <a:path h="9371520" w="17467567">
                <a:moveTo>
                  <a:pt x="0" y="0"/>
                </a:moveTo>
                <a:lnTo>
                  <a:pt x="17467566" y="0"/>
                </a:lnTo>
                <a:lnTo>
                  <a:pt x="17467566" y="9371520"/>
                </a:lnTo>
                <a:lnTo>
                  <a:pt x="0" y="937152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0"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7" id="17"/>
          <p:cNvSpPr/>
          <p:nvPr/>
        </p:nvSpPr>
        <p:spPr>
          <a:xfrm flipH="false" flipV="false" rot="0">
            <a:off x="16754304"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grpSp>
        <p:nvGrpSpPr>
          <p:cNvPr name="Group 18" id="18"/>
          <p:cNvGrpSpPr/>
          <p:nvPr/>
        </p:nvGrpSpPr>
        <p:grpSpPr>
          <a:xfrm rot="0">
            <a:off x="1896551" y="411480"/>
            <a:ext cx="715613" cy="617220"/>
            <a:chOff x="0" y="0"/>
            <a:chExt cx="954151" cy="822960"/>
          </a:xfrm>
        </p:grpSpPr>
        <p:sp>
          <p:nvSpPr>
            <p:cNvPr name="Freeform 19" id="19"/>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0" id="20"/>
          <p:cNvGrpSpPr/>
          <p:nvPr/>
        </p:nvGrpSpPr>
        <p:grpSpPr>
          <a:xfrm rot="0">
            <a:off x="2612165" y="411480"/>
            <a:ext cx="715613" cy="617220"/>
            <a:chOff x="0" y="0"/>
            <a:chExt cx="954151" cy="822960"/>
          </a:xfrm>
        </p:grpSpPr>
        <p:sp>
          <p:nvSpPr>
            <p:cNvPr name="Freeform 21" id="21"/>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2" id="22"/>
          <p:cNvGrpSpPr/>
          <p:nvPr/>
        </p:nvGrpSpPr>
        <p:grpSpPr>
          <a:xfrm rot="0">
            <a:off x="3327787" y="411480"/>
            <a:ext cx="715613" cy="617220"/>
            <a:chOff x="0" y="0"/>
            <a:chExt cx="954151" cy="822960"/>
          </a:xfrm>
        </p:grpSpPr>
        <p:sp>
          <p:nvSpPr>
            <p:cNvPr name="Freeform 23" id="23"/>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sp>
        <p:nvSpPr>
          <p:cNvPr name="Freeform 24" id="24"/>
          <p:cNvSpPr/>
          <p:nvPr/>
        </p:nvSpPr>
        <p:spPr>
          <a:xfrm flipH="false" flipV="false" rot="0">
            <a:off x="13975671" y="411480"/>
            <a:ext cx="729758" cy="729758"/>
          </a:xfrm>
          <a:custGeom>
            <a:avLst/>
            <a:gdLst/>
            <a:ahLst/>
            <a:cxnLst/>
            <a:rect r="r" b="b" t="t" l="l"/>
            <a:pathLst>
              <a:path h="729758" w="729758">
                <a:moveTo>
                  <a:pt x="0" y="0"/>
                </a:moveTo>
                <a:lnTo>
                  <a:pt x="729757" y="0"/>
                </a:lnTo>
                <a:lnTo>
                  <a:pt x="729757"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5" id="25"/>
          <p:cNvSpPr txBox="true"/>
          <p:nvPr/>
        </p:nvSpPr>
        <p:spPr>
          <a:xfrm rot="0">
            <a:off x="1705123" y="1202055"/>
            <a:ext cx="14411115" cy="942975"/>
          </a:xfrm>
          <a:prstGeom prst="rect">
            <a:avLst/>
          </a:prstGeom>
        </p:spPr>
        <p:txBody>
          <a:bodyPr anchor="t" rtlCol="false" tIns="0" lIns="0" bIns="0" rIns="0">
            <a:spAutoFit/>
          </a:bodyPr>
          <a:lstStyle/>
          <a:p>
            <a:pPr algn="ctr">
              <a:lnSpc>
                <a:spcPts val="7319"/>
              </a:lnSpc>
            </a:pPr>
            <a:r>
              <a:rPr lang="en-US" sz="6099">
                <a:solidFill>
                  <a:srgbClr val="FFFFFF"/>
                </a:solidFill>
                <a:latin typeface="VT323"/>
                <a:ea typeface="VT323"/>
                <a:cs typeface="VT323"/>
                <a:sym typeface="VT323"/>
              </a:rPr>
              <a:t>HOW SYNCHRONIZATION WORKS</a:t>
            </a:r>
          </a:p>
        </p:txBody>
      </p:sp>
      <p:sp>
        <p:nvSpPr>
          <p:cNvPr name="Freeform 26" id="26"/>
          <p:cNvSpPr/>
          <p:nvPr/>
        </p:nvSpPr>
        <p:spPr>
          <a:xfrm flipH="false" flipV="false" rot="0">
            <a:off x="14863515"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7" id="27"/>
          <p:cNvSpPr/>
          <p:nvPr/>
        </p:nvSpPr>
        <p:spPr>
          <a:xfrm flipH="false" flipV="false" rot="0">
            <a:off x="15751359"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28" id="28"/>
          <p:cNvGrpSpPr/>
          <p:nvPr/>
        </p:nvGrpSpPr>
        <p:grpSpPr>
          <a:xfrm rot="0">
            <a:off x="1463040" y="2697480"/>
            <a:ext cx="9601200" cy="457200"/>
            <a:chOff x="0" y="0"/>
            <a:chExt cx="12801600" cy="609600"/>
          </a:xfrm>
        </p:grpSpPr>
        <p:sp>
          <p:nvSpPr>
            <p:cNvPr name="Freeform 29" id="29"/>
            <p:cNvSpPr/>
            <p:nvPr/>
          </p:nvSpPr>
          <p:spPr>
            <a:xfrm flipH="false" flipV="false" rot="0">
              <a:off x="0" y="0"/>
              <a:ext cx="12801600" cy="609600"/>
            </a:xfrm>
            <a:custGeom>
              <a:avLst/>
              <a:gdLst/>
              <a:ahLst/>
              <a:cxnLst/>
              <a:rect r="r" b="b" t="t" l="l"/>
              <a:pathLst>
                <a:path h="609600" w="12801600">
                  <a:moveTo>
                    <a:pt x="0" y="0"/>
                  </a:moveTo>
                  <a:lnTo>
                    <a:pt x="12801600" y="0"/>
                  </a:lnTo>
                  <a:lnTo>
                    <a:pt x="12801600" y="609600"/>
                  </a:lnTo>
                  <a:lnTo>
                    <a:pt x="0" y="609600"/>
                  </a:lnTo>
                  <a:close/>
                </a:path>
              </a:pathLst>
            </a:custGeom>
            <a:blipFill>
              <a:blip r:embed="rId21">
                <a:alphaModFix amt="0"/>
              </a:blip>
              <a:stretch>
                <a:fillRect l="0" t="-359185" r="0" b="-359185"/>
              </a:stretch>
            </a:blipFill>
          </p:spPr>
        </p:sp>
        <p:sp>
          <p:nvSpPr>
            <p:cNvPr name="TextBox 30" id="30"/>
            <p:cNvSpPr txBox="true"/>
            <p:nvPr/>
          </p:nvSpPr>
          <p:spPr>
            <a:xfrm>
              <a:off x="0" y="-66675"/>
              <a:ext cx="12801600" cy="676275"/>
            </a:xfrm>
            <a:prstGeom prst="rect">
              <a:avLst/>
            </a:prstGeom>
          </p:spPr>
          <p:txBody>
            <a:bodyPr anchor="ctr" rtlCol="false" tIns="0" lIns="0" bIns="0" rIns="0"/>
            <a:lstStyle/>
            <a:p>
              <a:pPr algn="ctr">
                <a:lnSpc>
                  <a:spcPts val="3744"/>
                </a:lnSpc>
              </a:pPr>
              <a:r>
                <a:rPr lang="en-US" sz="2600">
                  <a:solidFill>
                    <a:srgbClr val="FFE066"/>
                  </a:solidFill>
                  <a:latin typeface="Pixelated"/>
                  <a:ea typeface="Pixelated"/>
                  <a:cs typeface="Pixelated"/>
                  <a:sym typeface="Pixelated"/>
                </a:rPr>
                <a:t>Basic Synchronization Flow</a:t>
              </a:r>
            </a:p>
          </p:txBody>
        </p:sp>
      </p:grpSp>
      <p:grpSp>
        <p:nvGrpSpPr>
          <p:cNvPr name="Group 31" id="31"/>
          <p:cNvGrpSpPr/>
          <p:nvPr/>
        </p:nvGrpSpPr>
        <p:grpSpPr>
          <a:xfrm rot="0">
            <a:off x="4461510" y="3272790"/>
            <a:ext cx="3604260" cy="605028"/>
            <a:chOff x="0" y="0"/>
            <a:chExt cx="4805680" cy="806704"/>
          </a:xfrm>
        </p:grpSpPr>
        <p:sp>
          <p:nvSpPr>
            <p:cNvPr name="Freeform 32" id="32"/>
            <p:cNvSpPr/>
            <p:nvPr/>
          </p:nvSpPr>
          <p:spPr>
            <a:xfrm flipH="false" flipV="false" rot="0">
              <a:off x="0" y="0"/>
              <a:ext cx="4805680" cy="806704"/>
            </a:xfrm>
            <a:custGeom>
              <a:avLst/>
              <a:gdLst/>
              <a:ahLst/>
              <a:cxnLst/>
              <a:rect r="r" b="b" t="t" l="l"/>
              <a:pathLst>
                <a:path h="806704" w="4805680">
                  <a:moveTo>
                    <a:pt x="0" y="96774"/>
                  </a:moveTo>
                  <a:cubicBezTo>
                    <a:pt x="0" y="43307"/>
                    <a:pt x="43307" y="0"/>
                    <a:pt x="96774" y="0"/>
                  </a:cubicBezTo>
                  <a:lnTo>
                    <a:pt x="4708906" y="0"/>
                  </a:lnTo>
                  <a:cubicBezTo>
                    <a:pt x="4762373" y="0"/>
                    <a:pt x="4805680" y="43307"/>
                    <a:pt x="4805680" y="96774"/>
                  </a:cubicBezTo>
                  <a:lnTo>
                    <a:pt x="4805680" y="709930"/>
                  </a:lnTo>
                  <a:cubicBezTo>
                    <a:pt x="4805680" y="763397"/>
                    <a:pt x="4762373" y="806704"/>
                    <a:pt x="4708906" y="806704"/>
                  </a:cubicBezTo>
                  <a:lnTo>
                    <a:pt x="96774" y="806704"/>
                  </a:lnTo>
                  <a:cubicBezTo>
                    <a:pt x="43307" y="806704"/>
                    <a:pt x="0" y="763397"/>
                    <a:pt x="0" y="709930"/>
                  </a:cubicBezTo>
                  <a:close/>
                </a:path>
              </a:pathLst>
            </a:custGeom>
            <a:solidFill>
              <a:srgbClr val="8FD3FF"/>
            </a:solidFill>
            <a:ln w="38100" cap="sq">
              <a:solidFill>
                <a:srgbClr val="000000"/>
              </a:solidFill>
              <a:prstDash val="solid"/>
              <a:miter/>
            </a:ln>
          </p:spPr>
        </p:sp>
        <p:sp>
          <p:nvSpPr>
            <p:cNvPr name="TextBox 33" id="33"/>
            <p:cNvSpPr txBox="true"/>
            <p:nvPr/>
          </p:nvSpPr>
          <p:spPr>
            <a:xfrm>
              <a:off x="0" y="0"/>
              <a:ext cx="4805680" cy="806704"/>
            </a:xfrm>
            <a:prstGeom prst="rect">
              <a:avLst/>
            </a:prstGeom>
          </p:spPr>
          <p:txBody>
            <a:bodyPr anchor="ctr" rtlCol="false" tIns="50800" lIns="50800" bIns="50800" rIns="50800"/>
            <a:lstStyle/>
            <a:p>
              <a:pPr algn="ctr">
                <a:lnSpc>
                  <a:spcPts val="2520"/>
                </a:lnSpc>
              </a:pPr>
              <a:r>
                <a:rPr lang="en-US" sz="2100">
                  <a:solidFill>
                    <a:srgbClr val="000000"/>
                  </a:solidFill>
                  <a:latin typeface="Pixelated"/>
                  <a:ea typeface="Pixelated"/>
                  <a:cs typeface="Pixelated"/>
                  <a:sym typeface="Pixelated"/>
                </a:rPr>
                <a:t>USER CHANGES DATA</a:t>
              </a:r>
            </a:p>
          </p:txBody>
        </p:sp>
      </p:grpSp>
      <p:sp>
        <p:nvSpPr>
          <p:cNvPr name="AutoShape 34" id="34"/>
          <p:cNvSpPr/>
          <p:nvPr/>
        </p:nvSpPr>
        <p:spPr>
          <a:xfrm rot="4784520">
            <a:off x="6138834" y="3967734"/>
            <a:ext cx="249612" cy="0"/>
          </a:xfrm>
          <a:prstGeom prst="line">
            <a:avLst/>
          </a:prstGeom>
          <a:ln cap="rnd" w="38100">
            <a:solidFill>
              <a:srgbClr val="FFFFFF"/>
            </a:solidFill>
            <a:prstDash val="solid"/>
            <a:headEnd type="none" len="sm" w="sm"/>
            <a:tailEnd type="triangle" len="med" w="lg"/>
          </a:ln>
        </p:spPr>
      </p:sp>
      <p:grpSp>
        <p:nvGrpSpPr>
          <p:cNvPr name="Group 35" id="35"/>
          <p:cNvGrpSpPr/>
          <p:nvPr/>
        </p:nvGrpSpPr>
        <p:grpSpPr>
          <a:xfrm rot="0">
            <a:off x="4461510" y="4095750"/>
            <a:ext cx="3604260" cy="605028"/>
            <a:chOff x="0" y="0"/>
            <a:chExt cx="4805680" cy="806704"/>
          </a:xfrm>
        </p:grpSpPr>
        <p:sp>
          <p:nvSpPr>
            <p:cNvPr name="Freeform 36" id="36"/>
            <p:cNvSpPr/>
            <p:nvPr/>
          </p:nvSpPr>
          <p:spPr>
            <a:xfrm flipH="false" flipV="false" rot="0">
              <a:off x="0" y="0"/>
              <a:ext cx="4805680" cy="806704"/>
            </a:xfrm>
            <a:custGeom>
              <a:avLst/>
              <a:gdLst/>
              <a:ahLst/>
              <a:cxnLst/>
              <a:rect r="r" b="b" t="t" l="l"/>
              <a:pathLst>
                <a:path h="806704" w="4805680">
                  <a:moveTo>
                    <a:pt x="0" y="96774"/>
                  </a:moveTo>
                  <a:cubicBezTo>
                    <a:pt x="0" y="43307"/>
                    <a:pt x="43307" y="0"/>
                    <a:pt x="96774" y="0"/>
                  </a:cubicBezTo>
                  <a:lnTo>
                    <a:pt x="4708906" y="0"/>
                  </a:lnTo>
                  <a:cubicBezTo>
                    <a:pt x="4762373" y="0"/>
                    <a:pt x="4805680" y="43307"/>
                    <a:pt x="4805680" y="96774"/>
                  </a:cubicBezTo>
                  <a:lnTo>
                    <a:pt x="4805680" y="709930"/>
                  </a:lnTo>
                  <a:cubicBezTo>
                    <a:pt x="4805680" y="763397"/>
                    <a:pt x="4762373" y="806704"/>
                    <a:pt x="4708906" y="806704"/>
                  </a:cubicBezTo>
                  <a:lnTo>
                    <a:pt x="96774" y="806704"/>
                  </a:lnTo>
                  <a:cubicBezTo>
                    <a:pt x="43307" y="806704"/>
                    <a:pt x="0" y="763397"/>
                    <a:pt x="0" y="709930"/>
                  </a:cubicBezTo>
                  <a:close/>
                </a:path>
              </a:pathLst>
            </a:custGeom>
            <a:solidFill>
              <a:srgbClr val="8FD3FF"/>
            </a:solidFill>
            <a:ln w="38100" cap="sq">
              <a:solidFill>
                <a:srgbClr val="000000"/>
              </a:solidFill>
              <a:prstDash val="solid"/>
              <a:miter/>
            </a:ln>
          </p:spPr>
        </p:sp>
        <p:sp>
          <p:nvSpPr>
            <p:cNvPr name="TextBox 37" id="37"/>
            <p:cNvSpPr txBox="true"/>
            <p:nvPr/>
          </p:nvSpPr>
          <p:spPr>
            <a:xfrm>
              <a:off x="0" y="0"/>
              <a:ext cx="4805680" cy="806704"/>
            </a:xfrm>
            <a:prstGeom prst="rect">
              <a:avLst/>
            </a:prstGeom>
          </p:spPr>
          <p:txBody>
            <a:bodyPr anchor="ctr" rtlCol="false" tIns="50800" lIns="50800" bIns="50800" rIns="50800"/>
            <a:lstStyle/>
            <a:p>
              <a:pPr algn="ctr">
                <a:lnSpc>
                  <a:spcPts val="2520"/>
                </a:lnSpc>
              </a:pPr>
              <a:r>
                <a:rPr lang="en-US" sz="2100">
                  <a:solidFill>
                    <a:srgbClr val="000000"/>
                  </a:solidFill>
                  <a:latin typeface="Pixelated"/>
                  <a:ea typeface="Pixelated"/>
                  <a:cs typeface="Pixelated"/>
                  <a:sym typeface="Pixelated"/>
                </a:rPr>
                <a:t>SAVE DATA LOCALLY</a:t>
              </a:r>
            </a:p>
          </p:txBody>
        </p:sp>
      </p:grpSp>
      <p:sp>
        <p:nvSpPr>
          <p:cNvPr name="AutoShape 38" id="38"/>
          <p:cNvSpPr/>
          <p:nvPr/>
        </p:nvSpPr>
        <p:spPr>
          <a:xfrm rot="4784520">
            <a:off x="6138834" y="4790694"/>
            <a:ext cx="249612" cy="0"/>
          </a:xfrm>
          <a:prstGeom prst="line">
            <a:avLst/>
          </a:prstGeom>
          <a:ln cap="rnd" w="38100">
            <a:solidFill>
              <a:srgbClr val="FFFFFF"/>
            </a:solidFill>
            <a:prstDash val="solid"/>
            <a:headEnd type="none" len="sm" w="sm"/>
            <a:tailEnd type="triangle" len="med" w="lg"/>
          </a:ln>
        </p:spPr>
      </p:sp>
      <p:grpSp>
        <p:nvGrpSpPr>
          <p:cNvPr name="Group 39" id="39"/>
          <p:cNvGrpSpPr/>
          <p:nvPr/>
        </p:nvGrpSpPr>
        <p:grpSpPr>
          <a:xfrm rot="0">
            <a:off x="4004310" y="4918710"/>
            <a:ext cx="4518660" cy="1455420"/>
            <a:chOff x="0" y="0"/>
            <a:chExt cx="6024880" cy="1940560"/>
          </a:xfrm>
        </p:grpSpPr>
        <p:sp>
          <p:nvSpPr>
            <p:cNvPr name="Freeform 40" id="40"/>
            <p:cNvSpPr/>
            <p:nvPr/>
          </p:nvSpPr>
          <p:spPr>
            <a:xfrm flipH="false" flipV="false" rot="0">
              <a:off x="0" y="0"/>
              <a:ext cx="6024880" cy="1940560"/>
            </a:xfrm>
            <a:custGeom>
              <a:avLst/>
              <a:gdLst/>
              <a:ahLst/>
              <a:cxnLst/>
              <a:rect r="r" b="b" t="t" l="l"/>
              <a:pathLst>
                <a:path h="1940560" w="6024880">
                  <a:moveTo>
                    <a:pt x="0" y="970280"/>
                  </a:moveTo>
                  <a:lnTo>
                    <a:pt x="3012440" y="0"/>
                  </a:lnTo>
                  <a:lnTo>
                    <a:pt x="6024880" y="970280"/>
                  </a:lnTo>
                  <a:lnTo>
                    <a:pt x="3012440" y="1940560"/>
                  </a:lnTo>
                  <a:close/>
                </a:path>
              </a:pathLst>
            </a:custGeom>
            <a:solidFill>
              <a:srgbClr val="FFE066"/>
            </a:solidFill>
            <a:ln w="38100" cap="sq">
              <a:solidFill>
                <a:srgbClr val="000000"/>
              </a:solidFill>
              <a:prstDash val="solid"/>
              <a:miter/>
            </a:ln>
          </p:spPr>
        </p:sp>
        <p:sp>
          <p:nvSpPr>
            <p:cNvPr name="TextBox 41" id="41"/>
            <p:cNvSpPr txBox="true"/>
            <p:nvPr/>
          </p:nvSpPr>
          <p:spPr>
            <a:xfrm>
              <a:off x="0" y="9525"/>
              <a:ext cx="6024880" cy="1931035"/>
            </a:xfrm>
            <a:prstGeom prst="rect">
              <a:avLst/>
            </a:prstGeom>
          </p:spPr>
          <p:txBody>
            <a:bodyPr anchor="ctr" rtlCol="false" tIns="50800" lIns="50800" bIns="50800" rIns="50800"/>
            <a:lstStyle/>
            <a:p>
              <a:pPr algn="ctr">
                <a:lnSpc>
                  <a:spcPts val="2280"/>
                </a:lnSpc>
              </a:pPr>
              <a:r>
                <a:rPr lang="en-US" sz="2000">
                  <a:solidFill>
                    <a:srgbClr val="000000"/>
                  </a:solidFill>
                  <a:latin typeface="Pixelated"/>
                  <a:ea typeface="Pixelated"/>
                  <a:cs typeface="Pixelated"/>
                  <a:sym typeface="Pixelated"/>
                </a:rPr>
                <a:t>INTERNET</a:t>
              </a:r>
            </a:p>
            <a:p>
              <a:pPr algn="ctr">
                <a:lnSpc>
                  <a:spcPts val="2280"/>
                </a:lnSpc>
              </a:pPr>
              <a:r>
                <a:rPr lang="en-US" sz="2000">
                  <a:solidFill>
                    <a:srgbClr val="000000"/>
                  </a:solidFill>
                  <a:latin typeface="Pixelated"/>
                  <a:ea typeface="Pixelated"/>
                  <a:cs typeface="Pixelated"/>
                  <a:sym typeface="Pixelated"/>
                </a:rPr>
                <a:t>AVAILABLE?</a:t>
              </a:r>
            </a:p>
          </p:txBody>
        </p:sp>
      </p:grpSp>
      <p:sp>
        <p:nvSpPr>
          <p:cNvPr name="AutoShape 42" id="42"/>
          <p:cNvSpPr/>
          <p:nvPr/>
        </p:nvSpPr>
        <p:spPr>
          <a:xfrm flipH="true">
            <a:off x="3131182" y="5624197"/>
            <a:ext cx="914409" cy="0"/>
          </a:xfrm>
          <a:prstGeom prst="line">
            <a:avLst/>
          </a:prstGeom>
          <a:ln cap="rnd" w="38100">
            <a:solidFill>
              <a:srgbClr val="FFFFFF"/>
            </a:solidFill>
            <a:prstDash val="solid"/>
            <a:headEnd type="none" len="sm" w="sm"/>
            <a:tailEnd type="none" len="sm" w="sm"/>
          </a:ln>
        </p:spPr>
      </p:sp>
      <p:sp>
        <p:nvSpPr>
          <p:cNvPr name="AutoShape 43" id="43"/>
          <p:cNvSpPr/>
          <p:nvPr/>
        </p:nvSpPr>
        <p:spPr>
          <a:xfrm>
            <a:off x="3131182" y="5624197"/>
            <a:ext cx="0" cy="542794"/>
          </a:xfrm>
          <a:prstGeom prst="line">
            <a:avLst/>
          </a:prstGeom>
          <a:ln cap="rnd" w="38100">
            <a:solidFill>
              <a:srgbClr val="FFFFFF"/>
            </a:solidFill>
            <a:prstDash val="solid"/>
            <a:headEnd type="none" len="sm" w="sm"/>
            <a:tailEnd type="triangle" len="med" w="lg"/>
          </a:ln>
        </p:spPr>
      </p:sp>
      <p:sp>
        <p:nvSpPr>
          <p:cNvPr name="AutoShape 44" id="44"/>
          <p:cNvSpPr/>
          <p:nvPr/>
        </p:nvSpPr>
        <p:spPr>
          <a:xfrm>
            <a:off x="8481699" y="5624197"/>
            <a:ext cx="936621" cy="0"/>
          </a:xfrm>
          <a:prstGeom prst="line">
            <a:avLst/>
          </a:prstGeom>
          <a:ln cap="rnd" w="38100">
            <a:solidFill>
              <a:srgbClr val="FFFFFF"/>
            </a:solidFill>
            <a:prstDash val="solid"/>
            <a:headEnd type="none" len="sm" w="sm"/>
            <a:tailEnd type="none" len="sm" w="sm"/>
          </a:ln>
        </p:spPr>
      </p:sp>
      <p:sp>
        <p:nvSpPr>
          <p:cNvPr name="AutoShape 45" id="45"/>
          <p:cNvSpPr/>
          <p:nvPr/>
        </p:nvSpPr>
        <p:spPr>
          <a:xfrm flipH="true">
            <a:off x="9440542" y="5646420"/>
            <a:ext cx="9" cy="520571"/>
          </a:xfrm>
          <a:prstGeom prst="line">
            <a:avLst/>
          </a:prstGeom>
          <a:ln cap="rnd" w="38100">
            <a:solidFill>
              <a:srgbClr val="FFFFFF"/>
            </a:solidFill>
            <a:prstDash val="solid"/>
            <a:headEnd type="none" len="sm" w="sm"/>
            <a:tailEnd type="triangle" len="med" w="lg"/>
          </a:ln>
        </p:spPr>
      </p:sp>
      <p:grpSp>
        <p:nvGrpSpPr>
          <p:cNvPr name="Group 46" id="46"/>
          <p:cNvGrpSpPr/>
          <p:nvPr/>
        </p:nvGrpSpPr>
        <p:grpSpPr>
          <a:xfrm rot="0">
            <a:off x="3291840" y="5189220"/>
            <a:ext cx="822960" cy="384048"/>
            <a:chOff x="0" y="0"/>
            <a:chExt cx="1097280" cy="512064"/>
          </a:xfrm>
        </p:grpSpPr>
        <p:sp>
          <p:nvSpPr>
            <p:cNvPr name="Freeform 47" id="47"/>
            <p:cNvSpPr/>
            <p:nvPr/>
          </p:nvSpPr>
          <p:spPr>
            <a:xfrm flipH="false" flipV="false" rot="0">
              <a:off x="0" y="0"/>
              <a:ext cx="1097280" cy="512064"/>
            </a:xfrm>
            <a:custGeom>
              <a:avLst/>
              <a:gdLst/>
              <a:ahLst/>
              <a:cxnLst/>
              <a:rect r="r" b="b" t="t" l="l"/>
              <a:pathLst>
                <a:path h="512064" w="1097280">
                  <a:moveTo>
                    <a:pt x="0" y="0"/>
                  </a:moveTo>
                  <a:lnTo>
                    <a:pt x="1097280" y="0"/>
                  </a:lnTo>
                  <a:lnTo>
                    <a:pt x="1097280" y="512064"/>
                  </a:lnTo>
                  <a:lnTo>
                    <a:pt x="0" y="512064"/>
                  </a:lnTo>
                  <a:close/>
                </a:path>
              </a:pathLst>
            </a:custGeom>
            <a:blipFill>
              <a:blip r:embed="rId21">
                <a:alphaModFix amt="0"/>
              </a:blip>
              <a:stretch>
                <a:fillRect l="-9874" t="0" r="-9874" b="0"/>
              </a:stretch>
            </a:blipFill>
          </p:spPr>
        </p:sp>
        <p:sp>
          <p:nvSpPr>
            <p:cNvPr name="TextBox 48" id="48"/>
            <p:cNvSpPr txBox="true"/>
            <p:nvPr/>
          </p:nvSpPr>
          <p:spPr>
            <a:xfrm>
              <a:off x="0" y="0"/>
              <a:ext cx="1097280" cy="512064"/>
            </a:xfrm>
            <a:prstGeom prst="rect">
              <a:avLst/>
            </a:prstGeom>
          </p:spPr>
          <p:txBody>
            <a:bodyPr anchor="b" rtlCol="false" tIns="0" lIns="0" bIns="0" rIns="0"/>
            <a:lstStyle/>
            <a:p>
              <a:pPr algn="l">
                <a:lnSpc>
                  <a:spcPts val="2639"/>
                </a:lnSpc>
              </a:pPr>
              <a:r>
                <a:rPr lang="en-US" sz="2199">
                  <a:solidFill>
                    <a:srgbClr val="FFE066"/>
                  </a:solidFill>
                  <a:latin typeface="Pixelated"/>
                  <a:ea typeface="Pixelated"/>
                  <a:cs typeface="Pixelated"/>
                  <a:sym typeface="Pixelated"/>
                </a:rPr>
                <a:t>NO</a:t>
              </a:r>
            </a:p>
          </p:txBody>
        </p:sp>
      </p:grpSp>
      <p:grpSp>
        <p:nvGrpSpPr>
          <p:cNvPr name="Group 49" id="49"/>
          <p:cNvGrpSpPr/>
          <p:nvPr/>
        </p:nvGrpSpPr>
        <p:grpSpPr>
          <a:xfrm rot="0">
            <a:off x="8412480" y="5189220"/>
            <a:ext cx="822960" cy="384048"/>
            <a:chOff x="0" y="0"/>
            <a:chExt cx="1097280" cy="512064"/>
          </a:xfrm>
        </p:grpSpPr>
        <p:sp>
          <p:nvSpPr>
            <p:cNvPr name="Freeform 50" id="50"/>
            <p:cNvSpPr/>
            <p:nvPr/>
          </p:nvSpPr>
          <p:spPr>
            <a:xfrm flipH="false" flipV="false" rot="0">
              <a:off x="0" y="0"/>
              <a:ext cx="1097280" cy="512064"/>
            </a:xfrm>
            <a:custGeom>
              <a:avLst/>
              <a:gdLst/>
              <a:ahLst/>
              <a:cxnLst/>
              <a:rect r="r" b="b" t="t" l="l"/>
              <a:pathLst>
                <a:path h="512064" w="1097280">
                  <a:moveTo>
                    <a:pt x="0" y="0"/>
                  </a:moveTo>
                  <a:lnTo>
                    <a:pt x="1097280" y="0"/>
                  </a:lnTo>
                  <a:lnTo>
                    <a:pt x="1097280" y="512064"/>
                  </a:lnTo>
                  <a:lnTo>
                    <a:pt x="0" y="512064"/>
                  </a:lnTo>
                  <a:close/>
                </a:path>
              </a:pathLst>
            </a:custGeom>
            <a:blipFill>
              <a:blip r:embed="rId21">
                <a:alphaModFix amt="0"/>
              </a:blip>
              <a:stretch>
                <a:fillRect l="-9874" t="0" r="-9874" b="0"/>
              </a:stretch>
            </a:blipFill>
          </p:spPr>
        </p:sp>
        <p:sp>
          <p:nvSpPr>
            <p:cNvPr name="TextBox 51" id="51"/>
            <p:cNvSpPr txBox="true"/>
            <p:nvPr/>
          </p:nvSpPr>
          <p:spPr>
            <a:xfrm>
              <a:off x="0" y="0"/>
              <a:ext cx="1097280" cy="512064"/>
            </a:xfrm>
            <a:prstGeom prst="rect">
              <a:avLst/>
            </a:prstGeom>
          </p:spPr>
          <p:txBody>
            <a:bodyPr anchor="b" rtlCol="false" tIns="0" lIns="0" bIns="0" rIns="0"/>
            <a:lstStyle/>
            <a:p>
              <a:pPr algn="r">
                <a:lnSpc>
                  <a:spcPts val="2639"/>
                </a:lnSpc>
              </a:pPr>
              <a:r>
                <a:rPr lang="en-US" sz="2199">
                  <a:solidFill>
                    <a:srgbClr val="FFE066"/>
                  </a:solidFill>
                  <a:latin typeface="Pixelated"/>
                  <a:ea typeface="Pixelated"/>
                  <a:cs typeface="Pixelated"/>
                  <a:sym typeface="Pixelated"/>
                </a:rPr>
                <a:t>YES</a:t>
              </a:r>
            </a:p>
          </p:txBody>
        </p:sp>
      </p:grpSp>
      <p:grpSp>
        <p:nvGrpSpPr>
          <p:cNvPr name="Group 52" id="52"/>
          <p:cNvGrpSpPr/>
          <p:nvPr/>
        </p:nvGrpSpPr>
        <p:grpSpPr>
          <a:xfrm rot="0">
            <a:off x="1581150" y="6153150"/>
            <a:ext cx="3055620" cy="605028"/>
            <a:chOff x="0" y="0"/>
            <a:chExt cx="4074160" cy="806704"/>
          </a:xfrm>
        </p:grpSpPr>
        <p:sp>
          <p:nvSpPr>
            <p:cNvPr name="Freeform 53" id="53"/>
            <p:cNvSpPr/>
            <p:nvPr/>
          </p:nvSpPr>
          <p:spPr>
            <a:xfrm flipH="false" flipV="false" rot="0">
              <a:off x="0" y="0"/>
              <a:ext cx="4074160" cy="806704"/>
            </a:xfrm>
            <a:custGeom>
              <a:avLst/>
              <a:gdLst/>
              <a:ahLst/>
              <a:cxnLst/>
              <a:rect r="r" b="b" t="t" l="l"/>
              <a:pathLst>
                <a:path h="806704" w="4074160">
                  <a:moveTo>
                    <a:pt x="0" y="96774"/>
                  </a:moveTo>
                  <a:cubicBezTo>
                    <a:pt x="0" y="43307"/>
                    <a:pt x="43307" y="0"/>
                    <a:pt x="96774" y="0"/>
                  </a:cubicBezTo>
                  <a:lnTo>
                    <a:pt x="3977386" y="0"/>
                  </a:lnTo>
                  <a:cubicBezTo>
                    <a:pt x="4030853" y="0"/>
                    <a:pt x="4074160" y="43307"/>
                    <a:pt x="4074160" y="96774"/>
                  </a:cubicBezTo>
                  <a:lnTo>
                    <a:pt x="4074160" y="709930"/>
                  </a:lnTo>
                  <a:cubicBezTo>
                    <a:pt x="4074160" y="763397"/>
                    <a:pt x="4030853" y="806704"/>
                    <a:pt x="3977386" y="806704"/>
                  </a:cubicBezTo>
                  <a:lnTo>
                    <a:pt x="96774" y="806704"/>
                  </a:lnTo>
                  <a:cubicBezTo>
                    <a:pt x="43307" y="806704"/>
                    <a:pt x="0" y="763397"/>
                    <a:pt x="0" y="709930"/>
                  </a:cubicBezTo>
                  <a:close/>
                </a:path>
              </a:pathLst>
            </a:custGeom>
            <a:solidFill>
              <a:srgbClr val="D9D9D9"/>
            </a:solidFill>
            <a:ln w="38100" cap="sq">
              <a:solidFill>
                <a:srgbClr val="000000"/>
              </a:solidFill>
              <a:prstDash val="solid"/>
              <a:miter/>
            </a:ln>
          </p:spPr>
        </p:sp>
        <p:sp>
          <p:nvSpPr>
            <p:cNvPr name="TextBox 54" id="54"/>
            <p:cNvSpPr txBox="true"/>
            <p:nvPr/>
          </p:nvSpPr>
          <p:spPr>
            <a:xfrm>
              <a:off x="0" y="-9525"/>
              <a:ext cx="4074160" cy="816229"/>
            </a:xfrm>
            <a:prstGeom prst="rect">
              <a:avLst/>
            </a:prstGeom>
          </p:spPr>
          <p:txBody>
            <a:bodyPr anchor="ctr" rtlCol="false" tIns="50800" lIns="50800" bIns="50800" rIns="50800"/>
            <a:lstStyle/>
            <a:p>
              <a:pPr algn="ctr">
                <a:lnSpc>
                  <a:spcPts val="2400"/>
                </a:lnSpc>
              </a:pPr>
              <a:r>
                <a:rPr lang="en-US" sz="2000">
                  <a:solidFill>
                    <a:srgbClr val="000000"/>
                  </a:solidFill>
                  <a:latin typeface="Pixelated"/>
                  <a:ea typeface="Pixelated"/>
                  <a:cs typeface="Pixelated"/>
                  <a:sym typeface="Pixelated"/>
                </a:rPr>
                <a:t>Keep it locally</a:t>
              </a:r>
            </a:p>
          </p:txBody>
        </p:sp>
      </p:grpSp>
      <p:grpSp>
        <p:nvGrpSpPr>
          <p:cNvPr name="Group 55" id="55"/>
          <p:cNvGrpSpPr/>
          <p:nvPr/>
        </p:nvGrpSpPr>
        <p:grpSpPr>
          <a:xfrm rot="0">
            <a:off x="7890510" y="6153150"/>
            <a:ext cx="3055620" cy="605028"/>
            <a:chOff x="0" y="0"/>
            <a:chExt cx="4074160" cy="806704"/>
          </a:xfrm>
        </p:grpSpPr>
        <p:sp>
          <p:nvSpPr>
            <p:cNvPr name="Freeform 56" id="56"/>
            <p:cNvSpPr/>
            <p:nvPr/>
          </p:nvSpPr>
          <p:spPr>
            <a:xfrm flipH="false" flipV="false" rot="0">
              <a:off x="0" y="0"/>
              <a:ext cx="4074160" cy="806704"/>
            </a:xfrm>
            <a:custGeom>
              <a:avLst/>
              <a:gdLst/>
              <a:ahLst/>
              <a:cxnLst/>
              <a:rect r="r" b="b" t="t" l="l"/>
              <a:pathLst>
                <a:path h="806704" w="4074160">
                  <a:moveTo>
                    <a:pt x="0" y="96774"/>
                  </a:moveTo>
                  <a:cubicBezTo>
                    <a:pt x="0" y="43307"/>
                    <a:pt x="43307" y="0"/>
                    <a:pt x="96774" y="0"/>
                  </a:cubicBezTo>
                  <a:lnTo>
                    <a:pt x="3977386" y="0"/>
                  </a:lnTo>
                  <a:cubicBezTo>
                    <a:pt x="4030853" y="0"/>
                    <a:pt x="4074160" y="43307"/>
                    <a:pt x="4074160" y="96774"/>
                  </a:cubicBezTo>
                  <a:lnTo>
                    <a:pt x="4074160" y="709930"/>
                  </a:lnTo>
                  <a:cubicBezTo>
                    <a:pt x="4074160" y="763397"/>
                    <a:pt x="4030853" y="806704"/>
                    <a:pt x="3977386" y="806704"/>
                  </a:cubicBezTo>
                  <a:lnTo>
                    <a:pt x="96774" y="806704"/>
                  </a:lnTo>
                  <a:cubicBezTo>
                    <a:pt x="43307" y="806704"/>
                    <a:pt x="0" y="763397"/>
                    <a:pt x="0" y="709930"/>
                  </a:cubicBezTo>
                  <a:close/>
                </a:path>
              </a:pathLst>
            </a:custGeom>
            <a:solidFill>
              <a:srgbClr val="D9D9D9"/>
            </a:solidFill>
            <a:ln w="38100" cap="sq">
              <a:solidFill>
                <a:srgbClr val="000000"/>
              </a:solidFill>
              <a:prstDash val="solid"/>
              <a:miter/>
            </a:ln>
          </p:spPr>
        </p:sp>
        <p:sp>
          <p:nvSpPr>
            <p:cNvPr name="TextBox 57" id="57"/>
            <p:cNvSpPr txBox="true"/>
            <p:nvPr/>
          </p:nvSpPr>
          <p:spPr>
            <a:xfrm>
              <a:off x="0" y="-9525"/>
              <a:ext cx="4074160" cy="816229"/>
            </a:xfrm>
            <a:prstGeom prst="rect">
              <a:avLst/>
            </a:prstGeom>
          </p:spPr>
          <p:txBody>
            <a:bodyPr anchor="ctr" rtlCol="false" tIns="50800" lIns="50800" bIns="50800" rIns="50800"/>
            <a:lstStyle/>
            <a:p>
              <a:pPr algn="ctr">
                <a:lnSpc>
                  <a:spcPts val="2400"/>
                </a:lnSpc>
              </a:pPr>
              <a:r>
                <a:rPr lang="en-US" sz="2000">
                  <a:solidFill>
                    <a:srgbClr val="000000"/>
                  </a:solidFill>
                  <a:latin typeface="Pixelated"/>
                  <a:ea typeface="Pixelated"/>
                  <a:cs typeface="Pixelated"/>
                  <a:sym typeface="Pixelated"/>
                </a:rPr>
                <a:t>Send to API</a:t>
              </a:r>
            </a:p>
          </p:txBody>
        </p:sp>
      </p:grpSp>
      <p:grpSp>
        <p:nvGrpSpPr>
          <p:cNvPr name="Group 58" id="58"/>
          <p:cNvGrpSpPr/>
          <p:nvPr/>
        </p:nvGrpSpPr>
        <p:grpSpPr>
          <a:xfrm rot="0">
            <a:off x="1581150" y="6930390"/>
            <a:ext cx="3055620" cy="605028"/>
            <a:chOff x="0" y="0"/>
            <a:chExt cx="4074160" cy="806704"/>
          </a:xfrm>
        </p:grpSpPr>
        <p:sp>
          <p:nvSpPr>
            <p:cNvPr name="Freeform 59" id="59"/>
            <p:cNvSpPr/>
            <p:nvPr/>
          </p:nvSpPr>
          <p:spPr>
            <a:xfrm flipH="false" flipV="false" rot="0">
              <a:off x="0" y="0"/>
              <a:ext cx="4074160" cy="806704"/>
            </a:xfrm>
            <a:custGeom>
              <a:avLst/>
              <a:gdLst/>
              <a:ahLst/>
              <a:cxnLst/>
              <a:rect r="r" b="b" t="t" l="l"/>
              <a:pathLst>
                <a:path h="806704" w="4074160">
                  <a:moveTo>
                    <a:pt x="0" y="96774"/>
                  </a:moveTo>
                  <a:cubicBezTo>
                    <a:pt x="0" y="43307"/>
                    <a:pt x="43307" y="0"/>
                    <a:pt x="96774" y="0"/>
                  </a:cubicBezTo>
                  <a:lnTo>
                    <a:pt x="3977386" y="0"/>
                  </a:lnTo>
                  <a:cubicBezTo>
                    <a:pt x="4030853" y="0"/>
                    <a:pt x="4074160" y="43307"/>
                    <a:pt x="4074160" y="96774"/>
                  </a:cubicBezTo>
                  <a:lnTo>
                    <a:pt x="4074160" y="709930"/>
                  </a:lnTo>
                  <a:cubicBezTo>
                    <a:pt x="4074160" y="763397"/>
                    <a:pt x="4030853" y="806704"/>
                    <a:pt x="3977386" y="806704"/>
                  </a:cubicBezTo>
                  <a:lnTo>
                    <a:pt x="96774" y="806704"/>
                  </a:lnTo>
                  <a:cubicBezTo>
                    <a:pt x="43307" y="806704"/>
                    <a:pt x="0" y="763397"/>
                    <a:pt x="0" y="709930"/>
                  </a:cubicBezTo>
                  <a:close/>
                </a:path>
              </a:pathLst>
            </a:custGeom>
            <a:solidFill>
              <a:srgbClr val="D9D9D9"/>
            </a:solidFill>
            <a:ln w="38100" cap="sq">
              <a:solidFill>
                <a:srgbClr val="000000"/>
              </a:solidFill>
              <a:prstDash val="solid"/>
              <a:miter/>
            </a:ln>
          </p:spPr>
        </p:sp>
        <p:sp>
          <p:nvSpPr>
            <p:cNvPr name="TextBox 60" id="60"/>
            <p:cNvSpPr txBox="true"/>
            <p:nvPr/>
          </p:nvSpPr>
          <p:spPr>
            <a:xfrm>
              <a:off x="0" y="-9525"/>
              <a:ext cx="4074160" cy="816229"/>
            </a:xfrm>
            <a:prstGeom prst="rect">
              <a:avLst/>
            </a:prstGeom>
          </p:spPr>
          <p:txBody>
            <a:bodyPr anchor="ctr" rtlCol="false" tIns="50800" lIns="50800" bIns="50800" rIns="50800"/>
            <a:lstStyle/>
            <a:p>
              <a:pPr algn="ctr">
                <a:lnSpc>
                  <a:spcPts val="2400"/>
                </a:lnSpc>
              </a:pPr>
              <a:r>
                <a:rPr lang="en-US" sz="2000">
                  <a:solidFill>
                    <a:srgbClr val="000000"/>
                  </a:solidFill>
                  <a:latin typeface="Pixelated"/>
                  <a:ea typeface="Pixelated"/>
                  <a:cs typeface="Pixelated"/>
                  <a:sym typeface="Pixelated"/>
                </a:rPr>
                <a:t>Mark as pending</a:t>
              </a:r>
            </a:p>
          </p:txBody>
        </p:sp>
      </p:grpSp>
      <p:grpSp>
        <p:nvGrpSpPr>
          <p:cNvPr name="Group 61" id="61"/>
          <p:cNvGrpSpPr/>
          <p:nvPr/>
        </p:nvGrpSpPr>
        <p:grpSpPr>
          <a:xfrm rot="0">
            <a:off x="7890510" y="6930390"/>
            <a:ext cx="3055620" cy="605028"/>
            <a:chOff x="0" y="0"/>
            <a:chExt cx="4074160" cy="806704"/>
          </a:xfrm>
        </p:grpSpPr>
        <p:sp>
          <p:nvSpPr>
            <p:cNvPr name="Freeform 62" id="62"/>
            <p:cNvSpPr/>
            <p:nvPr/>
          </p:nvSpPr>
          <p:spPr>
            <a:xfrm flipH="false" flipV="false" rot="0">
              <a:off x="0" y="0"/>
              <a:ext cx="4074160" cy="806704"/>
            </a:xfrm>
            <a:custGeom>
              <a:avLst/>
              <a:gdLst/>
              <a:ahLst/>
              <a:cxnLst/>
              <a:rect r="r" b="b" t="t" l="l"/>
              <a:pathLst>
                <a:path h="806704" w="4074160">
                  <a:moveTo>
                    <a:pt x="0" y="96774"/>
                  </a:moveTo>
                  <a:cubicBezTo>
                    <a:pt x="0" y="43307"/>
                    <a:pt x="43307" y="0"/>
                    <a:pt x="96774" y="0"/>
                  </a:cubicBezTo>
                  <a:lnTo>
                    <a:pt x="3977386" y="0"/>
                  </a:lnTo>
                  <a:cubicBezTo>
                    <a:pt x="4030853" y="0"/>
                    <a:pt x="4074160" y="43307"/>
                    <a:pt x="4074160" y="96774"/>
                  </a:cubicBezTo>
                  <a:lnTo>
                    <a:pt x="4074160" y="709930"/>
                  </a:lnTo>
                  <a:cubicBezTo>
                    <a:pt x="4074160" y="763397"/>
                    <a:pt x="4030853" y="806704"/>
                    <a:pt x="3977386" y="806704"/>
                  </a:cubicBezTo>
                  <a:lnTo>
                    <a:pt x="96774" y="806704"/>
                  </a:lnTo>
                  <a:cubicBezTo>
                    <a:pt x="43307" y="806704"/>
                    <a:pt x="0" y="763397"/>
                    <a:pt x="0" y="709930"/>
                  </a:cubicBezTo>
                  <a:close/>
                </a:path>
              </a:pathLst>
            </a:custGeom>
            <a:solidFill>
              <a:srgbClr val="D9D9D9"/>
            </a:solidFill>
            <a:ln w="38100" cap="sq">
              <a:solidFill>
                <a:srgbClr val="000000"/>
              </a:solidFill>
              <a:prstDash val="solid"/>
              <a:miter/>
            </a:ln>
          </p:spPr>
        </p:sp>
        <p:sp>
          <p:nvSpPr>
            <p:cNvPr name="TextBox 63" id="63"/>
            <p:cNvSpPr txBox="true"/>
            <p:nvPr/>
          </p:nvSpPr>
          <p:spPr>
            <a:xfrm>
              <a:off x="0" y="-9525"/>
              <a:ext cx="4074160" cy="816229"/>
            </a:xfrm>
            <a:prstGeom prst="rect">
              <a:avLst/>
            </a:prstGeom>
          </p:spPr>
          <p:txBody>
            <a:bodyPr anchor="ctr" rtlCol="false" tIns="50800" lIns="50800" bIns="50800" rIns="50800"/>
            <a:lstStyle/>
            <a:p>
              <a:pPr algn="ctr">
                <a:lnSpc>
                  <a:spcPts val="2400"/>
                </a:lnSpc>
              </a:pPr>
              <a:r>
                <a:rPr lang="en-US" sz="2000">
                  <a:solidFill>
                    <a:srgbClr val="000000"/>
                  </a:solidFill>
                  <a:latin typeface="Pixelated"/>
                  <a:ea typeface="Pixelated"/>
                  <a:cs typeface="Pixelated"/>
                  <a:sym typeface="Pixelated"/>
                </a:rPr>
                <a:t>Server</a:t>
              </a:r>
            </a:p>
          </p:txBody>
        </p:sp>
      </p:grpSp>
      <p:grpSp>
        <p:nvGrpSpPr>
          <p:cNvPr name="Group 64" id="64"/>
          <p:cNvGrpSpPr/>
          <p:nvPr/>
        </p:nvGrpSpPr>
        <p:grpSpPr>
          <a:xfrm rot="0">
            <a:off x="1581150" y="7707630"/>
            <a:ext cx="3055620" cy="605028"/>
            <a:chOff x="0" y="0"/>
            <a:chExt cx="4074160" cy="806704"/>
          </a:xfrm>
        </p:grpSpPr>
        <p:sp>
          <p:nvSpPr>
            <p:cNvPr name="Freeform 65" id="65"/>
            <p:cNvSpPr/>
            <p:nvPr/>
          </p:nvSpPr>
          <p:spPr>
            <a:xfrm flipH="false" flipV="false" rot="0">
              <a:off x="0" y="0"/>
              <a:ext cx="4074160" cy="806704"/>
            </a:xfrm>
            <a:custGeom>
              <a:avLst/>
              <a:gdLst/>
              <a:ahLst/>
              <a:cxnLst/>
              <a:rect r="r" b="b" t="t" l="l"/>
              <a:pathLst>
                <a:path h="806704" w="4074160">
                  <a:moveTo>
                    <a:pt x="0" y="96774"/>
                  </a:moveTo>
                  <a:cubicBezTo>
                    <a:pt x="0" y="43307"/>
                    <a:pt x="43307" y="0"/>
                    <a:pt x="96774" y="0"/>
                  </a:cubicBezTo>
                  <a:lnTo>
                    <a:pt x="3977386" y="0"/>
                  </a:lnTo>
                  <a:cubicBezTo>
                    <a:pt x="4030853" y="0"/>
                    <a:pt x="4074160" y="43307"/>
                    <a:pt x="4074160" y="96774"/>
                  </a:cubicBezTo>
                  <a:lnTo>
                    <a:pt x="4074160" y="709930"/>
                  </a:lnTo>
                  <a:cubicBezTo>
                    <a:pt x="4074160" y="763397"/>
                    <a:pt x="4030853" y="806704"/>
                    <a:pt x="3977386" y="806704"/>
                  </a:cubicBezTo>
                  <a:lnTo>
                    <a:pt x="96774" y="806704"/>
                  </a:lnTo>
                  <a:cubicBezTo>
                    <a:pt x="43307" y="806704"/>
                    <a:pt x="0" y="763397"/>
                    <a:pt x="0" y="709930"/>
                  </a:cubicBezTo>
                  <a:close/>
                </a:path>
              </a:pathLst>
            </a:custGeom>
            <a:solidFill>
              <a:srgbClr val="D9D9D9"/>
            </a:solidFill>
            <a:ln w="38100" cap="sq">
              <a:solidFill>
                <a:srgbClr val="000000"/>
              </a:solidFill>
              <a:prstDash val="solid"/>
              <a:miter/>
            </a:ln>
          </p:spPr>
        </p:sp>
        <p:sp>
          <p:nvSpPr>
            <p:cNvPr name="TextBox 66" id="66"/>
            <p:cNvSpPr txBox="true"/>
            <p:nvPr/>
          </p:nvSpPr>
          <p:spPr>
            <a:xfrm>
              <a:off x="0" y="-9525"/>
              <a:ext cx="4074160" cy="816229"/>
            </a:xfrm>
            <a:prstGeom prst="rect">
              <a:avLst/>
            </a:prstGeom>
          </p:spPr>
          <p:txBody>
            <a:bodyPr anchor="ctr" rtlCol="false" tIns="50800" lIns="50800" bIns="50800" rIns="50800"/>
            <a:lstStyle/>
            <a:p>
              <a:pPr algn="ctr">
                <a:lnSpc>
                  <a:spcPts val="2400"/>
                </a:lnSpc>
              </a:pPr>
              <a:r>
                <a:rPr lang="en-US" sz="2000">
                  <a:solidFill>
                    <a:srgbClr val="000000"/>
                  </a:solidFill>
                  <a:latin typeface="Pixelated"/>
                  <a:ea typeface="Pixelated"/>
                  <a:cs typeface="Pixelated"/>
                  <a:sym typeface="Pixelated"/>
                </a:rPr>
                <a:t>Wait for internet</a:t>
              </a:r>
            </a:p>
          </p:txBody>
        </p:sp>
      </p:grpSp>
      <p:grpSp>
        <p:nvGrpSpPr>
          <p:cNvPr name="Group 67" id="67"/>
          <p:cNvGrpSpPr/>
          <p:nvPr/>
        </p:nvGrpSpPr>
        <p:grpSpPr>
          <a:xfrm rot="0">
            <a:off x="7890510" y="7707630"/>
            <a:ext cx="3055620" cy="605028"/>
            <a:chOff x="0" y="0"/>
            <a:chExt cx="4074160" cy="806704"/>
          </a:xfrm>
        </p:grpSpPr>
        <p:sp>
          <p:nvSpPr>
            <p:cNvPr name="Freeform 68" id="68"/>
            <p:cNvSpPr/>
            <p:nvPr/>
          </p:nvSpPr>
          <p:spPr>
            <a:xfrm flipH="false" flipV="false" rot="0">
              <a:off x="0" y="0"/>
              <a:ext cx="4074160" cy="806704"/>
            </a:xfrm>
            <a:custGeom>
              <a:avLst/>
              <a:gdLst/>
              <a:ahLst/>
              <a:cxnLst/>
              <a:rect r="r" b="b" t="t" l="l"/>
              <a:pathLst>
                <a:path h="806704" w="4074160">
                  <a:moveTo>
                    <a:pt x="0" y="96774"/>
                  </a:moveTo>
                  <a:cubicBezTo>
                    <a:pt x="0" y="43307"/>
                    <a:pt x="43307" y="0"/>
                    <a:pt x="96774" y="0"/>
                  </a:cubicBezTo>
                  <a:lnTo>
                    <a:pt x="3977386" y="0"/>
                  </a:lnTo>
                  <a:cubicBezTo>
                    <a:pt x="4030853" y="0"/>
                    <a:pt x="4074160" y="43307"/>
                    <a:pt x="4074160" y="96774"/>
                  </a:cubicBezTo>
                  <a:lnTo>
                    <a:pt x="4074160" y="709930"/>
                  </a:lnTo>
                  <a:cubicBezTo>
                    <a:pt x="4074160" y="763397"/>
                    <a:pt x="4030853" y="806704"/>
                    <a:pt x="3977386" y="806704"/>
                  </a:cubicBezTo>
                  <a:lnTo>
                    <a:pt x="96774" y="806704"/>
                  </a:lnTo>
                  <a:cubicBezTo>
                    <a:pt x="43307" y="806704"/>
                    <a:pt x="0" y="763397"/>
                    <a:pt x="0" y="709930"/>
                  </a:cubicBezTo>
                  <a:close/>
                </a:path>
              </a:pathLst>
            </a:custGeom>
            <a:solidFill>
              <a:srgbClr val="D9D9D9"/>
            </a:solidFill>
            <a:ln w="38100" cap="sq">
              <a:solidFill>
                <a:srgbClr val="000000"/>
              </a:solidFill>
              <a:prstDash val="solid"/>
              <a:miter/>
            </a:ln>
          </p:spPr>
        </p:sp>
        <p:sp>
          <p:nvSpPr>
            <p:cNvPr name="TextBox 69" id="69"/>
            <p:cNvSpPr txBox="true"/>
            <p:nvPr/>
          </p:nvSpPr>
          <p:spPr>
            <a:xfrm>
              <a:off x="0" y="-9525"/>
              <a:ext cx="4074160" cy="816229"/>
            </a:xfrm>
            <a:prstGeom prst="rect">
              <a:avLst/>
            </a:prstGeom>
          </p:spPr>
          <p:txBody>
            <a:bodyPr anchor="ctr" rtlCol="false" tIns="50800" lIns="50800" bIns="50800" rIns="50800"/>
            <a:lstStyle/>
            <a:p>
              <a:pPr algn="ctr">
                <a:lnSpc>
                  <a:spcPts val="2400"/>
                </a:lnSpc>
              </a:pPr>
              <a:r>
                <a:rPr lang="en-US" sz="2000">
                  <a:solidFill>
                    <a:srgbClr val="000000"/>
                  </a:solidFill>
                  <a:latin typeface="Pixelated"/>
                  <a:ea typeface="Pixelated"/>
                  <a:cs typeface="Pixelated"/>
                  <a:sym typeface="Pixelated"/>
                </a:rPr>
                <a:t>Updated</a:t>
              </a:r>
            </a:p>
          </p:txBody>
        </p:sp>
      </p:grpSp>
      <p:grpSp>
        <p:nvGrpSpPr>
          <p:cNvPr name="Group 70" id="70"/>
          <p:cNvGrpSpPr/>
          <p:nvPr/>
        </p:nvGrpSpPr>
        <p:grpSpPr>
          <a:xfrm rot="0">
            <a:off x="4598670" y="8713470"/>
            <a:ext cx="3329940" cy="605028"/>
            <a:chOff x="0" y="0"/>
            <a:chExt cx="4439920" cy="806704"/>
          </a:xfrm>
        </p:grpSpPr>
        <p:sp>
          <p:nvSpPr>
            <p:cNvPr name="Freeform 71" id="71"/>
            <p:cNvSpPr/>
            <p:nvPr/>
          </p:nvSpPr>
          <p:spPr>
            <a:xfrm flipH="false" flipV="false" rot="0">
              <a:off x="0" y="0"/>
              <a:ext cx="4439920" cy="806704"/>
            </a:xfrm>
            <a:custGeom>
              <a:avLst/>
              <a:gdLst/>
              <a:ahLst/>
              <a:cxnLst/>
              <a:rect r="r" b="b" t="t" l="l"/>
              <a:pathLst>
                <a:path h="806704" w="4439920">
                  <a:moveTo>
                    <a:pt x="0" y="96774"/>
                  </a:moveTo>
                  <a:cubicBezTo>
                    <a:pt x="0" y="43307"/>
                    <a:pt x="43307" y="0"/>
                    <a:pt x="96774" y="0"/>
                  </a:cubicBezTo>
                  <a:lnTo>
                    <a:pt x="4343146" y="0"/>
                  </a:lnTo>
                  <a:cubicBezTo>
                    <a:pt x="4396613" y="0"/>
                    <a:pt x="4439920" y="43307"/>
                    <a:pt x="4439920" y="96774"/>
                  </a:cubicBezTo>
                  <a:lnTo>
                    <a:pt x="4439920" y="709930"/>
                  </a:lnTo>
                  <a:cubicBezTo>
                    <a:pt x="4439920" y="763397"/>
                    <a:pt x="4396613" y="806704"/>
                    <a:pt x="4343146" y="806704"/>
                  </a:cubicBezTo>
                  <a:lnTo>
                    <a:pt x="96774" y="806704"/>
                  </a:lnTo>
                  <a:cubicBezTo>
                    <a:pt x="43307" y="806704"/>
                    <a:pt x="0" y="763397"/>
                    <a:pt x="0" y="709930"/>
                  </a:cubicBezTo>
                  <a:close/>
                </a:path>
              </a:pathLst>
            </a:custGeom>
            <a:solidFill>
              <a:srgbClr val="9BE58F"/>
            </a:solidFill>
            <a:ln w="38100" cap="sq">
              <a:solidFill>
                <a:srgbClr val="000000"/>
              </a:solidFill>
              <a:prstDash val="solid"/>
              <a:miter/>
            </a:ln>
          </p:spPr>
        </p:sp>
        <p:sp>
          <p:nvSpPr>
            <p:cNvPr name="TextBox 72" id="72"/>
            <p:cNvSpPr txBox="true"/>
            <p:nvPr/>
          </p:nvSpPr>
          <p:spPr>
            <a:xfrm>
              <a:off x="0" y="0"/>
              <a:ext cx="4439920" cy="806704"/>
            </a:xfrm>
            <a:prstGeom prst="rect">
              <a:avLst/>
            </a:prstGeom>
          </p:spPr>
          <p:txBody>
            <a:bodyPr anchor="ctr" rtlCol="false" tIns="50800" lIns="50800" bIns="50800" rIns="50800"/>
            <a:lstStyle/>
            <a:p>
              <a:pPr algn="ctr">
                <a:lnSpc>
                  <a:spcPts val="2639"/>
                </a:lnSpc>
              </a:pPr>
              <a:r>
                <a:rPr lang="en-US" sz="2199">
                  <a:solidFill>
                    <a:srgbClr val="000000"/>
                  </a:solidFill>
                  <a:latin typeface="Pixelated"/>
                  <a:ea typeface="Pixelated"/>
                  <a:cs typeface="Pixelated"/>
                  <a:sym typeface="Pixelated"/>
                </a:rPr>
                <a:t>✓ SYNCED</a:t>
              </a:r>
            </a:p>
          </p:txBody>
        </p:sp>
      </p:grpSp>
      <p:sp>
        <p:nvSpPr>
          <p:cNvPr name="AutoShape 73" id="73"/>
          <p:cNvSpPr/>
          <p:nvPr/>
        </p:nvSpPr>
        <p:spPr>
          <a:xfrm>
            <a:off x="3086742" y="8298814"/>
            <a:ext cx="22218" cy="694942"/>
          </a:xfrm>
          <a:prstGeom prst="line">
            <a:avLst/>
          </a:prstGeom>
          <a:ln cap="rnd" w="38100">
            <a:solidFill>
              <a:srgbClr val="FFFFFF"/>
            </a:solidFill>
            <a:prstDash val="solid"/>
            <a:headEnd type="none" len="sm" w="sm"/>
            <a:tailEnd type="none" len="sm" w="sm"/>
          </a:ln>
        </p:spPr>
      </p:sp>
      <p:sp>
        <p:nvSpPr>
          <p:cNvPr name="AutoShape 74" id="74"/>
          <p:cNvSpPr/>
          <p:nvPr/>
        </p:nvSpPr>
        <p:spPr>
          <a:xfrm>
            <a:off x="3086728" y="8993756"/>
            <a:ext cx="1511942" cy="22228"/>
          </a:xfrm>
          <a:prstGeom prst="line">
            <a:avLst/>
          </a:prstGeom>
          <a:ln cap="rnd" w="38100">
            <a:solidFill>
              <a:srgbClr val="FFFFFF"/>
            </a:solidFill>
            <a:prstDash val="solid"/>
            <a:headEnd type="none" len="sm" w="sm"/>
            <a:tailEnd type="triangle" len="med" w="lg"/>
          </a:ln>
        </p:spPr>
      </p:sp>
      <p:sp>
        <p:nvSpPr>
          <p:cNvPr name="AutoShape 75" id="75"/>
          <p:cNvSpPr/>
          <p:nvPr/>
        </p:nvSpPr>
        <p:spPr>
          <a:xfrm>
            <a:off x="9396102" y="8298814"/>
            <a:ext cx="22218" cy="694942"/>
          </a:xfrm>
          <a:prstGeom prst="line">
            <a:avLst/>
          </a:prstGeom>
          <a:ln cap="rnd" w="38100">
            <a:solidFill>
              <a:srgbClr val="FFFFFF"/>
            </a:solidFill>
            <a:prstDash val="solid"/>
            <a:headEnd type="none" len="sm" w="sm"/>
            <a:tailEnd type="none" len="sm" w="sm"/>
          </a:ln>
        </p:spPr>
      </p:sp>
      <p:sp>
        <p:nvSpPr>
          <p:cNvPr name="AutoShape 76" id="76"/>
          <p:cNvSpPr/>
          <p:nvPr/>
        </p:nvSpPr>
        <p:spPr>
          <a:xfrm flipH="true">
            <a:off x="7928610" y="8993756"/>
            <a:ext cx="1511941" cy="22228"/>
          </a:xfrm>
          <a:prstGeom prst="line">
            <a:avLst/>
          </a:prstGeom>
          <a:ln cap="rnd" w="38100">
            <a:solidFill>
              <a:srgbClr val="FFFFFF"/>
            </a:solidFill>
            <a:prstDash val="solid"/>
            <a:headEnd type="none" len="sm" w="sm"/>
            <a:tailEnd type="triangle" len="med" w="lg"/>
          </a:ln>
        </p:spPr>
      </p:sp>
      <p:grpSp>
        <p:nvGrpSpPr>
          <p:cNvPr name="Group 77" id="77"/>
          <p:cNvGrpSpPr/>
          <p:nvPr/>
        </p:nvGrpSpPr>
        <p:grpSpPr>
          <a:xfrm rot="0">
            <a:off x="11505896" y="5090515"/>
            <a:ext cx="5753404" cy="3679750"/>
            <a:chOff x="0" y="0"/>
            <a:chExt cx="7220991" cy="4618386"/>
          </a:xfrm>
        </p:grpSpPr>
        <p:sp>
          <p:nvSpPr>
            <p:cNvPr name="Freeform 78" id="78" descr="VS Code snapshot: Flutter isOnline sync code"/>
            <p:cNvSpPr/>
            <p:nvPr/>
          </p:nvSpPr>
          <p:spPr>
            <a:xfrm flipH="false" flipV="false" rot="0">
              <a:off x="0" y="0"/>
              <a:ext cx="7220991" cy="4618437"/>
            </a:xfrm>
            <a:custGeom>
              <a:avLst/>
              <a:gdLst/>
              <a:ahLst/>
              <a:cxnLst/>
              <a:rect r="r" b="b" t="t" l="l"/>
              <a:pathLst>
                <a:path h="4618437" w="7220991">
                  <a:moveTo>
                    <a:pt x="0" y="0"/>
                  </a:moveTo>
                  <a:lnTo>
                    <a:pt x="7220991" y="0"/>
                  </a:lnTo>
                  <a:lnTo>
                    <a:pt x="7220991" y="4618437"/>
                  </a:lnTo>
                  <a:lnTo>
                    <a:pt x="0" y="4618437"/>
                  </a:lnTo>
                  <a:lnTo>
                    <a:pt x="0" y="0"/>
                  </a:lnTo>
                  <a:close/>
                </a:path>
              </a:pathLst>
            </a:custGeom>
            <a:blipFill>
              <a:blip r:embed="rId22"/>
              <a:stretch>
                <a:fillRect l="0" t="-584" r="0" b="-583"/>
              </a:stretch>
            </a:blipFill>
          </p:spPr>
        </p:sp>
      </p:grpSp>
      <p:sp>
        <p:nvSpPr>
          <p:cNvPr name="AutoShape 79" id="79"/>
          <p:cNvSpPr/>
          <p:nvPr/>
        </p:nvSpPr>
        <p:spPr>
          <a:xfrm flipH="true">
            <a:off x="3150226" y="6704469"/>
            <a:ext cx="6764" cy="274446"/>
          </a:xfrm>
          <a:prstGeom prst="line">
            <a:avLst/>
          </a:prstGeom>
          <a:ln cap="rnd" w="38100">
            <a:solidFill>
              <a:srgbClr val="FFFFFF"/>
            </a:solidFill>
            <a:prstDash val="solid"/>
            <a:headEnd type="none" len="sm" w="sm"/>
            <a:tailEnd type="triangle" len="med" w="lg"/>
          </a:ln>
        </p:spPr>
      </p:sp>
      <p:sp>
        <p:nvSpPr>
          <p:cNvPr name="AutoShape 80" id="80"/>
          <p:cNvSpPr/>
          <p:nvPr/>
        </p:nvSpPr>
        <p:spPr>
          <a:xfrm flipH="true">
            <a:off x="9485403" y="7432715"/>
            <a:ext cx="6764" cy="274446"/>
          </a:xfrm>
          <a:prstGeom prst="line">
            <a:avLst/>
          </a:prstGeom>
          <a:ln cap="rnd" w="38100">
            <a:solidFill>
              <a:srgbClr val="FFFFFF"/>
            </a:solidFill>
            <a:prstDash val="solid"/>
            <a:headEnd type="none" len="sm" w="sm"/>
            <a:tailEnd type="triangle" len="med" w="lg"/>
          </a:ln>
        </p:spPr>
      </p:sp>
      <p:sp>
        <p:nvSpPr>
          <p:cNvPr name="AutoShape 81" id="81"/>
          <p:cNvSpPr/>
          <p:nvPr/>
        </p:nvSpPr>
        <p:spPr>
          <a:xfrm flipH="true">
            <a:off x="9459595" y="6655475"/>
            <a:ext cx="6764" cy="274446"/>
          </a:xfrm>
          <a:prstGeom prst="line">
            <a:avLst/>
          </a:prstGeom>
          <a:ln cap="rnd" w="38100">
            <a:solidFill>
              <a:srgbClr val="FFFFFF"/>
            </a:solidFill>
            <a:prstDash val="solid"/>
            <a:headEnd type="none" len="sm" w="sm"/>
            <a:tailEnd type="triangle" len="med" w="lg"/>
          </a:ln>
        </p:spPr>
      </p:sp>
      <p:sp>
        <p:nvSpPr>
          <p:cNvPr name="AutoShape 82" id="82"/>
          <p:cNvSpPr/>
          <p:nvPr/>
        </p:nvSpPr>
        <p:spPr>
          <a:xfrm flipH="true">
            <a:off x="3131182" y="7494203"/>
            <a:ext cx="6764" cy="274446"/>
          </a:xfrm>
          <a:prstGeom prst="line">
            <a:avLst/>
          </a:prstGeom>
          <a:ln cap="rnd" w="38100">
            <a:solidFill>
              <a:srgbClr val="FFFFFF"/>
            </a:solidFill>
            <a:prstDash val="solid"/>
            <a:headEnd type="none" len="sm" w="sm"/>
            <a:tailEnd type="triangle" len="med" w="lg"/>
          </a:ln>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59"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5" r="0" b="-5"/>
            </a:stretch>
          </a:blipFill>
        </p:spPr>
      </p:sp>
      <p:sp>
        <p:nvSpPr>
          <p:cNvPr name="Freeform 7" id="7"/>
          <p:cNvSpPr/>
          <p:nvPr/>
        </p:nvSpPr>
        <p:spPr>
          <a:xfrm flipH="false" flipV="false" rot="0">
            <a:off x="13716000" y="7371588"/>
            <a:ext cx="4917034" cy="1269492"/>
          </a:xfrm>
          <a:custGeom>
            <a:avLst/>
            <a:gdLst/>
            <a:ahLst/>
            <a:cxnLst/>
            <a:rect r="r" b="b" t="t" l="l"/>
            <a:pathLst>
              <a:path h="1269492" w="4917034">
                <a:moveTo>
                  <a:pt x="0" y="0"/>
                </a:moveTo>
                <a:lnTo>
                  <a:pt x="4917034" y="0"/>
                </a:lnTo>
                <a:lnTo>
                  <a:pt x="4917034" y="1269492"/>
                </a:lnTo>
                <a:lnTo>
                  <a:pt x="0" y="1269492"/>
                </a:lnTo>
                <a:lnTo>
                  <a:pt x="0" y="0"/>
                </a:lnTo>
                <a:close/>
              </a:path>
            </a:pathLst>
          </a:custGeom>
          <a:blipFill>
            <a:blip r:embed="rId4">
              <a:extLst>
                <a:ext uri="{96DAC541-7B7A-43D3-8B79-37D633B846F1}">
                  <asvg:svgBlip xmlns:asvg="http://schemas.microsoft.com/office/drawing/2016/SVG/main" r:embed="rId5"/>
                </a:ext>
              </a:extLst>
            </a:blip>
            <a:stretch>
              <a:fillRect l="0" t="-195" r="0" b="-194"/>
            </a:stretch>
          </a:blipFill>
        </p:spPr>
      </p:sp>
      <p:sp>
        <p:nvSpPr>
          <p:cNvPr name="Freeform 8" id="8"/>
          <p:cNvSpPr/>
          <p:nvPr/>
        </p:nvSpPr>
        <p:spPr>
          <a:xfrm flipH="false" flipV="false" rot="0">
            <a:off x="15606293" y="4526280"/>
            <a:ext cx="1735693" cy="4114800"/>
          </a:xfrm>
          <a:custGeom>
            <a:avLst/>
            <a:gdLst/>
            <a:ahLst/>
            <a:cxnLst/>
            <a:rect r="r" b="b" t="t" l="l"/>
            <a:pathLst>
              <a:path h="4114800" w="1735693">
                <a:moveTo>
                  <a:pt x="0" y="0"/>
                </a:moveTo>
                <a:lnTo>
                  <a:pt x="1735694" y="0"/>
                </a:lnTo>
                <a:lnTo>
                  <a:pt x="173569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9" id="9"/>
          <p:cNvSpPr/>
          <p:nvPr/>
        </p:nvSpPr>
        <p:spPr>
          <a:xfrm flipH="false" flipV="false" rot="0">
            <a:off x="11275390"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0" id="10"/>
          <p:cNvSpPr/>
          <p:nvPr/>
        </p:nvSpPr>
        <p:spPr>
          <a:xfrm flipH="false" flipV="false" rot="0">
            <a:off x="5637695" y="0"/>
            <a:ext cx="1533696" cy="4114800"/>
          </a:xfrm>
          <a:custGeom>
            <a:avLst/>
            <a:gdLst/>
            <a:ahLst/>
            <a:cxnLst/>
            <a:rect r="r" b="b" t="t" l="l"/>
            <a:pathLst>
              <a:path h="4114800" w="1533696">
                <a:moveTo>
                  <a:pt x="0" y="0"/>
                </a:moveTo>
                <a:lnTo>
                  <a:pt x="1533697" y="0"/>
                </a:lnTo>
                <a:lnTo>
                  <a:pt x="1533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1" id="11"/>
          <p:cNvSpPr/>
          <p:nvPr/>
        </p:nvSpPr>
        <p:spPr>
          <a:xfrm flipH="false" flipV="false" rot="0">
            <a:off x="1028700" y="4526280"/>
            <a:ext cx="1735693" cy="4114800"/>
          </a:xfrm>
          <a:custGeom>
            <a:avLst/>
            <a:gdLst/>
            <a:ahLst/>
            <a:cxnLst/>
            <a:rect r="r" b="b" t="t" l="l"/>
            <a:pathLst>
              <a:path h="4114800" w="1735693">
                <a:moveTo>
                  <a:pt x="0" y="0"/>
                </a:moveTo>
                <a:lnTo>
                  <a:pt x="1735693" y="0"/>
                </a:lnTo>
                <a:lnTo>
                  <a:pt x="173569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212" t="0" r="-212" b="0"/>
            </a:stretch>
          </a:blipFill>
        </p:spPr>
      </p:sp>
      <p:sp>
        <p:nvSpPr>
          <p:cNvPr name="Freeform 12" id="12"/>
          <p:cNvSpPr/>
          <p:nvPr/>
        </p:nvSpPr>
        <p:spPr>
          <a:xfrm flipH="false" flipV="false" rot="0">
            <a:off x="5477789" y="7654261"/>
            <a:ext cx="958044" cy="958044"/>
          </a:xfrm>
          <a:custGeom>
            <a:avLst/>
            <a:gdLst/>
            <a:ahLst/>
            <a:cxnLst/>
            <a:rect r="r" b="b" t="t" l="l"/>
            <a:pathLst>
              <a:path h="958044" w="958044">
                <a:moveTo>
                  <a:pt x="0" y="0"/>
                </a:moveTo>
                <a:lnTo>
                  <a:pt x="958044" y="0"/>
                </a:lnTo>
                <a:lnTo>
                  <a:pt x="958044"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922595" y="7654261"/>
            <a:ext cx="958044" cy="958044"/>
          </a:xfrm>
          <a:custGeom>
            <a:avLst/>
            <a:gdLst/>
            <a:ahLst/>
            <a:cxnLst/>
            <a:rect r="r" b="b" t="t" l="l"/>
            <a:pathLst>
              <a:path h="958044" w="958044">
                <a:moveTo>
                  <a:pt x="0" y="0"/>
                </a:moveTo>
                <a:lnTo>
                  <a:pt x="958043" y="0"/>
                </a:lnTo>
                <a:lnTo>
                  <a:pt x="958043" y="958044"/>
                </a:lnTo>
                <a:lnTo>
                  <a:pt x="0" y="9580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8165563" y="4795695"/>
            <a:ext cx="1956883" cy="3816610"/>
          </a:xfrm>
          <a:custGeom>
            <a:avLst/>
            <a:gdLst/>
            <a:ahLst/>
            <a:cxnLst/>
            <a:rect r="r" b="b" t="t" l="l"/>
            <a:pathLst>
              <a:path h="3816610" w="1956883">
                <a:moveTo>
                  <a:pt x="0" y="0"/>
                </a:moveTo>
                <a:lnTo>
                  <a:pt x="1956883" y="0"/>
                </a:lnTo>
                <a:lnTo>
                  <a:pt x="1956883" y="3816610"/>
                </a:lnTo>
                <a:lnTo>
                  <a:pt x="0" y="3816610"/>
                </a:lnTo>
                <a:lnTo>
                  <a:pt x="0" y="0"/>
                </a:lnTo>
                <a:close/>
              </a:path>
            </a:pathLst>
          </a:custGeom>
          <a:blipFill>
            <a:blip r:embed="rId14">
              <a:extLst>
                <a:ext uri="{96DAC541-7B7A-43D3-8B79-37D633B846F1}">
                  <asvg:svgBlip xmlns:asvg="http://schemas.microsoft.com/office/drawing/2016/SVG/main" r:embed="rId15"/>
                </a:ext>
              </a:extLst>
            </a:blip>
            <a:stretch>
              <a:fillRect l="-96" t="0" r="-96" b="0"/>
            </a:stretch>
          </a:blipFill>
        </p:spPr>
      </p:sp>
      <p:sp>
        <p:nvSpPr>
          <p:cNvPr name="Freeform 15" id="15"/>
          <p:cNvSpPr/>
          <p:nvPr/>
        </p:nvSpPr>
        <p:spPr>
          <a:xfrm flipH="false" flipV="false" rot="0">
            <a:off x="474018" y="707905"/>
            <a:ext cx="17639996" cy="9464031"/>
          </a:xfrm>
          <a:custGeom>
            <a:avLst/>
            <a:gdLst/>
            <a:ahLst/>
            <a:cxnLst/>
            <a:rect r="r" b="b" t="t" l="l"/>
            <a:pathLst>
              <a:path h="9464031" w="17639996">
                <a:moveTo>
                  <a:pt x="0" y="0"/>
                </a:moveTo>
                <a:lnTo>
                  <a:pt x="17639996" y="0"/>
                </a:lnTo>
                <a:lnTo>
                  <a:pt x="17639996" y="9464031"/>
                </a:lnTo>
                <a:lnTo>
                  <a:pt x="0" y="946403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0"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sp>
        <p:nvSpPr>
          <p:cNvPr name="Freeform 17" id="17"/>
          <p:cNvSpPr/>
          <p:nvPr/>
        </p:nvSpPr>
        <p:spPr>
          <a:xfrm flipH="false" flipV="false" rot="0">
            <a:off x="16754304" y="0"/>
            <a:ext cx="1533696" cy="4114800"/>
          </a:xfrm>
          <a:custGeom>
            <a:avLst/>
            <a:gdLst/>
            <a:ahLst/>
            <a:cxnLst/>
            <a:rect r="r" b="b" t="t" l="l"/>
            <a:pathLst>
              <a:path h="4114800" w="1533696">
                <a:moveTo>
                  <a:pt x="0" y="0"/>
                </a:moveTo>
                <a:lnTo>
                  <a:pt x="1533696" y="0"/>
                </a:lnTo>
                <a:lnTo>
                  <a:pt x="153369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188" t="0" r="-188" b="0"/>
            </a:stretch>
          </a:blipFill>
        </p:spPr>
      </p:sp>
      <p:grpSp>
        <p:nvGrpSpPr>
          <p:cNvPr name="Group 18" id="18"/>
          <p:cNvGrpSpPr/>
          <p:nvPr/>
        </p:nvGrpSpPr>
        <p:grpSpPr>
          <a:xfrm rot="0">
            <a:off x="1896551" y="411480"/>
            <a:ext cx="715613" cy="617220"/>
            <a:chOff x="0" y="0"/>
            <a:chExt cx="954151" cy="822960"/>
          </a:xfrm>
        </p:grpSpPr>
        <p:sp>
          <p:nvSpPr>
            <p:cNvPr name="Freeform 19" id="19"/>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0" id="20"/>
          <p:cNvGrpSpPr/>
          <p:nvPr/>
        </p:nvGrpSpPr>
        <p:grpSpPr>
          <a:xfrm rot="0">
            <a:off x="2612165" y="411480"/>
            <a:ext cx="715613" cy="617220"/>
            <a:chOff x="0" y="0"/>
            <a:chExt cx="954151" cy="822960"/>
          </a:xfrm>
        </p:grpSpPr>
        <p:sp>
          <p:nvSpPr>
            <p:cNvPr name="Freeform 21" id="21"/>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grpSp>
        <p:nvGrpSpPr>
          <p:cNvPr name="Group 22" id="22"/>
          <p:cNvGrpSpPr/>
          <p:nvPr/>
        </p:nvGrpSpPr>
        <p:grpSpPr>
          <a:xfrm rot="0">
            <a:off x="3327787" y="411480"/>
            <a:ext cx="715613" cy="617220"/>
            <a:chOff x="0" y="0"/>
            <a:chExt cx="954151" cy="822960"/>
          </a:xfrm>
        </p:grpSpPr>
        <p:sp>
          <p:nvSpPr>
            <p:cNvPr name="Freeform 23" id="23"/>
            <p:cNvSpPr/>
            <p:nvPr/>
          </p:nvSpPr>
          <p:spPr>
            <a:xfrm flipH="false" flipV="false" rot="0">
              <a:off x="0" y="0"/>
              <a:ext cx="954151" cy="822960"/>
            </a:xfrm>
            <a:custGeom>
              <a:avLst/>
              <a:gdLst/>
              <a:ahLst/>
              <a:cxnLst/>
              <a:rect r="r" b="b" t="t" l="l"/>
              <a:pathLst>
                <a:path h="822960" w="954151">
                  <a:moveTo>
                    <a:pt x="0" y="0"/>
                  </a:moveTo>
                  <a:lnTo>
                    <a:pt x="954151" y="0"/>
                  </a:lnTo>
                  <a:lnTo>
                    <a:pt x="954151" y="822960"/>
                  </a:lnTo>
                  <a:lnTo>
                    <a:pt x="0" y="822960"/>
                  </a:lnTo>
                  <a:lnTo>
                    <a:pt x="0" y="0"/>
                  </a:lnTo>
                  <a:close/>
                </a:path>
              </a:pathLst>
            </a:custGeom>
            <a:blipFill>
              <a:blip r:embed="rId18"/>
              <a:stretch>
                <a:fillRect l="0" t="-44" r="0" b="-43"/>
              </a:stretch>
            </a:blipFill>
          </p:spPr>
        </p:sp>
      </p:grpSp>
      <p:sp>
        <p:nvSpPr>
          <p:cNvPr name="Freeform 24" id="24"/>
          <p:cNvSpPr/>
          <p:nvPr/>
        </p:nvSpPr>
        <p:spPr>
          <a:xfrm flipH="false" flipV="false" rot="0">
            <a:off x="13975671" y="411480"/>
            <a:ext cx="729758" cy="729758"/>
          </a:xfrm>
          <a:custGeom>
            <a:avLst/>
            <a:gdLst/>
            <a:ahLst/>
            <a:cxnLst/>
            <a:rect r="r" b="b" t="t" l="l"/>
            <a:pathLst>
              <a:path h="729758" w="729758">
                <a:moveTo>
                  <a:pt x="0" y="0"/>
                </a:moveTo>
                <a:lnTo>
                  <a:pt x="729757" y="0"/>
                </a:lnTo>
                <a:lnTo>
                  <a:pt x="729757"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5" id="25"/>
          <p:cNvSpPr txBox="true"/>
          <p:nvPr/>
        </p:nvSpPr>
        <p:spPr>
          <a:xfrm rot="0">
            <a:off x="1705123" y="1226820"/>
            <a:ext cx="14411115" cy="942975"/>
          </a:xfrm>
          <a:prstGeom prst="rect">
            <a:avLst/>
          </a:prstGeom>
        </p:spPr>
        <p:txBody>
          <a:bodyPr anchor="t" rtlCol="false" tIns="0" lIns="0" bIns="0" rIns="0">
            <a:spAutoFit/>
          </a:bodyPr>
          <a:lstStyle/>
          <a:p>
            <a:pPr algn="ctr">
              <a:lnSpc>
                <a:spcPts val="7319"/>
              </a:lnSpc>
            </a:pPr>
            <a:r>
              <a:rPr lang="en-US" sz="6099">
                <a:solidFill>
                  <a:srgbClr val="FFFFFF"/>
                </a:solidFill>
                <a:latin typeface="VT323"/>
                <a:ea typeface="VT323"/>
                <a:cs typeface="VT323"/>
                <a:sym typeface="VT323"/>
              </a:rPr>
              <a:t>EXAMPLE — PLACE ORDER</a:t>
            </a:r>
          </a:p>
        </p:txBody>
      </p:sp>
      <p:sp>
        <p:nvSpPr>
          <p:cNvPr name="Freeform 26" id="26"/>
          <p:cNvSpPr/>
          <p:nvPr/>
        </p:nvSpPr>
        <p:spPr>
          <a:xfrm flipH="false" flipV="false" rot="0">
            <a:off x="14863515"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7" id="27"/>
          <p:cNvSpPr/>
          <p:nvPr/>
        </p:nvSpPr>
        <p:spPr>
          <a:xfrm flipH="false" flipV="false" rot="0">
            <a:off x="15751359" y="411480"/>
            <a:ext cx="729758" cy="729758"/>
          </a:xfrm>
          <a:custGeom>
            <a:avLst/>
            <a:gdLst/>
            <a:ahLst/>
            <a:cxnLst/>
            <a:rect r="r" b="b" t="t" l="l"/>
            <a:pathLst>
              <a:path h="729758" w="729758">
                <a:moveTo>
                  <a:pt x="0" y="0"/>
                </a:moveTo>
                <a:lnTo>
                  <a:pt x="729758" y="0"/>
                </a:lnTo>
                <a:lnTo>
                  <a:pt x="729758" y="729758"/>
                </a:lnTo>
                <a:lnTo>
                  <a:pt x="0" y="7297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28" id="28"/>
          <p:cNvGrpSpPr/>
          <p:nvPr/>
        </p:nvGrpSpPr>
        <p:grpSpPr>
          <a:xfrm rot="0">
            <a:off x="1443990" y="2769870"/>
            <a:ext cx="7307580" cy="568452"/>
            <a:chOff x="0" y="0"/>
            <a:chExt cx="9743440" cy="757936"/>
          </a:xfrm>
        </p:grpSpPr>
        <p:sp>
          <p:nvSpPr>
            <p:cNvPr name="Freeform 29" id="29"/>
            <p:cNvSpPr/>
            <p:nvPr/>
          </p:nvSpPr>
          <p:spPr>
            <a:xfrm flipH="false" flipV="false" rot="0">
              <a:off x="0" y="0"/>
              <a:ext cx="9743440" cy="757936"/>
            </a:xfrm>
            <a:custGeom>
              <a:avLst/>
              <a:gdLst/>
              <a:ahLst/>
              <a:cxnLst/>
              <a:rect r="r" b="b" t="t" l="l"/>
              <a:pathLst>
                <a:path h="757936" w="9743440">
                  <a:moveTo>
                    <a:pt x="0" y="136398"/>
                  </a:moveTo>
                  <a:cubicBezTo>
                    <a:pt x="0" y="61087"/>
                    <a:pt x="61087" y="0"/>
                    <a:pt x="136398" y="0"/>
                  </a:cubicBezTo>
                  <a:lnTo>
                    <a:pt x="9607042" y="0"/>
                  </a:lnTo>
                  <a:cubicBezTo>
                    <a:pt x="9682353" y="0"/>
                    <a:pt x="9743440" y="61087"/>
                    <a:pt x="9743440" y="136398"/>
                  </a:cubicBezTo>
                  <a:lnTo>
                    <a:pt x="9743440" y="621538"/>
                  </a:lnTo>
                  <a:cubicBezTo>
                    <a:pt x="9743440" y="696849"/>
                    <a:pt x="9682353" y="757936"/>
                    <a:pt x="9607042" y="757936"/>
                  </a:cubicBezTo>
                  <a:lnTo>
                    <a:pt x="136398" y="757936"/>
                  </a:lnTo>
                  <a:cubicBezTo>
                    <a:pt x="61087" y="757936"/>
                    <a:pt x="0" y="696849"/>
                    <a:pt x="0" y="621538"/>
                  </a:cubicBezTo>
                  <a:close/>
                </a:path>
              </a:pathLst>
            </a:custGeom>
            <a:solidFill>
              <a:srgbClr val="D9D9D9"/>
            </a:solidFill>
            <a:ln w="38100" cap="sq">
              <a:solidFill>
                <a:srgbClr val="000000"/>
              </a:solidFill>
              <a:prstDash val="solid"/>
              <a:miter/>
            </a:ln>
          </p:spPr>
        </p:sp>
        <p:sp>
          <p:nvSpPr>
            <p:cNvPr name="TextBox 30" id="30"/>
            <p:cNvSpPr txBox="true"/>
            <p:nvPr/>
          </p:nvSpPr>
          <p:spPr>
            <a:xfrm>
              <a:off x="0" y="-9525"/>
              <a:ext cx="9743440" cy="767461"/>
            </a:xfrm>
            <a:prstGeom prst="rect">
              <a:avLst/>
            </a:prstGeom>
          </p:spPr>
          <p:txBody>
            <a:bodyPr anchor="ctr" rtlCol="false" tIns="50800" lIns="50800" bIns="50800" rIns="50800"/>
            <a:lstStyle/>
            <a:p>
              <a:pPr algn="l">
                <a:lnSpc>
                  <a:spcPts val="2400"/>
                </a:lnSpc>
              </a:pPr>
              <a:r>
                <a:rPr lang="en-US" sz="2000">
                  <a:solidFill>
                    <a:srgbClr val="000000"/>
                  </a:solidFill>
                  <a:latin typeface="Pixelated"/>
                  <a:ea typeface="Pixelated"/>
                  <a:cs typeface="Pixelated"/>
                  <a:sym typeface="Pixelated"/>
                </a:rPr>
                <a:t>1. User taps "Place Order"</a:t>
              </a:r>
            </a:p>
          </p:txBody>
        </p:sp>
      </p:grpSp>
      <p:sp>
        <p:nvSpPr>
          <p:cNvPr name="AutoShape 31" id="31"/>
          <p:cNvSpPr/>
          <p:nvPr/>
        </p:nvSpPr>
        <p:spPr>
          <a:xfrm rot="4581420">
            <a:off x="1885198" y="3391853"/>
            <a:ext cx="161525" cy="0"/>
          </a:xfrm>
          <a:prstGeom prst="line">
            <a:avLst/>
          </a:prstGeom>
          <a:ln cap="rnd" w="28575">
            <a:solidFill>
              <a:srgbClr val="FFFFFF"/>
            </a:solidFill>
            <a:prstDash val="solid"/>
            <a:headEnd type="none" len="sm" w="sm"/>
            <a:tailEnd type="triangle" len="med" w="lg"/>
          </a:ln>
        </p:spPr>
      </p:sp>
      <p:grpSp>
        <p:nvGrpSpPr>
          <p:cNvPr name="Group 32" id="32"/>
          <p:cNvGrpSpPr/>
          <p:nvPr/>
        </p:nvGrpSpPr>
        <p:grpSpPr>
          <a:xfrm rot="0">
            <a:off x="1443990" y="3473958"/>
            <a:ext cx="7307580" cy="568452"/>
            <a:chOff x="0" y="0"/>
            <a:chExt cx="9743440" cy="757936"/>
          </a:xfrm>
        </p:grpSpPr>
        <p:sp>
          <p:nvSpPr>
            <p:cNvPr name="Freeform 33" id="33"/>
            <p:cNvSpPr/>
            <p:nvPr/>
          </p:nvSpPr>
          <p:spPr>
            <a:xfrm flipH="false" flipV="false" rot="0">
              <a:off x="0" y="0"/>
              <a:ext cx="9743440" cy="757936"/>
            </a:xfrm>
            <a:custGeom>
              <a:avLst/>
              <a:gdLst/>
              <a:ahLst/>
              <a:cxnLst/>
              <a:rect r="r" b="b" t="t" l="l"/>
              <a:pathLst>
                <a:path h="757936" w="9743440">
                  <a:moveTo>
                    <a:pt x="0" y="136398"/>
                  </a:moveTo>
                  <a:cubicBezTo>
                    <a:pt x="0" y="61087"/>
                    <a:pt x="61087" y="0"/>
                    <a:pt x="136398" y="0"/>
                  </a:cubicBezTo>
                  <a:lnTo>
                    <a:pt x="9607042" y="0"/>
                  </a:lnTo>
                  <a:cubicBezTo>
                    <a:pt x="9682353" y="0"/>
                    <a:pt x="9743440" y="61087"/>
                    <a:pt x="9743440" y="136398"/>
                  </a:cubicBezTo>
                  <a:lnTo>
                    <a:pt x="9743440" y="621538"/>
                  </a:lnTo>
                  <a:cubicBezTo>
                    <a:pt x="9743440" y="696849"/>
                    <a:pt x="9682353" y="757936"/>
                    <a:pt x="9607042" y="757936"/>
                  </a:cubicBezTo>
                  <a:lnTo>
                    <a:pt x="136398" y="757936"/>
                  </a:lnTo>
                  <a:cubicBezTo>
                    <a:pt x="61087" y="757936"/>
                    <a:pt x="0" y="696849"/>
                    <a:pt x="0" y="621538"/>
                  </a:cubicBezTo>
                  <a:close/>
                </a:path>
              </a:pathLst>
            </a:custGeom>
            <a:solidFill>
              <a:srgbClr val="D9D9D9"/>
            </a:solidFill>
            <a:ln w="38100" cap="sq">
              <a:solidFill>
                <a:srgbClr val="000000"/>
              </a:solidFill>
              <a:prstDash val="solid"/>
              <a:miter/>
            </a:ln>
          </p:spPr>
        </p:sp>
        <p:sp>
          <p:nvSpPr>
            <p:cNvPr name="TextBox 34" id="34"/>
            <p:cNvSpPr txBox="true"/>
            <p:nvPr/>
          </p:nvSpPr>
          <p:spPr>
            <a:xfrm>
              <a:off x="0" y="-9525"/>
              <a:ext cx="9743440" cy="767461"/>
            </a:xfrm>
            <a:prstGeom prst="rect">
              <a:avLst/>
            </a:prstGeom>
          </p:spPr>
          <p:txBody>
            <a:bodyPr anchor="ctr" rtlCol="false" tIns="50800" lIns="50800" bIns="50800" rIns="50800"/>
            <a:lstStyle/>
            <a:p>
              <a:pPr algn="l">
                <a:lnSpc>
                  <a:spcPts val="2400"/>
                </a:lnSpc>
              </a:pPr>
              <a:r>
                <a:rPr lang="en-US" sz="2000">
                  <a:solidFill>
                    <a:srgbClr val="000000"/>
                  </a:solidFill>
                  <a:latin typeface="Pixelated"/>
                  <a:ea typeface="Pixelated"/>
                  <a:cs typeface="Pixelated"/>
                  <a:sym typeface="Pixelated"/>
                </a:rPr>
                <a:t>2. Flutter creates Order object</a:t>
              </a:r>
            </a:p>
          </p:txBody>
        </p:sp>
      </p:grpSp>
      <p:sp>
        <p:nvSpPr>
          <p:cNvPr name="AutoShape 35" id="35"/>
          <p:cNvSpPr/>
          <p:nvPr/>
        </p:nvSpPr>
        <p:spPr>
          <a:xfrm rot="4581420">
            <a:off x="1885198" y="4095940"/>
            <a:ext cx="161525" cy="0"/>
          </a:xfrm>
          <a:prstGeom prst="line">
            <a:avLst/>
          </a:prstGeom>
          <a:ln cap="rnd" w="28575">
            <a:solidFill>
              <a:srgbClr val="FFFFFF"/>
            </a:solidFill>
            <a:prstDash val="solid"/>
            <a:headEnd type="none" len="sm" w="sm"/>
            <a:tailEnd type="triangle" len="med" w="lg"/>
          </a:ln>
        </p:spPr>
      </p:sp>
      <p:grpSp>
        <p:nvGrpSpPr>
          <p:cNvPr name="Group 36" id="36"/>
          <p:cNvGrpSpPr/>
          <p:nvPr/>
        </p:nvGrpSpPr>
        <p:grpSpPr>
          <a:xfrm rot="0">
            <a:off x="1443990" y="4178046"/>
            <a:ext cx="7307580" cy="568452"/>
            <a:chOff x="0" y="0"/>
            <a:chExt cx="9743440" cy="757936"/>
          </a:xfrm>
        </p:grpSpPr>
        <p:sp>
          <p:nvSpPr>
            <p:cNvPr name="Freeform 37" id="37"/>
            <p:cNvSpPr/>
            <p:nvPr/>
          </p:nvSpPr>
          <p:spPr>
            <a:xfrm flipH="false" flipV="false" rot="0">
              <a:off x="0" y="0"/>
              <a:ext cx="9743440" cy="757936"/>
            </a:xfrm>
            <a:custGeom>
              <a:avLst/>
              <a:gdLst/>
              <a:ahLst/>
              <a:cxnLst/>
              <a:rect r="r" b="b" t="t" l="l"/>
              <a:pathLst>
                <a:path h="757936" w="9743440">
                  <a:moveTo>
                    <a:pt x="0" y="136398"/>
                  </a:moveTo>
                  <a:cubicBezTo>
                    <a:pt x="0" y="61087"/>
                    <a:pt x="61087" y="0"/>
                    <a:pt x="136398" y="0"/>
                  </a:cubicBezTo>
                  <a:lnTo>
                    <a:pt x="9607042" y="0"/>
                  </a:lnTo>
                  <a:cubicBezTo>
                    <a:pt x="9682353" y="0"/>
                    <a:pt x="9743440" y="61087"/>
                    <a:pt x="9743440" y="136398"/>
                  </a:cubicBezTo>
                  <a:lnTo>
                    <a:pt x="9743440" y="621538"/>
                  </a:lnTo>
                  <a:cubicBezTo>
                    <a:pt x="9743440" y="696849"/>
                    <a:pt x="9682353" y="757936"/>
                    <a:pt x="9607042" y="757936"/>
                  </a:cubicBezTo>
                  <a:lnTo>
                    <a:pt x="136398" y="757936"/>
                  </a:lnTo>
                  <a:cubicBezTo>
                    <a:pt x="61087" y="757936"/>
                    <a:pt x="0" y="696849"/>
                    <a:pt x="0" y="621538"/>
                  </a:cubicBezTo>
                  <a:close/>
                </a:path>
              </a:pathLst>
            </a:custGeom>
            <a:solidFill>
              <a:srgbClr val="D9D9D9"/>
            </a:solidFill>
            <a:ln w="38100" cap="sq">
              <a:solidFill>
                <a:srgbClr val="000000"/>
              </a:solidFill>
              <a:prstDash val="solid"/>
              <a:miter/>
            </a:ln>
          </p:spPr>
        </p:sp>
        <p:sp>
          <p:nvSpPr>
            <p:cNvPr name="TextBox 38" id="38"/>
            <p:cNvSpPr txBox="true"/>
            <p:nvPr/>
          </p:nvSpPr>
          <p:spPr>
            <a:xfrm>
              <a:off x="0" y="-9525"/>
              <a:ext cx="9743440" cy="767461"/>
            </a:xfrm>
            <a:prstGeom prst="rect">
              <a:avLst/>
            </a:prstGeom>
          </p:spPr>
          <p:txBody>
            <a:bodyPr anchor="ctr" rtlCol="false" tIns="50800" lIns="50800" bIns="50800" rIns="50800"/>
            <a:lstStyle/>
            <a:p>
              <a:pPr algn="l">
                <a:lnSpc>
                  <a:spcPts val="2400"/>
                </a:lnSpc>
              </a:pPr>
              <a:r>
                <a:rPr lang="en-US" sz="2000">
                  <a:solidFill>
                    <a:srgbClr val="000000"/>
                  </a:solidFill>
                  <a:latin typeface="Pixelated"/>
                  <a:ea typeface="Pixelated"/>
                  <a:cs typeface="Pixelated"/>
                  <a:sym typeface="Pixelated"/>
                </a:rPr>
                <a:t>3. Save order locally</a:t>
              </a:r>
            </a:p>
          </p:txBody>
        </p:sp>
      </p:grpSp>
      <p:sp>
        <p:nvSpPr>
          <p:cNvPr name="AutoShape 39" id="39"/>
          <p:cNvSpPr/>
          <p:nvPr/>
        </p:nvSpPr>
        <p:spPr>
          <a:xfrm rot="4581420">
            <a:off x="1885198" y="4800028"/>
            <a:ext cx="161525" cy="0"/>
          </a:xfrm>
          <a:prstGeom prst="line">
            <a:avLst/>
          </a:prstGeom>
          <a:ln cap="rnd" w="28575">
            <a:solidFill>
              <a:srgbClr val="FFFFFF"/>
            </a:solidFill>
            <a:prstDash val="solid"/>
            <a:headEnd type="none" len="sm" w="sm"/>
            <a:tailEnd type="triangle" len="med" w="lg"/>
          </a:ln>
        </p:spPr>
      </p:sp>
      <p:grpSp>
        <p:nvGrpSpPr>
          <p:cNvPr name="Group 40" id="40"/>
          <p:cNvGrpSpPr/>
          <p:nvPr/>
        </p:nvGrpSpPr>
        <p:grpSpPr>
          <a:xfrm rot="0">
            <a:off x="1443990" y="4882134"/>
            <a:ext cx="7307580" cy="568452"/>
            <a:chOff x="0" y="0"/>
            <a:chExt cx="9743440" cy="757936"/>
          </a:xfrm>
        </p:grpSpPr>
        <p:sp>
          <p:nvSpPr>
            <p:cNvPr name="Freeform 41" id="41"/>
            <p:cNvSpPr/>
            <p:nvPr/>
          </p:nvSpPr>
          <p:spPr>
            <a:xfrm flipH="false" flipV="false" rot="0">
              <a:off x="0" y="0"/>
              <a:ext cx="9743440" cy="757936"/>
            </a:xfrm>
            <a:custGeom>
              <a:avLst/>
              <a:gdLst/>
              <a:ahLst/>
              <a:cxnLst/>
              <a:rect r="r" b="b" t="t" l="l"/>
              <a:pathLst>
                <a:path h="757936" w="9743440">
                  <a:moveTo>
                    <a:pt x="0" y="136398"/>
                  </a:moveTo>
                  <a:cubicBezTo>
                    <a:pt x="0" y="61087"/>
                    <a:pt x="61087" y="0"/>
                    <a:pt x="136398" y="0"/>
                  </a:cubicBezTo>
                  <a:lnTo>
                    <a:pt x="9607042" y="0"/>
                  </a:lnTo>
                  <a:cubicBezTo>
                    <a:pt x="9682353" y="0"/>
                    <a:pt x="9743440" y="61087"/>
                    <a:pt x="9743440" y="136398"/>
                  </a:cubicBezTo>
                  <a:lnTo>
                    <a:pt x="9743440" y="621538"/>
                  </a:lnTo>
                  <a:cubicBezTo>
                    <a:pt x="9743440" y="696849"/>
                    <a:pt x="9682353" y="757936"/>
                    <a:pt x="9607042" y="757936"/>
                  </a:cubicBezTo>
                  <a:lnTo>
                    <a:pt x="136398" y="757936"/>
                  </a:lnTo>
                  <a:cubicBezTo>
                    <a:pt x="61087" y="757936"/>
                    <a:pt x="0" y="696849"/>
                    <a:pt x="0" y="621538"/>
                  </a:cubicBezTo>
                  <a:close/>
                </a:path>
              </a:pathLst>
            </a:custGeom>
            <a:solidFill>
              <a:srgbClr val="D9D9D9"/>
            </a:solidFill>
            <a:ln w="38100" cap="sq">
              <a:solidFill>
                <a:srgbClr val="000000"/>
              </a:solidFill>
              <a:prstDash val="solid"/>
              <a:miter/>
            </a:ln>
          </p:spPr>
        </p:sp>
        <p:sp>
          <p:nvSpPr>
            <p:cNvPr name="TextBox 42" id="42"/>
            <p:cNvSpPr txBox="true"/>
            <p:nvPr/>
          </p:nvSpPr>
          <p:spPr>
            <a:xfrm>
              <a:off x="0" y="-9525"/>
              <a:ext cx="9743440" cy="767461"/>
            </a:xfrm>
            <a:prstGeom prst="rect">
              <a:avLst/>
            </a:prstGeom>
          </p:spPr>
          <p:txBody>
            <a:bodyPr anchor="ctr" rtlCol="false" tIns="50800" lIns="50800" bIns="50800" rIns="50800"/>
            <a:lstStyle/>
            <a:p>
              <a:pPr algn="l">
                <a:lnSpc>
                  <a:spcPts val="2400"/>
                </a:lnSpc>
              </a:pPr>
              <a:r>
                <a:rPr lang="en-US" sz="2000">
                  <a:solidFill>
                    <a:srgbClr val="000000"/>
                  </a:solidFill>
                  <a:latin typeface="Pixelated"/>
                  <a:ea typeface="Pixelated"/>
                  <a:cs typeface="Pixelated"/>
                  <a:sym typeface="Pixelated"/>
                </a:rPr>
                <a:t>4. POST /orders → Backend API</a:t>
              </a:r>
            </a:p>
          </p:txBody>
        </p:sp>
      </p:grpSp>
      <p:sp>
        <p:nvSpPr>
          <p:cNvPr name="AutoShape 43" id="43"/>
          <p:cNvSpPr/>
          <p:nvPr/>
        </p:nvSpPr>
        <p:spPr>
          <a:xfrm rot="4581420">
            <a:off x="1885198" y="5504116"/>
            <a:ext cx="161525" cy="0"/>
          </a:xfrm>
          <a:prstGeom prst="line">
            <a:avLst/>
          </a:prstGeom>
          <a:ln cap="rnd" w="28575">
            <a:solidFill>
              <a:srgbClr val="FFFFFF"/>
            </a:solidFill>
            <a:prstDash val="solid"/>
            <a:headEnd type="none" len="sm" w="sm"/>
            <a:tailEnd type="triangle" len="med" w="lg"/>
          </a:ln>
        </p:spPr>
      </p:sp>
      <p:grpSp>
        <p:nvGrpSpPr>
          <p:cNvPr name="Group 44" id="44"/>
          <p:cNvGrpSpPr/>
          <p:nvPr/>
        </p:nvGrpSpPr>
        <p:grpSpPr>
          <a:xfrm rot="0">
            <a:off x="1443990" y="5586222"/>
            <a:ext cx="7307580" cy="568452"/>
            <a:chOff x="0" y="0"/>
            <a:chExt cx="9743440" cy="757936"/>
          </a:xfrm>
        </p:grpSpPr>
        <p:sp>
          <p:nvSpPr>
            <p:cNvPr name="Freeform 45" id="45"/>
            <p:cNvSpPr/>
            <p:nvPr/>
          </p:nvSpPr>
          <p:spPr>
            <a:xfrm flipH="false" flipV="false" rot="0">
              <a:off x="0" y="0"/>
              <a:ext cx="9743440" cy="757936"/>
            </a:xfrm>
            <a:custGeom>
              <a:avLst/>
              <a:gdLst/>
              <a:ahLst/>
              <a:cxnLst/>
              <a:rect r="r" b="b" t="t" l="l"/>
              <a:pathLst>
                <a:path h="757936" w="9743440">
                  <a:moveTo>
                    <a:pt x="0" y="136398"/>
                  </a:moveTo>
                  <a:cubicBezTo>
                    <a:pt x="0" y="61087"/>
                    <a:pt x="61087" y="0"/>
                    <a:pt x="136398" y="0"/>
                  </a:cubicBezTo>
                  <a:lnTo>
                    <a:pt x="9607042" y="0"/>
                  </a:lnTo>
                  <a:cubicBezTo>
                    <a:pt x="9682353" y="0"/>
                    <a:pt x="9743440" y="61087"/>
                    <a:pt x="9743440" y="136398"/>
                  </a:cubicBezTo>
                  <a:lnTo>
                    <a:pt x="9743440" y="621538"/>
                  </a:lnTo>
                  <a:cubicBezTo>
                    <a:pt x="9743440" y="696849"/>
                    <a:pt x="9682353" y="757936"/>
                    <a:pt x="9607042" y="757936"/>
                  </a:cubicBezTo>
                  <a:lnTo>
                    <a:pt x="136398" y="757936"/>
                  </a:lnTo>
                  <a:cubicBezTo>
                    <a:pt x="61087" y="757936"/>
                    <a:pt x="0" y="696849"/>
                    <a:pt x="0" y="621538"/>
                  </a:cubicBezTo>
                  <a:close/>
                </a:path>
              </a:pathLst>
            </a:custGeom>
            <a:solidFill>
              <a:srgbClr val="D9D9D9"/>
            </a:solidFill>
            <a:ln w="38100" cap="sq">
              <a:solidFill>
                <a:srgbClr val="000000"/>
              </a:solidFill>
              <a:prstDash val="solid"/>
              <a:miter/>
            </a:ln>
          </p:spPr>
        </p:sp>
        <p:sp>
          <p:nvSpPr>
            <p:cNvPr name="TextBox 46" id="46"/>
            <p:cNvSpPr txBox="true"/>
            <p:nvPr/>
          </p:nvSpPr>
          <p:spPr>
            <a:xfrm>
              <a:off x="0" y="-9525"/>
              <a:ext cx="9743440" cy="767461"/>
            </a:xfrm>
            <a:prstGeom prst="rect">
              <a:avLst/>
            </a:prstGeom>
          </p:spPr>
          <p:txBody>
            <a:bodyPr anchor="ctr" rtlCol="false" tIns="50800" lIns="50800" bIns="50800" rIns="50800"/>
            <a:lstStyle/>
            <a:p>
              <a:pPr algn="l">
                <a:lnSpc>
                  <a:spcPts val="2400"/>
                </a:lnSpc>
              </a:pPr>
              <a:r>
                <a:rPr lang="en-US" sz="2000">
                  <a:solidFill>
                    <a:srgbClr val="000000"/>
                  </a:solidFill>
                  <a:latin typeface="Pixelated"/>
                  <a:ea typeface="Pixelated"/>
                  <a:cs typeface="Pixelated"/>
                  <a:sym typeface="Pixelated"/>
                </a:rPr>
                <a:t>5. Server stores order in database</a:t>
              </a:r>
            </a:p>
          </p:txBody>
        </p:sp>
      </p:grpSp>
      <p:sp>
        <p:nvSpPr>
          <p:cNvPr name="AutoShape 47" id="47"/>
          <p:cNvSpPr/>
          <p:nvPr/>
        </p:nvSpPr>
        <p:spPr>
          <a:xfrm rot="4581420">
            <a:off x="1885198" y="6208204"/>
            <a:ext cx="161525" cy="0"/>
          </a:xfrm>
          <a:prstGeom prst="line">
            <a:avLst/>
          </a:prstGeom>
          <a:ln cap="rnd" w="28575">
            <a:solidFill>
              <a:srgbClr val="FFFFFF"/>
            </a:solidFill>
            <a:prstDash val="solid"/>
            <a:headEnd type="none" len="sm" w="sm"/>
            <a:tailEnd type="triangle" len="med" w="lg"/>
          </a:ln>
        </p:spPr>
      </p:sp>
      <p:grpSp>
        <p:nvGrpSpPr>
          <p:cNvPr name="Group 48" id="48"/>
          <p:cNvGrpSpPr/>
          <p:nvPr/>
        </p:nvGrpSpPr>
        <p:grpSpPr>
          <a:xfrm rot="0">
            <a:off x="1443990" y="6290310"/>
            <a:ext cx="7307580" cy="568452"/>
            <a:chOff x="0" y="0"/>
            <a:chExt cx="9743440" cy="757936"/>
          </a:xfrm>
        </p:grpSpPr>
        <p:sp>
          <p:nvSpPr>
            <p:cNvPr name="Freeform 49" id="49"/>
            <p:cNvSpPr/>
            <p:nvPr/>
          </p:nvSpPr>
          <p:spPr>
            <a:xfrm flipH="false" flipV="false" rot="0">
              <a:off x="0" y="0"/>
              <a:ext cx="9743440" cy="757936"/>
            </a:xfrm>
            <a:custGeom>
              <a:avLst/>
              <a:gdLst/>
              <a:ahLst/>
              <a:cxnLst/>
              <a:rect r="r" b="b" t="t" l="l"/>
              <a:pathLst>
                <a:path h="757936" w="9743440">
                  <a:moveTo>
                    <a:pt x="0" y="136398"/>
                  </a:moveTo>
                  <a:cubicBezTo>
                    <a:pt x="0" y="61087"/>
                    <a:pt x="61087" y="0"/>
                    <a:pt x="136398" y="0"/>
                  </a:cubicBezTo>
                  <a:lnTo>
                    <a:pt x="9607042" y="0"/>
                  </a:lnTo>
                  <a:cubicBezTo>
                    <a:pt x="9682353" y="0"/>
                    <a:pt x="9743440" y="61087"/>
                    <a:pt x="9743440" y="136398"/>
                  </a:cubicBezTo>
                  <a:lnTo>
                    <a:pt x="9743440" y="621538"/>
                  </a:lnTo>
                  <a:cubicBezTo>
                    <a:pt x="9743440" y="696849"/>
                    <a:pt x="9682353" y="757936"/>
                    <a:pt x="9607042" y="757936"/>
                  </a:cubicBezTo>
                  <a:lnTo>
                    <a:pt x="136398" y="757936"/>
                  </a:lnTo>
                  <a:cubicBezTo>
                    <a:pt x="61087" y="757936"/>
                    <a:pt x="0" y="696849"/>
                    <a:pt x="0" y="621538"/>
                  </a:cubicBezTo>
                  <a:close/>
                </a:path>
              </a:pathLst>
            </a:custGeom>
            <a:solidFill>
              <a:srgbClr val="D9D9D9"/>
            </a:solidFill>
            <a:ln w="38100" cap="sq">
              <a:solidFill>
                <a:srgbClr val="000000"/>
              </a:solidFill>
              <a:prstDash val="solid"/>
              <a:miter/>
            </a:ln>
          </p:spPr>
        </p:sp>
        <p:sp>
          <p:nvSpPr>
            <p:cNvPr name="TextBox 50" id="50"/>
            <p:cNvSpPr txBox="true"/>
            <p:nvPr/>
          </p:nvSpPr>
          <p:spPr>
            <a:xfrm>
              <a:off x="0" y="-9525"/>
              <a:ext cx="9743440" cy="767461"/>
            </a:xfrm>
            <a:prstGeom prst="rect">
              <a:avLst/>
            </a:prstGeom>
          </p:spPr>
          <p:txBody>
            <a:bodyPr anchor="ctr" rtlCol="false" tIns="50800" lIns="50800" bIns="50800" rIns="50800"/>
            <a:lstStyle/>
            <a:p>
              <a:pPr algn="l">
                <a:lnSpc>
                  <a:spcPts val="2400"/>
                </a:lnSpc>
              </a:pPr>
              <a:r>
                <a:rPr lang="en-US" sz="2000">
                  <a:solidFill>
                    <a:srgbClr val="000000"/>
                  </a:solidFill>
                  <a:latin typeface="Pixelated"/>
                  <a:ea typeface="Pixelated"/>
                  <a:cs typeface="Pixelated"/>
                  <a:sym typeface="Pixelated"/>
                </a:rPr>
                <a:t>6. Restaurant accepts order</a:t>
              </a:r>
            </a:p>
          </p:txBody>
        </p:sp>
      </p:grpSp>
      <p:sp>
        <p:nvSpPr>
          <p:cNvPr name="AutoShape 51" id="51"/>
          <p:cNvSpPr/>
          <p:nvPr/>
        </p:nvSpPr>
        <p:spPr>
          <a:xfrm rot="4581420">
            <a:off x="1885198" y="6912293"/>
            <a:ext cx="161525" cy="0"/>
          </a:xfrm>
          <a:prstGeom prst="line">
            <a:avLst/>
          </a:prstGeom>
          <a:ln cap="rnd" w="28575">
            <a:solidFill>
              <a:srgbClr val="FFFFFF"/>
            </a:solidFill>
            <a:prstDash val="solid"/>
            <a:headEnd type="none" len="sm" w="sm"/>
            <a:tailEnd type="triangle" len="med" w="lg"/>
          </a:ln>
        </p:spPr>
      </p:sp>
      <p:grpSp>
        <p:nvGrpSpPr>
          <p:cNvPr name="Group 52" id="52"/>
          <p:cNvGrpSpPr/>
          <p:nvPr/>
        </p:nvGrpSpPr>
        <p:grpSpPr>
          <a:xfrm rot="0">
            <a:off x="1443990" y="6994398"/>
            <a:ext cx="7307580" cy="934212"/>
            <a:chOff x="0" y="0"/>
            <a:chExt cx="9743440" cy="1245616"/>
          </a:xfrm>
        </p:grpSpPr>
        <p:sp>
          <p:nvSpPr>
            <p:cNvPr name="Freeform 53" id="53"/>
            <p:cNvSpPr/>
            <p:nvPr/>
          </p:nvSpPr>
          <p:spPr>
            <a:xfrm flipH="false" flipV="false" rot="0">
              <a:off x="0" y="0"/>
              <a:ext cx="9743440" cy="1245616"/>
            </a:xfrm>
            <a:custGeom>
              <a:avLst/>
              <a:gdLst/>
              <a:ahLst/>
              <a:cxnLst/>
              <a:rect r="r" b="b" t="t" l="l"/>
              <a:pathLst>
                <a:path h="1245616" w="9743440">
                  <a:moveTo>
                    <a:pt x="0" y="224155"/>
                  </a:moveTo>
                  <a:cubicBezTo>
                    <a:pt x="0" y="100330"/>
                    <a:pt x="100330" y="0"/>
                    <a:pt x="224155" y="0"/>
                  </a:cubicBezTo>
                  <a:lnTo>
                    <a:pt x="9519285" y="0"/>
                  </a:lnTo>
                  <a:cubicBezTo>
                    <a:pt x="9643110" y="0"/>
                    <a:pt x="9743440" y="100330"/>
                    <a:pt x="9743440" y="224155"/>
                  </a:cubicBezTo>
                  <a:lnTo>
                    <a:pt x="9743440" y="1021461"/>
                  </a:lnTo>
                  <a:cubicBezTo>
                    <a:pt x="9743440" y="1145286"/>
                    <a:pt x="9643110" y="1245616"/>
                    <a:pt x="9519285" y="1245616"/>
                  </a:cubicBezTo>
                  <a:lnTo>
                    <a:pt x="224155" y="1245616"/>
                  </a:lnTo>
                  <a:cubicBezTo>
                    <a:pt x="100330" y="1245616"/>
                    <a:pt x="0" y="1145286"/>
                    <a:pt x="0" y="1021461"/>
                  </a:cubicBezTo>
                  <a:close/>
                </a:path>
              </a:pathLst>
            </a:custGeom>
            <a:solidFill>
              <a:srgbClr val="D9D9D9"/>
            </a:solidFill>
            <a:ln w="38100" cap="sq">
              <a:solidFill>
                <a:srgbClr val="000000"/>
              </a:solidFill>
              <a:prstDash val="solid"/>
              <a:miter/>
            </a:ln>
          </p:spPr>
        </p:sp>
        <p:sp>
          <p:nvSpPr>
            <p:cNvPr name="TextBox 54" id="54"/>
            <p:cNvSpPr txBox="true"/>
            <p:nvPr/>
          </p:nvSpPr>
          <p:spPr>
            <a:xfrm>
              <a:off x="0" y="-9525"/>
              <a:ext cx="9743440" cy="1255141"/>
            </a:xfrm>
            <a:prstGeom prst="rect">
              <a:avLst/>
            </a:prstGeom>
          </p:spPr>
          <p:txBody>
            <a:bodyPr anchor="ctr" rtlCol="false" tIns="50800" lIns="50800" bIns="50800" rIns="50800"/>
            <a:lstStyle/>
            <a:p>
              <a:pPr algn="l">
                <a:lnSpc>
                  <a:spcPts val="2400"/>
                </a:lnSpc>
              </a:pPr>
              <a:r>
                <a:rPr lang="en-US" sz="2000">
                  <a:solidFill>
                    <a:srgbClr val="000000"/>
                  </a:solidFill>
                  <a:latin typeface="Pixelated"/>
                  <a:ea typeface="Pixelated"/>
                  <a:cs typeface="Pixelated"/>
                  <a:sym typeface="Pixelated"/>
                </a:rPr>
                <a:t>7. Server changes status:</a:t>
              </a:r>
            </a:p>
            <a:p>
              <a:pPr algn="l">
                <a:lnSpc>
                  <a:spcPts val="2400"/>
                </a:lnSpc>
              </a:pPr>
              <a:r>
                <a:rPr lang="en-US" sz="2000">
                  <a:solidFill>
                    <a:srgbClr val="000000"/>
                  </a:solidFill>
                  <a:latin typeface="Pixelated"/>
                  <a:ea typeface="Pixelated"/>
                  <a:cs typeface="Pixelated"/>
                  <a:sym typeface="Pixelated"/>
                </a:rPr>
                <a:t>PLACED → CONFIRMED → PREPARING</a:t>
              </a:r>
            </a:p>
          </p:txBody>
        </p:sp>
      </p:grpSp>
      <p:sp>
        <p:nvSpPr>
          <p:cNvPr name="AutoShape 55" id="55"/>
          <p:cNvSpPr/>
          <p:nvPr/>
        </p:nvSpPr>
        <p:spPr>
          <a:xfrm rot="4581420">
            <a:off x="1885198" y="7982140"/>
            <a:ext cx="161525" cy="0"/>
          </a:xfrm>
          <a:prstGeom prst="line">
            <a:avLst/>
          </a:prstGeom>
          <a:ln cap="rnd" w="28575">
            <a:solidFill>
              <a:srgbClr val="FFFFFF"/>
            </a:solidFill>
            <a:prstDash val="solid"/>
            <a:headEnd type="none" len="sm" w="sm"/>
            <a:tailEnd type="triangle" len="med" w="lg"/>
          </a:ln>
        </p:spPr>
      </p:sp>
      <p:grpSp>
        <p:nvGrpSpPr>
          <p:cNvPr name="Group 56" id="56"/>
          <p:cNvGrpSpPr/>
          <p:nvPr/>
        </p:nvGrpSpPr>
        <p:grpSpPr>
          <a:xfrm rot="0">
            <a:off x="1443990" y="8064246"/>
            <a:ext cx="7307580" cy="568452"/>
            <a:chOff x="0" y="0"/>
            <a:chExt cx="9743440" cy="757936"/>
          </a:xfrm>
        </p:grpSpPr>
        <p:sp>
          <p:nvSpPr>
            <p:cNvPr name="Freeform 57" id="57"/>
            <p:cNvSpPr/>
            <p:nvPr/>
          </p:nvSpPr>
          <p:spPr>
            <a:xfrm flipH="false" flipV="false" rot="0">
              <a:off x="0" y="0"/>
              <a:ext cx="9743440" cy="757936"/>
            </a:xfrm>
            <a:custGeom>
              <a:avLst/>
              <a:gdLst/>
              <a:ahLst/>
              <a:cxnLst/>
              <a:rect r="r" b="b" t="t" l="l"/>
              <a:pathLst>
                <a:path h="757936" w="9743440">
                  <a:moveTo>
                    <a:pt x="0" y="136398"/>
                  </a:moveTo>
                  <a:cubicBezTo>
                    <a:pt x="0" y="61087"/>
                    <a:pt x="61087" y="0"/>
                    <a:pt x="136398" y="0"/>
                  </a:cubicBezTo>
                  <a:lnTo>
                    <a:pt x="9607042" y="0"/>
                  </a:lnTo>
                  <a:cubicBezTo>
                    <a:pt x="9682353" y="0"/>
                    <a:pt x="9743440" y="61087"/>
                    <a:pt x="9743440" y="136398"/>
                  </a:cubicBezTo>
                  <a:lnTo>
                    <a:pt x="9743440" y="621538"/>
                  </a:lnTo>
                  <a:cubicBezTo>
                    <a:pt x="9743440" y="696849"/>
                    <a:pt x="9682353" y="757936"/>
                    <a:pt x="9607042" y="757936"/>
                  </a:cubicBezTo>
                  <a:lnTo>
                    <a:pt x="136398" y="757936"/>
                  </a:lnTo>
                  <a:cubicBezTo>
                    <a:pt x="61087" y="757936"/>
                    <a:pt x="0" y="696849"/>
                    <a:pt x="0" y="621538"/>
                  </a:cubicBezTo>
                  <a:close/>
                </a:path>
              </a:pathLst>
            </a:custGeom>
            <a:solidFill>
              <a:srgbClr val="D9D9D9"/>
            </a:solidFill>
            <a:ln w="38100" cap="sq">
              <a:solidFill>
                <a:srgbClr val="000000"/>
              </a:solidFill>
              <a:prstDash val="solid"/>
              <a:miter/>
            </a:ln>
          </p:spPr>
        </p:sp>
        <p:sp>
          <p:nvSpPr>
            <p:cNvPr name="TextBox 58" id="58"/>
            <p:cNvSpPr txBox="true"/>
            <p:nvPr/>
          </p:nvSpPr>
          <p:spPr>
            <a:xfrm>
              <a:off x="0" y="-9525"/>
              <a:ext cx="9743440" cy="767461"/>
            </a:xfrm>
            <a:prstGeom prst="rect">
              <a:avLst/>
            </a:prstGeom>
          </p:spPr>
          <p:txBody>
            <a:bodyPr anchor="ctr" rtlCol="false" tIns="50800" lIns="50800" bIns="50800" rIns="50800"/>
            <a:lstStyle/>
            <a:p>
              <a:pPr algn="l">
                <a:lnSpc>
                  <a:spcPts val="2400"/>
                </a:lnSpc>
              </a:pPr>
              <a:r>
                <a:rPr lang="en-US" sz="2000">
                  <a:solidFill>
                    <a:srgbClr val="000000"/>
                  </a:solidFill>
                  <a:latin typeface="Pixelated"/>
                  <a:ea typeface="Pixelated"/>
                  <a:cs typeface="Pixelated"/>
                  <a:sym typeface="Pixelated"/>
                </a:rPr>
                <a:t>8. App fetches/receives updated status</a:t>
              </a:r>
            </a:p>
          </p:txBody>
        </p:sp>
      </p:grpSp>
      <p:sp>
        <p:nvSpPr>
          <p:cNvPr name="AutoShape 59" id="59"/>
          <p:cNvSpPr/>
          <p:nvPr/>
        </p:nvSpPr>
        <p:spPr>
          <a:xfrm rot="4581420">
            <a:off x="1885198" y="8686228"/>
            <a:ext cx="161525" cy="0"/>
          </a:xfrm>
          <a:prstGeom prst="line">
            <a:avLst/>
          </a:prstGeom>
          <a:ln cap="rnd" w="28575">
            <a:solidFill>
              <a:srgbClr val="FFFFFF"/>
            </a:solidFill>
            <a:prstDash val="solid"/>
            <a:headEnd type="none" len="sm" w="sm"/>
            <a:tailEnd type="triangle" len="med" w="lg"/>
          </a:ln>
        </p:spPr>
      </p:sp>
      <p:grpSp>
        <p:nvGrpSpPr>
          <p:cNvPr name="Group 60" id="60"/>
          <p:cNvGrpSpPr/>
          <p:nvPr/>
        </p:nvGrpSpPr>
        <p:grpSpPr>
          <a:xfrm rot="0">
            <a:off x="1443990" y="8768334"/>
            <a:ext cx="7307580" cy="568452"/>
            <a:chOff x="0" y="0"/>
            <a:chExt cx="9743440" cy="757936"/>
          </a:xfrm>
        </p:grpSpPr>
        <p:sp>
          <p:nvSpPr>
            <p:cNvPr name="Freeform 61" id="61"/>
            <p:cNvSpPr/>
            <p:nvPr/>
          </p:nvSpPr>
          <p:spPr>
            <a:xfrm flipH="false" flipV="false" rot="0">
              <a:off x="0" y="0"/>
              <a:ext cx="9743440" cy="757936"/>
            </a:xfrm>
            <a:custGeom>
              <a:avLst/>
              <a:gdLst/>
              <a:ahLst/>
              <a:cxnLst/>
              <a:rect r="r" b="b" t="t" l="l"/>
              <a:pathLst>
                <a:path h="757936" w="9743440">
                  <a:moveTo>
                    <a:pt x="0" y="136398"/>
                  </a:moveTo>
                  <a:cubicBezTo>
                    <a:pt x="0" y="61087"/>
                    <a:pt x="61087" y="0"/>
                    <a:pt x="136398" y="0"/>
                  </a:cubicBezTo>
                  <a:lnTo>
                    <a:pt x="9607042" y="0"/>
                  </a:lnTo>
                  <a:cubicBezTo>
                    <a:pt x="9682353" y="0"/>
                    <a:pt x="9743440" y="61087"/>
                    <a:pt x="9743440" y="136398"/>
                  </a:cubicBezTo>
                  <a:lnTo>
                    <a:pt x="9743440" y="621538"/>
                  </a:lnTo>
                  <a:cubicBezTo>
                    <a:pt x="9743440" y="696849"/>
                    <a:pt x="9682353" y="757936"/>
                    <a:pt x="9607042" y="757936"/>
                  </a:cubicBezTo>
                  <a:lnTo>
                    <a:pt x="136398" y="757936"/>
                  </a:lnTo>
                  <a:cubicBezTo>
                    <a:pt x="61087" y="757936"/>
                    <a:pt x="0" y="696849"/>
                    <a:pt x="0" y="621538"/>
                  </a:cubicBezTo>
                  <a:close/>
                </a:path>
              </a:pathLst>
            </a:custGeom>
            <a:solidFill>
              <a:srgbClr val="D9D9D9"/>
            </a:solidFill>
            <a:ln w="38100" cap="sq">
              <a:solidFill>
                <a:srgbClr val="000000"/>
              </a:solidFill>
              <a:prstDash val="solid"/>
              <a:miter/>
            </a:ln>
          </p:spPr>
        </p:sp>
        <p:sp>
          <p:nvSpPr>
            <p:cNvPr name="TextBox 62" id="62"/>
            <p:cNvSpPr txBox="true"/>
            <p:nvPr/>
          </p:nvSpPr>
          <p:spPr>
            <a:xfrm>
              <a:off x="0" y="-9525"/>
              <a:ext cx="9743440" cy="767461"/>
            </a:xfrm>
            <a:prstGeom prst="rect">
              <a:avLst/>
            </a:prstGeom>
          </p:spPr>
          <p:txBody>
            <a:bodyPr anchor="ctr" rtlCol="false" tIns="50800" lIns="50800" bIns="50800" rIns="50800"/>
            <a:lstStyle/>
            <a:p>
              <a:pPr algn="l">
                <a:lnSpc>
                  <a:spcPts val="2400"/>
                </a:lnSpc>
              </a:pPr>
              <a:r>
                <a:rPr lang="en-US" sz="2000">
                  <a:solidFill>
                    <a:srgbClr val="000000"/>
                  </a:solidFill>
                  <a:latin typeface="Pixelated"/>
                  <a:ea typeface="Pixelated"/>
                  <a:cs typeface="Pixelated"/>
                  <a:sym typeface="Pixelated"/>
                </a:rPr>
                <a:t>9. Flutter updates UI</a:t>
              </a:r>
            </a:p>
          </p:txBody>
        </p:sp>
      </p:grpSp>
      <p:grpSp>
        <p:nvGrpSpPr>
          <p:cNvPr name="Group 63" id="63"/>
          <p:cNvGrpSpPr/>
          <p:nvPr/>
        </p:nvGrpSpPr>
        <p:grpSpPr>
          <a:xfrm rot="0">
            <a:off x="9020362" y="2769870"/>
            <a:ext cx="8500790" cy="6488430"/>
            <a:chOff x="0" y="0"/>
            <a:chExt cx="11062012" cy="8443343"/>
          </a:xfrm>
        </p:grpSpPr>
        <p:sp>
          <p:nvSpPr>
            <p:cNvPr name="Freeform 64" id="64" descr="VS Code snapshot: Flutter placeOrder code"/>
            <p:cNvSpPr/>
            <p:nvPr/>
          </p:nvSpPr>
          <p:spPr>
            <a:xfrm flipH="false" flipV="false" rot="0">
              <a:off x="0" y="0"/>
              <a:ext cx="11062012" cy="8443368"/>
            </a:xfrm>
            <a:custGeom>
              <a:avLst/>
              <a:gdLst/>
              <a:ahLst/>
              <a:cxnLst/>
              <a:rect r="r" b="b" t="t" l="l"/>
              <a:pathLst>
                <a:path h="8443368" w="11062012">
                  <a:moveTo>
                    <a:pt x="0" y="0"/>
                  </a:moveTo>
                  <a:lnTo>
                    <a:pt x="11062012" y="0"/>
                  </a:lnTo>
                  <a:lnTo>
                    <a:pt x="11062012" y="8443368"/>
                  </a:lnTo>
                  <a:lnTo>
                    <a:pt x="0" y="8443368"/>
                  </a:lnTo>
                  <a:lnTo>
                    <a:pt x="0" y="0"/>
                  </a:lnTo>
                  <a:close/>
                </a:path>
              </a:pathLst>
            </a:custGeom>
            <a:blipFill>
              <a:blip r:embed="rId21"/>
              <a:stretch>
                <a:fillRect l="-1237" t="0" r="-1237" b="0"/>
              </a:stretch>
            </a:blipFill>
          </p:spPr>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34475"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416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8641080"/>
            <a:ext cx="9144000" cy="1645920"/>
          </a:xfrm>
          <a:custGeom>
            <a:avLst/>
            <a:gdLst/>
            <a:ahLst/>
            <a:cxnLst/>
            <a:rect r="r" b="b" t="t" l="l"/>
            <a:pathLst>
              <a:path h="1645920" w="9144000">
                <a:moveTo>
                  <a:pt x="0" y="0"/>
                </a:moveTo>
                <a:lnTo>
                  <a:pt x="9144000" y="0"/>
                </a:lnTo>
                <a:lnTo>
                  <a:pt x="9144000" y="1645920"/>
                </a:lnTo>
                <a:lnTo>
                  <a:pt x="0" y="1645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16000" y="7371591"/>
            <a:ext cx="4917034" cy="1269489"/>
          </a:xfrm>
          <a:custGeom>
            <a:avLst/>
            <a:gdLst/>
            <a:ahLst/>
            <a:cxnLst/>
            <a:rect r="r" b="b" t="t" l="l"/>
            <a:pathLst>
              <a:path h="1269489" w="4917034">
                <a:moveTo>
                  <a:pt x="0" y="0"/>
                </a:moveTo>
                <a:lnTo>
                  <a:pt x="4917034" y="0"/>
                </a:lnTo>
                <a:lnTo>
                  <a:pt x="4917034" y="1269489"/>
                </a:lnTo>
                <a:lnTo>
                  <a:pt x="0" y="1269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6174517" y="3375934"/>
            <a:ext cx="718895" cy="1349462"/>
          </a:xfrm>
          <a:custGeom>
            <a:avLst/>
            <a:gdLst/>
            <a:ahLst/>
            <a:cxnLst/>
            <a:rect r="r" b="b" t="t" l="l"/>
            <a:pathLst>
              <a:path h="1349462" w="718895">
                <a:moveTo>
                  <a:pt x="0" y="0"/>
                </a:moveTo>
                <a:lnTo>
                  <a:pt x="718895" y="0"/>
                </a:lnTo>
                <a:lnTo>
                  <a:pt x="718895" y="1349462"/>
                </a:lnTo>
                <a:lnTo>
                  <a:pt x="0" y="1349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5606292"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1275387"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5637693"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8165560" y="4795697"/>
            <a:ext cx="1956880" cy="3816609"/>
          </a:xfrm>
          <a:custGeom>
            <a:avLst/>
            <a:gdLst/>
            <a:ahLst/>
            <a:cxnLst/>
            <a:rect r="r" b="b" t="t" l="l"/>
            <a:pathLst>
              <a:path h="3816609" w="1956880">
                <a:moveTo>
                  <a:pt x="0" y="0"/>
                </a:moveTo>
                <a:lnTo>
                  <a:pt x="1956880" y="0"/>
                </a:lnTo>
                <a:lnTo>
                  <a:pt x="1956880" y="3816609"/>
                </a:lnTo>
                <a:lnTo>
                  <a:pt x="0" y="38166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705083" y="541340"/>
            <a:ext cx="15816068" cy="8425651"/>
          </a:xfrm>
          <a:custGeom>
            <a:avLst/>
            <a:gdLst/>
            <a:ahLst/>
            <a:cxnLst/>
            <a:rect r="r" b="b" t="t" l="l"/>
            <a:pathLst>
              <a:path h="8425651" w="15816068">
                <a:moveTo>
                  <a:pt x="0" y="0"/>
                </a:moveTo>
                <a:lnTo>
                  <a:pt x="15816068" y="0"/>
                </a:lnTo>
                <a:lnTo>
                  <a:pt x="15816068" y="8425651"/>
                </a:lnTo>
                <a:lnTo>
                  <a:pt x="0" y="842565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028700" y="4526280"/>
            <a:ext cx="1735697" cy="4114800"/>
          </a:xfrm>
          <a:custGeom>
            <a:avLst/>
            <a:gdLst/>
            <a:ahLst/>
            <a:cxnLst/>
            <a:rect r="r" b="b" t="t" l="l"/>
            <a:pathLst>
              <a:path h="4114800" w="1735697">
                <a:moveTo>
                  <a:pt x="0" y="0"/>
                </a:moveTo>
                <a:lnTo>
                  <a:pt x="1735697" y="0"/>
                </a:lnTo>
                <a:lnTo>
                  <a:pt x="17356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0"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16754302" y="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0">
            <a:off x="1896549"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8"/>
            <a:stretch>
              <a:fillRect l="0" t="0" r="0" b="0"/>
            </a:stretch>
          </a:blipFill>
        </p:spPr>
      </p:sp>
      <p:sp>
        <p:nvSpPr>
          <p:cNvPr name="Freeform 18" id="18"/>
          <p:cNvSpPr/>
          <p:nvPr/>
        </p:nvSpPr>
        <p:spPr>
          <a:xfrm flipH="false" flipV="false" rot="0">
            <a:off x="2612166" y="411480"/>
            <a:ext cx="715617" cy="617220"/>
          </a:xfrm>
          <a:custGeom>
            <a:avLst/>
            <a:gdLst/>
            <a:ahLst/>
            <a:cxnLst/>
            <a:rect r="r" b="b" t="t" l="l"/>
            <a:pathLst>
              <a:path h="617220" w="715617">
                <a:moveTo>
                  <a:pt x="0" y="0"/>
                </a:moveTo>
                <a:lnTo>
                  <a:pt x="715618" y="0"/>
                </a:lnTo>
                <a:lnTo>
                  <a:pt x="715618" y="617220"/>
                </a:lnTo>
                <a:lnTo>
                  <a:pt x="0" y="617220"/>
                </a:lnTo>
                <a:lnTo>
                  <a:pt x="0" y="0"/>
                </a:lnTo>
                <a:close/>
              </a:path>
            </a:pathLst>
          </a:custGeom>
          <a:blipFill>
            <a:blip r:embed="rId18"/>
            <a:stretch>
              <a:fillRect l="0" t="0" r="0" b="0"/>
            </a:stretch>
          </a:blipFill>
        </p:spPr>
      </p:sp>
      <p:sp>
        <p:nvSpPr>
          <p:cNvPr name="Freeform 19" id="19"/>
          <p:cNvSpPr/>
          <p:nvPr/>
        </p:nvSpPr>
        <p:spPr>
          <a:xfrm flipH="false" flipV="false" rot="0">
            <a:off x="3327784" y="411480"/>
            <a:ext cx="715617" cy="617220"/>
          </a:xfrm>
          <a:custGeom>
            <a:avLst/>
            <a:gdLst/>
            <a:ahLst/>
            <a:cxnLst/>
            <a:rect r="r" b="b" t="t" l="l"/>
            <a:pathLst>
              <a:path h="617220" w="715617">
                <a:moveTo>
                  <a:pt x="0" y="0"/>
                </a:moveTo>
                <a:lnTo>
                  <a:pt x="715617" y="0"/>
                </a:lnTo>
                <a:lnTo>
                  <a:pt x="715617" y="617220"/>
                </a:lnTo>
                <a:lnTo>
                  <a:pt x="0" y="617220"/>
                </a:lnTo>
                <a:lnTo>
                  <a:pt x="0" y="0"/>
                </a:lnTo>
                <a:close/>
              </a:path>
            </a:pathLst>
          </a:custGeom>
          <a:blipFill>
            <a:blip r:embed="rId18"/>
            <a:stretch>
              <a:fillRect l="0" t="0" r="0" b="0"/>
            </a:stretch>
          </a:blipFill>
        </p:spPr>
      </p:sp>
      <p:sp>
        <p:nvSpPr>
          <p:cNvPr name="Freeform 20" id="20"/>
          <p:cNvSpPr/>
          <p:nvPr/>
        </p:nvSpPr>
        <p:spPr>
          <a:xfrm flipH="false" flipV="false" rot="0">
            <a:off x="5477794" y="7654260"/>
            <a:ext cx="958046" cy="958046"/>
          </a:xfrm>
          <a:custGeom>
            <a:avLst/>
            <a:gdLst/>
            <a:ahLst/>
            <a:cxnLst/>
            <a:rect r="r" b="b" t="t" l="l"/>
            <a:pathLst>
              <a:path h="958046" w="958046">
                <a:moveTo>
                  <a:pt x="0" y="0"/>
                </a:moveTo>
                <a:lnTo>
                  <a:pt x="958046" y="0"/>
                </a:lnTo>
                <a:lnTo>
                  <a:pt x="958046" y="958046"/>
                </a:lnTo>
                <a:lnTo>
                  <a:pt x="0" y="95804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1" id="21"/>
          <p:cNvSpPr/>
          <p:nvPr/>
        </p:nvSpPr>
        <p:spPr>
          <a:xfrm flipH="false" flipV="false" rot="0">
            <a:off x="11922598" y="7654260"/>
            <a:ext cx="958046" cy="958046"/>
          </a:xfrm>
          <a:custGeom>
            <a:avLst/>
            <a:gdLst/>
            <a:ahLst/>
            <a:cxnLst/>
            <a:rect r="r" b="b" t="t" l="l"/>
            <a:pathLst>
              <a:path h="958046" w="958046">
                <a:moveTo>
                  <a:pt x="0" y="0"/>
                </a:moveTo>
                <a:lnTo>
                  <a:pt x="958045" y="0"/>
                </a:lnTo>
                <a:lnTo>
                  <a:pt x="958045" y="958046"/>
                </a:lnTo>
                <a:lnTo>
                  <a:pt x="0" y="95804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2" id="22"/>
          <p:cNvSpPr/>
          <p:nvPr/>
        </p:nvSpPr>
        <p:spPr>
          <a:xfrm flipH="false" flipV="false" rot="0">
            <a:off x="13975668"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3" id="23"/>
          <p:cNvSpPr/>
          <p:nvPr/>
        </p:nvSpPr>
        <p:spPr>
          <a:xfrm flipH="false" flipV="false" rot="0">
            <a:off x="14863514" y="411480"/>
            <a:ext cx="729755" cy="729755"/>
          </a:xfrm>
          <a:custGeom>
            <a:avLst/>
            <a:gdLst/>
            <a:ahLst/>
            <a:cxnLst/>
            <a:rect r="r" b="b" t="t" l="l"/>
            <a:pathLst>
              <a:path h="729755" w="729755">
                <a:moveTo>
                  <a:pt x="0" y="0"/>
                </a:moveTo>
                <a:lnTo>
                  <a:pt x="729755" y="0"/>
                </a:lnTo>
                <a:lnTo>
                  <a:pt x="729755" y="729755"/>
                </a:lnTo>
                <a:lnTo>
                  <a:pt x="0" y="72975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4" id="24"/>
          <p:cNvSpPr/>
          <p:nvPr/>
        </p:nvSpPr>
        <p:spPr>
          <a:xfrm flipH="false" flipV="false" rot="0">
            <a:off x="15751361" y="411480"/>
            <a:ext cx="729755" cy="729755"/>
          </a:xfrm>
          <a:custGeom>
            <a:avLst/>
            <a:gdLst/>
            <a:ahLst/>
            <a:cxnLst/>
            <a:rect r="r" b="b" t="t" l="l"/>
            <a:pathLst>
              <a:path h="729755" w="729755">
                <a:moveTo>
                  <a:pt x="0" y="0"/>
                </a:moveTo>
                <a:lnTo>
                  <a:pt x="729754" y="0"/>
                </a:lnTo>
                <a:lnTo>
                  <a:pt x="729754" y="729755"/>
                </a:lnTo>
                <a:lnTo>
                  <a:pt x="0" y="72975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5" id="25"/>
          <p:cNvSpPr/>
          <p:nvPr/>
        </p:nvSpPr>
        <p:spPr>
          <a:xfrm flipH="false" flipV="false" rot="0">
            <a:off x="15550918" y="1581468"/>
            <a:ext cx="923222" cy="923222"/>
          </a:xfrm>
          <a:custGeom>
            <a:avLst/>
            <a:gdLst/>
            <a:ahLst/>
            <a:cxnLst/>
            <a:rect r="r" b="b" t="t" l="l"/>
            <a:pathLst>
              <a:path h="923222" w="923222">
                <a:moveTo>
                  <a:pt x="0" y="0"/>
                </a:moveTo>
                <a:lnTo>
                  <a:pt x="923222" y="0"/>
                </a:lnTo>
                <a:lnTo>
                  <a:pt x="923222" y="923222"/>
                </a:lnTo>
                <a:lnTo>
                  <a:pt x="0" y="923222"/>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26" id="26"/>
          <p:cNvSpPr/>
          <p:nvPr/>
        </p:nvSpPr>
        <p:spPr>
          <a:xfrm flipH="false" flipV="false" rot="0">
            <a:off x="16144171" y="2057400"/>
            <a:ext cx="610130" cy="986820"/>
          </a:xfrm>
          <a:custGeom>
            <a:avLst/>
            <a:gdLst/>
            <a:ahLst/>
            <a:cxnLst/>
            <a:rect r="r" b="b" t="t" l="l"/>
            <a:pathLst>
              <a:path h="986820" w="610130">
                <a:moveTo>
                  <a:pt x="0" y="0"/>
                </a:moveTo>
                <a:lnTo>
                  <a:pt x="610131" y="0"/>
                </a:lnTo>
                <a:lnTo>
                  <a:pt x="610131" y="986820"/>
                </a:lnTo>
                <a:lnTo>
                  <a:pt x="0" y="986820"/>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pic>
        <p:nvPicPr>
          <p:cNvPr name="Picture 27" id="27"/>
          <p:cNvPicPr>
            <a:picLocks noChangeAspect="true"/>
          </p:cNvPicPr>
          <p:nvPr/>
        </p:nvPicPr>
        <p:blipFill>
          <a:blip r:embed="rId27"/>
          <a:srcRect l="0" t="0" r="0" b="0"/>
          <a:stretch>
            <a:fillRect/>
          </a:stretch>
        </p:blipFill>
        <p:spPr>
          <a:xfrm flipH="false" flipV="false" rot="0">
            <a:off x="7716275" y="23855"/>
            <a:ext cx="10185619" cy="8181891"/>
          </a:xfrm>
          <a:prstGeom prst="rect">
            <a:avLst/>
          </a:prstGeom>
        </p:spPr>
      </p:pic>
      <p:sp>
        <p:nvSpPr>
          <p:cNvPr name="TextBox 28" id="28"/>
          <p:cNvSpPr txBox="true"/>
          <p:nvPr/>
        </p:nvSpPr>
        <p:spPr>
          <a:xfrm rot="0">
            <a:off x="2812099" y="3275242"/>
            <a:ext cx="7247480" cy="3395520"/>
          </a:xfrm>
          <a:prstGeom prst="rect">
            <a:avLst/>
          </a:prstGeom>
        </p:spPr>
        <p:txBody>
          <a:bodyPr anchor="t" rtlCol="false" tIns="0" lIns="0" bIns="0" rIns="0">
            <a:spAutoFit/>
          </a:bodyPr>
          <a:lstStyle/>
          <a:p>
            <a:pPr algn="ctr" marL="0" indent="0" lvl="0">
              <a:lnSpc>
                <a:spcPts val="6462"/>
              </a:lnSpc>
            </a:pPr>
            <a:r>
              <a:rPr lang="en-US" sz="7977">
                <a:solidFill>
                  <a:srgbClr val="000000"/>
                </a:solidFill>
                <a:latin typeface="VT323"/>
                <a:ea typeface="VT323"/>
                <a:cs typeface="VT323"/>
                <a:sym typeface="VT323"/>
              </a:rPr>
              <a:t>THIS IS THE END OF OUR PRESENTATION, 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DAHWj2nTeHk</dc:identifier>
  <dcterms:modified xsi:type="dcterms:W3CDTF">2011-08-01T06:04:30Z</dcterms:modified>
  <cp:revision>1</cp:revision>
  <dc:title>ETP Session 3- Group Project Presentation </dc:title>
</cp:coreProperties>
</file>