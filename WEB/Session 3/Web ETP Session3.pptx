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6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Dekko" charset="1" panose="00000500000000000000"/>
      <p:regular r:id="rId50"/>
    </p:embeddedFont>
    <p:embeddedFont>
      <p:font typeface="Open Sauce" charset="1" panose="00000500000000000000"/>
      <p:regular r:id="rId51"/>
    </p:embeddedFont>
    <p:embeddedFont>
      <p:font typeface="Open Sauce Bold" charset="1" panose="00000800000000000000"/>
      <p:regular r:id="rId52"/>
    </p:embeddedFont>
    <p:embeddedFont>
      <p:font typeface="Aptos Bold" charset="1" panose="020B0004020202020204"/>
      <p:regular r:id="rId53"/>
    </p:embeddedFont>
    <p:embeddedFont>
      <p:font typeface="Aptos" charset="1" panose="020B0004020202020204"/>
      <p:regular r:id="rId54"/>
    </p:embeddedFont>
    <p:embeddedFont>
      <p:font typeface="Courier New" charset="1" panose="02070309020205020404"/>
      <p:regular r:id="rId55"/>
    </p:embeddedFont>
    <p:embeddedFont>
      <p:font typeface="Consolas" charset="1" panose="020B0609020204030204"/>
      <p:regular r:id="rId56"/>
    </p:embeddedFont>
    <p:embeddedFont>
      <p:font typeface="DM Serif Display" charset="1" panose="00000000000000000000"/>
      <p:regular r:id="rId57"/>
    </p:embeddedFont>
    <p:embeddedFont>
      <p:font typeface="Open Sauce Italics" charset="1" panose="00000500000000000000"/>
      <p:regular r:id="rId58"/>
    </p:embeddedFont>
    <p:embeddedFont>
      <p:font typeface="Cambria Bold" charset="1" panose="02040803050406030204"/>
      <p:regular r:id="rId59"/>
    </p:embeddedFont>
    <p:embeddedFont>
      <p:font typeface="Calibri (MS)" charset="1" panose="020F0502020204030204"/>
      <p:regular r:id="rId60"/>
    </p:embeddedFont>
    <p:embeddedFont>
      <p:font typeface="Calibri (MS) Bold" charset="1" panose="020F0702030404030204"/>
      <p:regular r:id="rId61"/>
    </p:embeddedFont>
    <p:embeddedFont>
      <p:font typeface="Courier New Bold" charset="1" panose="02070609020205020404"/>
      <p:regular r:id="rId62"/>
    </p:embeddedFont>
    <p:embeddedFont>
      <p:font typeface="Calibri (MS) Italics" charset="1" panose="020F05020202040A0204"/>
      <p:regular r:id="rId67"/>
    </p:embeddedFont>
    <p:embeddedFont>
      <p:font typeface="Heading Now 11-18 Bold" charset="1" panose="00000000000000000000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notesMasters/notesMaster1.xml" Type="http://schemas.openxmlformats.org/officeDocument/2006/relationships/notesMaster"/><Relationship Id="rId64" Target="theme/theme2.xml" Type="http://schemas.openxmlformats.org/officeDocument/2006/relationships/theme"/><Relationship Id="rId65" Target="notesSlides/notesSlide1.xml" Type="http://schemas.openxmlformats.org/officeDocument/2006/relationships/notesSlide"/><Relationship Id="rId66" Target="notesSlides/notesSlide2.xml" Type="http://schemas.openxmlformats.org/officeDocument/2006/relationships/notesSlide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8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8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66487" y="5813789"/>
            <a:ext cx="7969449" cy="3984725"/>
          </a:xfrm>
          <a:custGeom>
            <a:avLst/>
            <a:gdLst/>
            <a:ahLst/>
            <a:cxnLst/>
            <a:rect r="r" b="b" t="t" l="l"/>
            <a:pathLst>
              <a:path h="3984725" w="7969449">
                <a:moveTo>
                  <a:pt x="0" y="0"/>
                </a:moveTo>
                <a:lnTo>
                  <a:pt x="7969449" y="0"/>
                </a:lnTo>
                <a:lnTo>
                  <a:pt x="7969449" y="3984725"/>
                </a:lnTo>
                <a:lnTo>
                  <a:pt x="0" y="3984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0850" y="276224"/>
            <a:ext cx="8797290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4" indent="-485772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4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Package Managers &amp; Dependencies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6710" y="7485395"/>
            <a:ext cx="8028281" cy="85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examples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l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odash, axios, express, react, lucide-react, bootstrap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9987" y="1652091"/>
            <a:ext cx="17668013" cy="477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Imagine I'm building a website and I need a date picker, ic</a:t>
            </a: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ons, animations, etc. Am I supposed to write all of that from scratch?"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No.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Someone has already written the code → package/library.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Then: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Package -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 reusable piece of code that someone else has created and published.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8444" y="2051487"/>
            <a:ext cx="13596976" cy="7649903"/>
          </a:xfrm>
          <a:custGeom>
            <a:avLst/>
            <a:gdLst/>
            <a:ahLst/>
            <a:cxnLst/>
            <a:rect r="r" b="b" t="t" l="l"/>
            <a:pathLst>
              <a:path h="7649903" w="13596976">
                <a:moveTo>
                  <a:pt x="0" y="0"/>
                </a:moveTo>
                <a:lnTo>
                  <a:pt x="13596976" y="0"/>
                </a:lnTo>
                <a:lnTo>
                  <a:pt x="13596976" y="7649903"/>
                </a:lnTo>
                <a:lnTo>
                  <a:pt x="0" y="7649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603" y="2649440"/>
            <a:ext cx="3947517" cy="434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7"/>
              </a:lnSpc>
              <a:spcBef>
                <a:spcPct val="0"/>
              </a:spcBef>
            </a:pPr>
          </a:p>
          <a:p>
            <a:pPr algn="l">
              <a:lnSpc>
                <a:spcPts val="4677"/>
              </a:lnSpc>
              <a:spcBef>
                <a:spcPct val="0"/>
              </a:spcBef>
            </a:pP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JavaScript / Node.js: npm , pnpm, Bun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Python: pip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Java: Maven · Gradle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PHP: Composer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Rust: Cargo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.NET / C#: NuGet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Ruby: RubyGems</a:t>
            </a:r>
          </a:p>
          <a:p>
            <a:pPr algn="l">
              <a:lnSpc>
                <a:spcPts val="467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940147" y="604810"/>
            <a:ext cx="6129576" cy="76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  <a:spcBef>
                <a:spcPct val="0"/>
              </a:spcBef>
            </a:pPr>
            <a:r>
              <a:rPr lang="en-US" sz="4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Popular package managers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952054" y="343462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075687" y="2616269"/>
            <a:ext cx="13991" cy="7993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5952054" y="3434621"/>
            <a:ext cx="19050" cy="9991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2406197" y="3434984"/>
            <a:ext cx="19050" cy="9991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79345" y="128598"/>
            <a:ext cx="3129309" cy="1211896"/>
          </a:xfrm>
          <a:custGeom>
            <a:avLst/>
            <a:gdLst/>
            <a:ahLst/>
            <a:cxnLst/>
            <a:rect r="r" b="b" t="t" l="l"/>
            <a:pathLst>
              <a:path h="1211896" w="3129309">
                <a:moveTo>
                  <a:pt x="0" y="0"/>
                </a:moveTo>
                <a:lnTo>
                  <a:pt x="3129310" y="0"/>
                </a:lnTo>
                <a:lnTo>
                  <a:pt x="3129310" y="1211896"/>
                </a:lnTo>
                <a:lnTo>
                  <a:pt x="0" y="1211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38769" y="1561027"/>
            <a:ext cx="3098721" cy="43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sz="25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Node Package manager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8769" y="1933191"/>
            <a:ext cx="8430688" cy="59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is a standard package manager for Node.js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8769" y="5736397"/>
            <a:ext cx="4747371" cy="30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 It helps us:</a:t>
            </a:r>
          </a:p>
          <a:p>
            <a:pPr algn="l" marL="530391" indent="-265196" lvl="1">
              <a:lnSpc>
                <a:spcPts val="3439"/>
              </a:lnSpc>
              <a:buFont typeface="Arial"/>
              <a:buChar char="•"/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install packages</a:t>
            </a:r>
          </a:p>
          <a:p>
            <a:pPr algn="l" marL="530391" indent="-265196" lvl="1">
              <a:lnSpc>
                <a:spcPts val="3439"/>
              </a:lnSpc>
              <a:buFont typeface="Arial"/>
              <a:buChar char="•"/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remove packages</a:t>
            </a:r>
          </a:p>
          <a:p>
            <a:pPr algn="l" marL="530391" indent="-265196" lvl="1">
              <a:lnSpc>
                <a:spcPts val="3439"/>
              </a:lnSpc>
              <a:buFont typeface="Arial"/>
              <a:buChar char="•"/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manage package versions</a:t>
            </a:r>
          </a:p>
          <a:p>
            <a:pPr algn="l" marL="530391" indent="-265196" lvl="1">
              <a:lnSpc>
                <a:spcPts val="3439"/>
              </a:lnSpc>
              <a:buFont typeface="Arial"/>
              <a:buChar char="•"/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run project commands</a:t>
            </a:r>
          </a:p>
          <a:p>
            <a:pPr algn="l" marL="530391" indent="-265196" lvl="1">
              <a:lnSpc>
                <a:spcPts val="3439"/>
              </a:lnSpc>
              <a:buFont typeface="Arial"/>
              <a:buChar char="•"/>
            </a:pPr>
            <a:r>
              <a:rPr lang="en-US" sz="2456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keep track of dependencies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402082" y="4558500"/>
            <a:ext cx="3491032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Liabrary of packages 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    express.js, react.js etc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5173" y="4590224"/>
            <a:ext cx="4210127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Npm is a command line tool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8007" y="5371354"/>
            <a:ext cx="3507444" cy="128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we can install packages, use them through command lines.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3657" y="9071413"/>
            <a:ext cx="4540687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installation - Preinstalled with Node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76245" y="266645"/>
            <a:ext cx="3135511" cy="76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  <a:spcBef>
                <a:spcPct val="0"/>
              </a:spcBef>
            </a:pPr>
            <a:r>
              <a:rPr lang="en-US" sz="4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Dependancies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50601" y="1753417"/>
            <a:ext cx="13186797" cy="121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 dependency is a</a:t>
            </a: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package/library that our project needs to work or provide some functionality.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50601" y="6274187"/>
            <a:ext cx="9362718" cy="283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  <a:spcBef>
                <a:spcPct val="0"/>
              </a:spcBef>
            </a:pPr>
            <a:r>
              <a:rPr lang="en-US" sz="26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Package</a:t>
            </a:r>
            <a:r>
              <a:rPr lang="en-US" sz="26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vs Dependency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  <a:p>
            <a:pPr algn="l" marL="582473" indent="-291237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Package → reusable code that can be installed.</a:t>
            </a:r>
          </a:p>
          <a:p>
            <a:pPr algn="l" marL="582473" indent="-291237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Dependency → package that your particular project depends on.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280108"/>
            <a:ext cx="4798457" cy="304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express</a:t>
            </a:r>
          </a:p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↓</a:t>
            </a:r>
          </a:p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Package</a:t>
            </a:r>
          </a:p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↓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Installed in y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our project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↓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Now it is a Dependency of your project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69308" y="1390736"/>
            <a:ext cx="4097157" cy="696517"/>
          </a:xfrm>
          <a:custGeom>
            <a:avLst/>
            <a:gdLst/>
            <a:ahLst/>
            <a:cxnLst/>
            <a:rect r="r" b="b" t="t" l="l"/>
            <a:pathLst>
              <a:path h="696517" w="4097157">
                <a:moveTo>
                  <a:pt x="0" y="0"/>
                </a:moveTo>
                <a:lnTo>
                  <a:pt x="4097157" y="0"/>
                </a:lnTo>
                <a:lnTo>
                  <a:pt x="4097157" y="696517"/>
                </a:lnTo>
                <a:lnTo>
                  <a:pt x="0" y="696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2402" y="3121219"/>
            <a:ext cx="1224319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When you install  a package using npm, three important files/ folders are involved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61041"/>
            <a:ext cx="16818233" cy="260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node_modules  -  Stores the actual installed packages and their dependancies</a:t>
            </a:r>
          </a:p>
          <a:p>
            <a:pPr algn="l">
              <a:lnSpc>
                <a:spcPts val="3497"/>
              </a:lnSpc>
            </a:pPr>
          </a:p>
          <a:p>
            <a:pPr algn="l" marL="539294" indent="-269647" lvl="1">
              <a:lnSpc>
                <a:spcPts val="3497"/>
              </a:lnSpc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package.json  -   Contains the project details and lists the required dependancies</a:t>
            </a:r>
          </a:p>
          <a:p>
            <a:pPr algn="l">
              <a:lnSpc>
                <a:spcPts val="3497"/>
              </a:lnSpc>
            </a:pP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package-lock.json  -  Records the exact versions of installed packages and their dependancy tree i.e its subdependancies and their versions </a:t>
            </a:r>
          </a:p>
        </p:txBody>
      </p:sp>
      <p:sp>
        <p:nvSpPr>
          <p:cNvPr name="AutoShape 5" id="5"/>
          <p:cNvSpPr/>
          <p:nvPr/>
        </p:nvSpPr>
        <p:spPr>
          <a:xfrm>
            <a:off x="3022402" y="3597523"/>
            <a:ext cx="122431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11200" y="4398044"/>
            <a:ext cx="181211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11200" y="5300918"/>
            <a:ext cx="181211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11200" y="6205793"/>
            <a:ext cx="227162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802695" y="266645"/>
            <a:ext cx="4538186" cy="76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  <a:spcBef>
                <a:spcPct val="0"/>
              </a:spcBef>
            </a:pPr>
            <a:r>
              <a:rPr lang="en-US" sz="4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Installing Packages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26135" y="1553826"/>
            <a:ext cx="2633165" cy="101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npmjs.com</a:t>
            </a:r>
          </a:p>
          <a:p>
            <a:pPr algn="l">
              <a:lnSpc>
                <a:spcPts val="419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562099" y="2160251"/>
            <a:ext cx="2111573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search packages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9353" y="1324061"/>
            <a:ext cx="5364361" cy="59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install &lt;- package name-&gt;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1710" y="2041666"/>
            <a:ext cx="2641402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Demo 1 - install figlet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71948" y="7633016"/>
            <a:ext cx="16818233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node modules[delete] ---&gt; dependancies[delete] ---&gt; running code may cause errors  ( as req modules such as figlet, cannot be found)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3112" y="8183146"/>
            <a:ext cx="9624179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To fix this, we can restore the dependancies ----------&gt; npm install command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1948" y="9234124"/>
            <a:ext cx="16894516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Running npm install reads the dependancies listed in package.json and reinstalls them, creating node modules folder again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57044" y="266645"/>
            <a:ext cx="1819632" cy="76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  <a:spcBef>
                <a:spcPct val="0"/>
              </a:spcBef>
            </a:pPr>
            <a:r>
              <a:rPr lang="en-US" sz="4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2417"/>
            <a:ext cx="8449985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</a:t>
            </a: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init is basically “create a new Node.js project here.”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5954" y="2946373"/>
            <a:ext cx="3492698" cy="435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init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will ask for details like: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Project name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Version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Description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Entry point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Author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License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51354" y="2978096"/>
            <a:ext cx="3492698" cy="216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init -y</a:t>
            </a:r>
          </a:p>
          <a:p>
            <a:pPr algn="l">
              <a:lnSpc>
                <a:spcPts val="3497"/>
              </a:lnSpc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→ defa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ult values are automatically accepted.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41720" y="8407346"/>
            <a:ext cx="8111966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init → initialize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project interactively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init -y → initialize project with default values automatically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2501" y="3197171"/>
            <a:ext cx="4716955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npm init tells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npm: “This is a new project that I want you to manage.”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3534" y="5767814"/>
            <a:ext cx="6055766" cy="128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It sets 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up/initializes a project as an npm project so that npm can manage its packages and dependencies.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2287" y="4000182"/>
            <a:ext cx="3889768" cy="205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73"/>
              </a:lnSpc>
              <a:spcBef>
                <a:spcPct val="0"/>
              </a:spcBef>
            </a:pPr>
            <a:r>
              <a:rPr lang="en-US" sz="12195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↓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08946" y="3641698"/>
            <a:ext cx="7091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4669627" y="2702674"/>
            <a:ext cx="0" cy="43542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256806" y="3874125"/>
            <a:ext cx="6875705" cy="4583804"/>
          </a:xfrm>
          <a:custGeom>
            <a:avLst/>
            <a:gdLst/>
            <a:ahLst/>
            <a:cxnLst/>
            <a:rect r="r" b="b" t="t" l="l"/>
            <a:pathLst>
              <a:path h="4583804" w="6875705">
                <a:moveTo>
                  <a:pt x="0" y="0"/>
                </a:moveTo>
                <a:lnTo>
                  <a:pt x="6875705" y="0"/>
                </a:lnTo>
                <a:lnTo>
                  <a:pt x="6875705" y="4583803"/>
                </a:lnTo>
                <a:lnTo>
                  <a:pt x="0" y="4583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95672" y="257176"/>
            <a:ext cx="639797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60" indent="-485780" lvl="1">
              <a:lnSpc>
                <a:spcPts val="6300"/>
              </a:lnSpc>
              <a:buAutoNum type="arabicPeriod" startAt="1"/>
            </a:pPr>
            <a:r>
              <a:rPr lang="en-US" sz="4500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Styling (CSS in reactjs)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161D27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35664"/>
            <a:ext cx="7665958" cy="25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React pr</a:t>
            </a: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ovides multiple ways to style components:</a:t>
            </a:r>
          </a:p>
          <a:p>
            <a:pPr algn="l" marL="647242" indent="-323621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Stylesheets</a:t>
            </a:r>
          </a:p>
          <a:p>
            <a:pPr algn="l" marL="647242" indent="-323621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Inline Styling</a:t>
            </a:r>
          </a:p>
          <a:p>
            <a:pPr algn="l" marL="647242" indent="-323621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Modules</a:t>
            </a:r>
          </a:p>
          <a:p>
            <a:pPr algn="l">
              <a:lnSpc>
                <a:spcPts val="41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3248"/>
            <a:ext cx="2622590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CSS stylesheets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7031" y="1410418"/>
            <a:ext cx="5125013" cy="915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can be written in a separate .css file and imported into the React component.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import "./App.css";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&lt;h1 className="title"&gt;Hello&lt;/h1&gt;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.title {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col</a:t>
            </a: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or: blue;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}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How it works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App.jsx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↓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import "./App.css"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↓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className="title"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↓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.title { ... }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</a:p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Key point: Normal CSS classes are generally global, so the same class name can affect multiple components.</a:t>
            </a:r>
          </a:p>
          <a:p>
            <a:pPr algn="l">
              <a:lnSpc>
                <a:spcPts val="281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99308" y="2131629"/>
            <a:ext cx="4898227" cy="663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Styles can be written directly inside JSX </a:t>
            </a: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using the style attribute.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</a:p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&lt;h1 style={{ color: "blue", fontSize: "30px" }}&gt;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Hello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&lt;/h1&gt;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</a:p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Advantages</a:t>
            </a:r>
          </a:p>
          <a:p>
            <a:pPr algn="l" marL="548130" indent="-274065" lvl="1">
              <a:lnSpc>
                <a:spcPts val="3554"/>
              </a:lnSpc>
              <a:spcBef>
                <a:spcPct val="0"/>
              </a:spcBef>
              <a:buFont typeface="Arial"/>
              <a:buChar char="•"/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Quick and simple</a:t>
            </a:r>
          </a:p>
          <a:p>
            <a:pPr algn="l" marL="548130" indent="-274065" lvl="1">
              <a:lnSpc>
                <a:spcPts val="3554"/>
              </a:lnSpc>
              <a:spcBef>
                <a:spcPct val="0"/>
              </a:spcBef>
              <a:buFont typeface="Arial"/>
              <a:buChar char="•"/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Useful for small, specific styles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Limitation</a:t>
            </a:r>
          </a:p>
          <a:p>
            <a:pPr algn="l" marL="548130" indent="-274065" lvl="1">
              <a:lnSpc>
                <a:spcPts val="3554"/>
              </a:lnSpc>
              <a:spcBef>
                <a:spcPct val="0"/>
              </a:spcBef>
              <a:buFont typeface="Arial"/>
              <a:buChar char="•"/>
            </a:pPr>
            <a:r>
              <a:rPr lang="en-US" sz="2538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Can make JSX messy when there are many styles.</a:t>
            </a:r>
          </a:p>
          <a:p>
            <a:pPr algn="l">
              <a:lnSpc>
                <a:spcPts val="355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122312" y="803248"/>
            <a:ext cx="2158246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Inline styling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51581" y="803248"/>
            <a:ext cx="2122884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53099" y="1599716"/>
            <a:ext cx="4882433" cy="626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</a:t>
            </a: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odules make CSS scoped to a component, helping prevent style conflicts.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Card.module.css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.title {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color: blue;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}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Card.jsx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import styles from "./Card.module.css";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&lt;h1 className={styles.title}&gt;Hello&lt;/h1&gt;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-900196" y="133704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795760" y="135609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027098" y="1270372"/>
            <a:ext cx="642647" cy="173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5059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↓</a:t>
            </a:r>
          </a:p>
          <a:p>
            <a:pPr algn="l">
              <a:lnSpc>
                <a:spcPts val="7082"/>
              </a:lnSpc>
              <a:spcBef>
                <a:spcPct val="0"/>
              </a:spcBef>
            </a:pPr>
          </a:p>
        </p:txBody>
      </p:sp>
      <p:sp>
        <p:nvSpPr>
          <p:cNvPr name="AutoShape 12" id="12"/>
          <p:cNvSpPr/>
          <p:nvPr/>
        </p:nvSpPr>
        <p:spPr>
          <a:xfrm flipV="true">
            <a:off x="6883386" y="1337047"/>
            <a:ext cx="29300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874466" y="3056063"/>
            <a:ext cx="2796295" cy="241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N</a:t>
            </a: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ormal CSS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Card       → .title ─┐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                    ├→ same/global CSS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Profile    → .title ─┘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Modules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Card       → styles.title → Card.module.css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25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Profile    → styles.title → Profile.module.css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3099" y="8587120"/>
            <a:ext cx="5247498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odules = Same class name + separate components + isolated styles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655" y="185656"/>
            <a:ext cx="5173504" cy="59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CSS modules with an example</a:t>
            </a:r>
          </a:p>
        </p:txBody>
      </p:sp>
      <p:sp>
        <p:nvSpPr>
          <p:cNvPr name="AutoShape 3" id="3"/>
          <p:cNvSpPr/>
          <p:nvPr/>
        </p:nvSpPr>
        <p:spPr>
          <a:xfrm>
            <a:off x="301655" y="782610"/>
            <a:ext cx="51735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67715" y="1269323"/>
            <a:ext cx="12291585" cy="6671559"/>
          </a:xfrm>
          <a:custGeom>
            <a:avLst/>
            <a:gdLst/>
            <a:ahLst/>
            <a:cxnLst/>
            <a:rect r="r" b="b" t="t" l="l"/>
            <a:pathLst>
              <a:path h="6671559" w="12291585">
                <a:moveTo>
                  <a:pt x="0" y="0"/>
                </a:moveTo>
                <a:lnTo>
                  <a:pt x="12291585" y="0"/>
                </a:lnTo>
                <a:lnTo>
                  <a:pt x="12291585" y="6671560"/>
                </a:lnTo>
                <a:lnTo>
                  <a:pt x="0" y="6671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79" r="0" b="-5955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01077" y="1571999"/>
            <a:ext cx="5259705" cy="654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 A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RoomA.m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odule.css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.chair {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background: blue;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}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RoomA.jsx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import styles from "./RoomA.module.css";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&lt;h1 className={styles.chair}&gt;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Chair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&lt;/h1&gt;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2656" y="1571999"/>
            <a:ext cx="3363984" cy="786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👉 CSS Modules automatically makes the class unique/scoped internally.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Conceptually: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 A: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.chair → .RoomA_chair_x7k2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 B: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.chair → .RoomB_chair_p9m4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837269" y="1571999"/>
            <a:ext cx="5235416" cy="654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 B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RoomB.m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odule.css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.chair {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background: red;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}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RoomB.jsx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import styles from "./RoomB.module.css";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&lt;h1 className={styles.chair}&gt;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  Chair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&lt;/h1&gt;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30783" y="8315993"/>
            <a:ext cx="7024194" cy="18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className={styles.chai</a:t>
            </a:r>
            <a:r>
              <a:rPr lang="en-US" sz="212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r}</a:t>
            </a:r>
          </a:p>
          <a:p>
            <a:pPr algn="l">
              <a:lnSpc>
                <a:spcPts val="2972"/>
              </a:lnSpc>
              <a:spcBef>
                <a:spcPct val="0"/>
              </a:spcBef>
            </a:pPr>
          </a:p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It means:</a:t>
            </a:r>
          </a:p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3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Use the chair style from the CSS Module that I imported as styles.</a:t>
            </a:r>
          </a:p>
          <a:p>
            <a:pPr algn="l">
              <a:lnSpc>
                <a:spcPts val="2972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4967715" y="1269323"/>
            <a:ext cx="12185097" cy="38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020959" y="7940883"/>
            <a:ext cx="121850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0841865" y="1307423"/>
            <a:ext cx="0" cy="66334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5074203" y="1976024"/>
            <a:ext cx="121850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967715" y="4342697"/>
            <a:ext cx="122915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2570"/>
            <a:ext cx="18734361" cy="10529570"/>
          </a:xfrm>
          <a:custGeom>
            <a:avLst/>
            <a:gdLst/>
            <a:ahLst/>
            <a:cxnLst/>
            <a:rect r="r" b="b" t="t" l="l"/>
            <a:pathLst>
              <a:path h="10529570" w="18734361">
                <a:moveTo>
                  <a:pt x="0" y="0"/>
                </a:moveTo>
                <a:lnTo>
                  <a:pt x="18734361" y="0"/>
                </a:lnTo>
                <a:lnTo>
                  <a:pt x="18734361" y="10529570"/>
                </a:lnTo>
                <a:lnTo>
                  <a:pt x="0" y="10529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561" t="-1205" r="-561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963631" y="2670508"/>
            <a:ext cx="909958" cy="90995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63631" y="4676788"/>
            <a:ext cx="909958" cy="9099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17163" y="6683069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3506" y="3395728"/>
            <a:ext cx="7315200" cy="3986784"/>
          </a:xfrm>
          <a:custGeom>
            <a:avLst/>
            <a:gdLst/>
            <a:ahLst/>
            <a:cxnLst/>
            <a:rect r="r" b="b" t="t" l="l"/>
            <a:pathLst>
              <a:path h="3986784" w="7315200">
                <a:moveTo>
                  <a:pt x="0" y="0"/>
                </a:moveTo>
                <a:lnTo>
                  <a:pt x="7315200" y="0"/>
                </a:lnTo>
                <a:lnTo>
                  <a:pt x="7315200" y="3986784"/>
                </a:lnTo>
                <a:lnTo>
                  <a:pt x="0" y="3986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62671" y="561865"/>
            <a:ext cx="1453069" cy="1453069"/>
          </a:xfrm>
          <a:custGeom>
            <a:avLst/>
            <a:gdLst/>
            <a:ahLst/>
            <a:cxnLst/>
            <a:rect r="r" b="b" t="t" l="l"/>
            <a:pathLst>
              <a:path h="1453069" w="1453069">
                <a:moveTo>
                  <a:pt x="0" y="0"/>
                </a:moveTo>
                <a:lnTo>
                  <a:pt x="1453069" y="0"/>
                </a:lnTo>
                <a:lnTo>
                  <a:pt x="1453069" y="1453069"/>
                </a:lnTo>
                <a:lnTo>
                  <a:pt x="0" y="1453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44000" y="2579070"/>
            <a:ext cx="8307875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0"/>
              </a:lnSpc>
            </a:pPr>
            <a:r>
              <a:rPr lang="en-US" sz="2500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Tailwind CSS is a utility-first CSS framework that provides ready-made classes like flex, p-4, text-center, and bg-blue-500 to style websites quickly.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0099" y="275909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161D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787225"/>
            <a:ext cx="8307875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0"/>
              </a:lnSpc>
            </a:pPr>
            <a:r>
              <a:rPr lang="en-US" sz="2500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Instead of writing separate CSS rules, we combine these utility classes directly in HTML or React JSX to create the desired design.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0099" y="477710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161D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6589712"/>
            <a:ext cx="8307875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It makes styling faster, responsive, and easier to manage, especially when building modern UIs.</a:t>
            </a:r>
          </a:p>
          <a:p>
            <a:pPr algn="l">
              <a:lnSpc>
                <a:spcPts val="4160"/>
              </a:lnSpc>
            </a:pPr>
          </a:p>
          <a:p>
            <a:pPr algn="l" marL="0" indent="0" lvl="0">
              <a:lnSpc>
                <a:spcPts val="416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010099" y="6773547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161D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3487" y="767672"/>
            <a:ext cx="3449360" cy="93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6978" indent="-593489" lvl="1">
              <a:lnSpc>
                <a:spcPts val="7696"/>
              </a:lnSpc>
              <a:spcBef>
                <a:spcPct val="0"/>
              </a:spcBef>
              <a:buAutoNum type="arabicPeriod" startAt="1"/>
            </a:pPr>
            <a:r>
              <a:rPr lang="en-US" sz="5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Tailwind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6019" y="3855668"/>
            <a:ext cx="4250174" cy="304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flex → Flexb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ox layout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p-4 → Padding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m-4 → Margin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text-xl → Text size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bg-blue-500 → Background color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rounded-lg → Rounded corners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98526" y="371346"/>
            <a:ext cx="510612" cy="505506"/>
          </a:xfrm>
          <a:custGeom>
            <a:avLst/>
            <a:gdLst/>
            <a:ahLst/>
            <a:cxnLst/>
            <a:rect r="r" b="b" t="t" l="l"/>
            <a:pathLst>
              <a:path h="505506" w="510612">
                <a:moveTo>
                  <a:pt x="0" y="0"/>
                </a:moveTo>
                <a:lnTo>
                  <a:pt x="510611" y="0"/>
                </a:lnTo>
                <a:lnTo>
                  <a:pt x="510611" y="505505"/>
                </a:lnTo>
                <a:lnTo>
                  <a:pt x="0" y="505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6811" y="3202214"/>
            <a:ext cx="9710695" cy="6056086"/>
          </a:xfrm>
          <a:custGeom>
            <a:avLst/>
            <a:gdLst/>
            <a:ahLst/>
            <a:cxnLst/>
            <a:rect r="r" b="b" t="t" l="l"/>
            <a:pathLst>
              <a:path h="6056086" w="9710695">
                <a:moveTo>
                  <a:pt x="0" y="0"/>
                </a:moveTo>
                <a:lnTo>
                  <a:pt x="9710695" y="0"/>
                </a:lnTo>
                <a:lnTo>
                  <a:pt x="9710695" y="6056086"/>
                </a:lnTo>
                <a:lnTo>
                  <a:pt x="0" y="6056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819" t="0" r="-2186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6811" y="696885"/>
            <a:ext cx="4759285" cy="59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Using Tailwind through CDN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09137" y="333246"/>
            <a:ext cx="1447205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Tailwindcss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43161" y="1999266"/>
            <a:ext cx="11801678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Fl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ow: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Add CDN script → Tailwind loads in browser → use utility classes → UI gets styled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8959" y="5587589"/>
            <a:ext cx="7155576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CDN means C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ontent Delivery Network. It lets us use Tailwind without installing or configuring it locally.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8959" y="7343296"/>
            <a:ext cx="7155576" cy="8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AutoNum type="arabicPeriod" startAt="1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Tailwind's Play CDN is mainly f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or development/testing and learning, not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16052"/>
            <a:ext cx="510612" cy="505506"/>
          </a:xfrm>
          <a:custGeom>
            <a:avLst/>
            <a:gdLst/>
            <a:ahLst/>
            <a:cxnLst/>
            <a:rect r="r" b="b" t="t" l="l"/>
            <a:pathLst>
              <a:path h="505506" w="510612">
                <a:moveTo>
                  <a:pt x="0" y="0"/>
                </a:moveTo>
                <a:lnTo>
                  <a:pt x="510612" y="0"/>
                </a:lnTo>
                <a:lnTo>
                  <a:pt x="510612" y="505505"/>
                </a:lnTo>
                <a:lnTo>
                  <a:pt x="0" y="505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2859" y="2541951"/>
            <a:ext cx="3400855" cy="508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sz="584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Typography</a:t>
            </a:r>
          </a:p>
          <a:p>
            <a:pPr algn="l">
              <a:lnSpc>
                <a:spcPts val="8177"/>
              </a:lnSpc>
            </a:pPr>
            <a:r>
              <a:rPr lang="en-US" sz="584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Styling</a:t>
            </a:r>
          </a:p>
          <a:p>
            <a:pPr algn="l">
              <a:lnSpc>
                <a:spcPts val="8177"/>
              </a:lnSpc>
            </a:pPr>
            <a:r>
              <a:rPr lang="en-US" sz="584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Colours </a:t>
            </a:r>
          </a:p>
          <a:p>
            <a:pPr algn="l">
              <a:lnSpc>
                <a:spcPts val="8177"/>
              </a:lnSpc>
            </a:pPr>
            <a:r>
              <a:rPr lang="en-US" sz="584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Spacing</a:t>
            </a:r>
          </a:p>
          <a:p>
            <a:pPr algn="l">
              <a:lnSpc>
                <a:spcPts val="8177"/>
              </a:lnSpc>
              <a:spcBef>
                <a:spcPct val="0"/>
              </a:spcBef>
            </a:pPr>
            <a:r>
              <a:rPr lang="en-US" sz="584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etc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1044" y="1308754"/>
            <a:ext cx="1503402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Tailwind.css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5248" y="8209958"/>
            <a:ext cx="2271593" cy="128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note- 1 rem=16px</a:t>
            </a:r>
          </a:p>
          <a:p>
            <a:pPr algn="l">
              <a:lnSpc>
                <a:spcPts val="3497"/>
              </a:lnSpc>
            </a:pPr>
            <a:r>
              <a:rPr lang="en-US" sz="2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           1 = 0.25 rem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           4 = 1 rem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8660" y="3374125"/>
            <a:ext cx="11310680" cy="3873520"/>
          </a:xfrm>
          <a:custGeom>
            <a:avLst/>
            <a:gdLst/>
            <a:ahLst/>
            <a:cxnLst/>
            <a:rect r="r" b="b" t="t" l="l"/>
            <a:pathLst>
              <a:path h="3873520" w="11310680">
                <a:moveTo>
                  <a:pt x="0" y="0"/>
                </a:moveTo>
                <a:lnTo>
                  <a:pt x="11310680" y="0"/>
                </a:lnTo>
                <a:lnTo>
                  <a:pt x="11310680" y="3873520"/>
                </a:lnTo>
                <a:lnTo>
                  <a:pt x="0" y="3873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76389" y="266645"/>
            <a:ext cx="2735223" cy="76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  <a:spcBef>
                <a:spcPct val="0"/>
              </a:spcBef>
            </a:pPr>
            <a:r>
              <a:rPr lang="en-US" sz="44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Breakpoints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1840" y="2640646"/>
            <a:ext cx="11310680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breakp</a:t>
            </a:r>
            <a:r>
              <a:rPr lang="en-US" sz="29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oint as a screen-width checkpoint where your design changes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92224" y="7447425"/>
            <a:ext cx="10410289" cy="216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text-sm → defa</a:t>
            </a: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ult/small screens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md:text-lg → when screen reaches the md breakpoint, text becomes large</a:t>
            </a:r>
          </a:p>
          <a:p>
            <a:pPr algn="l" marL="539294" indent="-269647" lvl="1">
              <a:lnSpc>
                <a:spcPts val="3497"/>
              </a:lnSpc>
              <a:spcBef>
                <a:spcPct val="0"/>
              </a:spcBef>
              <a:buFont typeface="Arial"/>
              <a:buChar char="•"/>
            </a:pPr>
            <a:r>
              <a:rPr lang="en-US" sz="2497">
                <a:solidFill>
                  <a:srgbClr val="161D27"/>
                </a:solidFill>
                <a:latin typeface="Dekko"/>
                <a:ea typeface="Dekko"/>
                <a:cs typeface="Dekko"/>
                <a:sym typeface="Dekko"/>
              </a:rPr>
              <a:t>lg:text-2xl → when screen reaches the lg breakpoint, text becomes even larger</a:t>
            </a:r>
          </a:p>
          <a:p>
            <a:pPr algn="l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72047" y="1834315"/>
            <a:ext cx="6902768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3A3F53"/>
                </a:solidFill>
                <a:latin typeface="Dekko"/>
                <a:ea typeface="Dekko"/>
                <a:cs typeface="Dekko"/>
                <a:sym typeface="Dekko"/>
              </a:rPr>
              <a:t>Breakp</a:t>
            </a:r>
            <a:r>
              <a:rPr lang="en-US" sz="2497">
                <a:solidFill>
                  <a:srgbClr val="3A3F53"/>
                </a:solidFill>
                <a:latin typeface="Dekko"/>
                <a:ea typeface="Dekko"/>
                <a:cs typeface="Dekko"/>
                <a:sym typeface="Dekko"/>
              </a:rPr>
              <a:t>oint = “At this screen width, change the styling.”</a:t>
            </a:r>
          </a:p>
        </p:txBody>
      </p:sp>
      <p:sp>
        <p:nvSpPr>
          <p:cNvPr name="Freeform 7" id="7"/>
          <p:cNvSpPr/>
          <p:nvPr/>
        </p:nvSpPr>
        <p:spPr>
          <a:xfrm>
            <a:off x="9433433" y="1158471"/>
            <a:ext cx="2956686" cy="719177"/>
          </a:xfrm>
          <a:custGeom>
            <a:avLst/>
            <a:gdLst/>
            <a:ahLst/>
            <a:cxnLst/>
            <a:rect r="r" b="b" t="t" l="l"/>
            <a:pathLst>
              <a:path h="719177" w="2956686">
                <a:moveTo>
                  <a:pt x="0" y="0"/>
                </a:moveTo>
                <a:lnTo>
                  <a:pt x="0" y="490577"/>
                </a:lnTo>
                <a:cubicBezTo>
                  <a:pt x="0" y="616829"/>
                  <a:pt x="102349" y="719177"/>
                  <a:pt x="228600" y="719177"/>
                </a:cubicBezTo>
                <a:lnTo>
                  <a:pt x="2954071" y="719177"/>
                </a:lnTo>
                <a:cubicBezTo>
                  <a:pt x="2954764" y="719177"/>
                  <a:pt x="2955429" y="718901"/>
                  <a:pt x="2955920" y="718411"/>
                </a:cubicBezTo>
                <a:cubicBezTo>
                  <a:pt x="2956411" y="717920"/>
                  <a:pt x="2956687" y="717254"/>
                  <a:pt x="2956687" y="716560"/>
                </a:cubicBezTo>
                <a:lnTo>
                  <a:pt x="2956687" y="713944"/>
                </a:lnTo>
              </a:path>
            </a:pathLst>
          </a:custGeom>
          <a:ln cap="flat" w="38100">
            <a:solidFill>
              <a:srgbClr val="0101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877711" y="4918048"/>
            <a:ext cx="1457801" cy="4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7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Screen-size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646" y="3407129"/>
            <a:ext cx="8536708" cy="5851171"/>
          </a:xfrm>
          <a:custGeom>
            <a:avLst/>
            <a:gdLst/>
            <a:ahLst/>
            <a:cxnLst/>
            <a:rect r="r" b="b" t="t" l="l"/>
            <a:pathLst>
              <a:path h="5851171" w="8536708">
                <a:moveTo>
                  <a:pt x="0" y="0"/>
                </a:moveTo>
                <a:lnTo>
                  <a:pt x="8536708" y="0"/>
                </a:lnTo>
                <a:lnTo>
                  <a:pt x="8536708" y="5851171"/>
                </a:lnTo>
                <a:lnTo>
                  <a:pt x="0" y="5851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4098" y="406817"/>
            <a:ext cx="4139803" cy="75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Tailwind in react.js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43197" y="2140872"/>
            <a:ext cx="13801606" cy="101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React all</a:t>
            </a:r>
            <a:r>
              <a:rPr lang="en-US" sz="2997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ows us to write HTML-like UI code using JSX. JSX makes it easier to describe what our UI should look like, while Tailwind is used to style that UI.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2980" y="2640330"/>
            <a:ext cx="9384158" cy="6279832"/>
            <a:chOff x="0" y="0"/>
            <a:chExt cx="2471548" cy="1653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1548" cy="1653948"/>
            </a:xfrm>
            <a:custGeom>
              <a:avLst/>
              <a:gdLst/>
              <a:ahLst/>
              <a:cxnLst/>
              <a:rect r="r" b="b" t="t" l="l"/>
              <a:pathLst>
                <a:path h="1653948" w="2471548">
                  <a:moveTo>
                    <a:pt x="42075" y="0"/>
                  </a:moveTo>
                  <a:lnTo>
                    <a:pt x="2429473" y="0"/>
                  </a:lnTo>
                  <a:cubicBezTo>
                    <a:pt x="2440632" y="0"/>
                    <a:pt x="2451334" y="4433"/>
                    <a:pt x="2459224" y="12323"/>
                  </a:cubicBezTo>
                  <a:cubicBezTo>
                    <a:pt x="2467115" y="20214"/>
                    <a:pt x="2471548" y="30916"/>
                    <a:pt x="2471548" y="42075"/>
                  </a:cubicBezTo>
                  <a:lnTo>
                    <a:pt x="2471548" y="1611873"/>
                  </a:lnTo>
                  <a:cubicBezTo>
                    <a:pt x="2471548" y="1623032"/>
                    <a:pt x="2467115" y="1633734"/>
                    <a:pt x="2459224" y="1641624"/>
                  </a:cubicBezTo>
                  <a:cubicBezTo>
                    <a:pt x="2451334" y="1649515"/>
                    <a:pt x="2440632" y="1653948"/>
                    <a:pt x="2429473" y="1653948"/>
                  </a:cubicBezTo>
                  <a:lnTo>
                    <a:pt x="42075" y="1653948"/>
                  </a:lnTo>
                  <a:cubicBezTo>
                    <a:pt x="30916" y="1653948"/>
                    <a:pt x="20214" y="1649515"/>
                    <a:pt x="12323" y="1641624"/>
                  </a:cubicBezTo>
                  <a:cubicBezTo>
                    <a:pt x="4433" y="1633734"/>
                    <a:pt x="0" y="1623032"/>
                    <a:pt x="0" y="1611873"/>
                  </a:cubicBezTo>
                  <a:lnTo>
                    <a:pt x="0" y="42075"/>
                  </a:lnTo>
                  <a:cubicBezTo>
                    <a:pt x="0" y="30916"/>
                    <a:pt x="4433" y="20214"/>
                    <a:pt x="12323" y="12323"/>
                  </a:cubicBezTo>
                  <a:cubicBezTo>
                    <a:pt x="20214" y="4433"/>
                    <a:pt x="30916" y="0"/>
                    <a:pt x="42075" y="0"/>
                  </a:cubicBezTo>
                  <a:close/>
                </a:path>
              </a:pathLst>
            </a:custGeom>
            <a:solidFill>
              <a:srgbClr val="E8EC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71548" cy="1672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8258" y="7154990"/>
            <a:ext cx="8444865" cy="1243965"/>
            <a:chOff x="0" y="0"/>
            <a:chExt cx="11259820" cy="1658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59820" cy="1658747"/>
            </a:xfrm>
            <a:custGeom>
              <a:avLst/>
              <a:gdLst/>
              <a:ahLst/>
              <a:cxnLst/>
              <a:rect r="r" b="b" t="t" l="l"/>
              <a:pathLst>
                <a:path h="1658747" w="1125982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10983341" y="0"/>
                  </a:lnTo>
                  <a:cubicBezTo>
                    <a:pt x="11135995" y="0"/>
                    <a:pt x="11259820" y="123825"/>
                    <a:pt x="11259820" y="276479"/>
                  </a:cubicBezTo>
                  <a:lnTo>
                    <a:pt x="11259820" y="1382268"/>
                  </a:lnTo>
                  <a:cubicBezTo>
                    <a:pt x="11259820" y="1534922"/>
                    <a:pt x="11135995" y="1658747"/>
                    <a:pt x="1098334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181F26"/>
            </a:solidFill>
            <a:ln w="9525" cap="sq">
              <a:solidFill>
                <a:srgbClr val="181F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68038" y="2532698"/>
            <a:ext cx="6387465" cy="6387465"/>
            <a:chOff x="0" y="0"/>
            <a:chExt cx="8516620" cy="8516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16620" cy="8516620"/>
            </a:xfrm>
            <a:custGeom>
              <a:avLst/>
              <a:gdLst/>
              <a:ahLst/>
              <a:cxnLst/>
              <a:rect r="r" b="b" t="t" l="l"/>
              <a:pathLst>
                <a:path h="8516620" w="8516620">
                  <a:moveTo>
                    <a:pt x="0" y="1419479"/>
                  </a:moveTo>
                  <a:cubicBezTo>
                    <a:pt x="0" y="635508"/>
                    <a:pt x="635508" y="0"/>
                    <a:pt x="1419479" y="0"/>
                  </a:cubicBezTo>
                  <a:lnTo>
                    <a:pt x="7097141" y="0"/>
                  </a:lnTo>
                  <a:cubicBezTo>
                    <a:pt x="7881112" y="0"/>
                    <a:pt x="8516620" y="635508"/>
                    <a:pt x="8516620" y="1419479"/>
                  </a:cubicBezTo>
                  <a:lnTo>
                    <a:pt x="8516620" y="7097141"/>
                  </a:lnTo>
                  <a:cubicBezTo>
                    <a:pt x="8516620" y="7881112"/>
                    <a:pt x="7881112" y="8516620"/>
                    <a:pt x="7097140" y="8516620"/>
                  </a:cubicBezTo>
                  <a:lnTo>
                    <a:pt x="1419479" y="8516620"/>
                  </a:lnTo>
                  <a:cubicBezTo>
                    <a:pt x="635508" y="8516620"/>
                    <a:pt x="0" y="7881112"/>
                    <a:pt x="0" y="7097141"/>
                  </a:cubicBezTo>
                  <a:close/>
                </a:path>
              </a:pathLst>
            </a:custGeom>
            <a:solidFill>
              <a:srgbClr val="0B0E14"/>
            </a:solidFill>
            <a:ln w="9525" cap="sq">
              <a:solidFill>
                <a:srgbClr val="0B0E1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448098" y="7607618"/>
            <a:ext cx="5084445" cy="695325"/>
            <a:chOff x="0" y="0"/>
            <a:chExt cx="6779260" cy="927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9260" cy="927100"/>
            </a:xfrm>
            <a:custGeom>
              <a:avLst/>
              <a:gdLst/>
              <a:ahLst/>
              <a:cxnLst/>
              <a:rect r="r" b="b" t="t" l="l"/>
              <a:pathLst>
                <a:path h="927100" w="677926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6624701" y="0"/>
                  </a:lnTo>
                  <a:cubicBezTo>
                    <a:pt x="6710045" y="0"/>
                    <a:pt x="6779260" y="69215"/>
                    <a:pt x="6779260" y="154559"/>
                  </a:cubicBezTo>
                  <a:lnTo>
                    <a:pt x="6779260" y="772541"/>
                  </a:lnTo>
                  <a:cubicBezTo>
                    <a:pt x="6779260" y="857885"/>
                    <a:pt x="6710045" y="927100"/>
                    <a:pt x="6624701" y="927100"/>
                  </a:cubicBezTo>
                  <a:lnTo>
                    <a:pt x="154559" y="927100"/>
                  </a:lnTo>
                  <a:cubicBezTo>
                    <a:pt x="69215" y="927100"/>
                    <a:pt x="0" y="857885"/>
                    <a:pt x="0" y="772541"/>
                  </a:cubicBezTo>
                  <a:close/>
                </a:path>
              </a:pathLst>
            </a:custGeom>
            <a:solidFill>
              <a:srgbClr val="00C2A8"/>
            </a:solidFill>
            <a:ln w="9525" cap="sq">
              <a:solidFill>
                <a:srgbClr val="00C2A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" y="525780"/>
            <a:ext cx="46177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C2A8"/>
                </a:solidFill>
                <a:latin typeface="Aptos Bold"/>
                <a:ea typeface="Aptos Bold"/>
                <a:cs typeface="Aptos Bold"/>
                <a:sym typeface="Aptos Bold"/>
              </a:rPr>
              <a:t>UI COMPONENT LIBRARIES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2980" y="1033272"/>
            <a:ext cx="427363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1A1F2B"/>
                </a:solidFill>
                <a:latin typeface="Aptos Bold"/>
                <a:ea typeface="Aptos Bold"/>
                <a:cs typeface="Aptos Bold"/>
                <a:sym typeface="Aptos Bold"/>
              </a:rPr>
              <a:t>Material UI (MUI)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980" y="1838325"/>
            <a:ext cx="80467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React components based on Material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4460" y="2994660"/>
            <a:ext cx="263282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A1F2B"/>
                </a:solidFill>
                <a:latin typeface="Aptos Bold"/>
                <a:ea typeface="Aptos Bold"/>
                <a:cs typeface="Aptos Bold"/>
                <a:sym typeface="Aptos Bold"/>
              </a:rPr>
              <a:t>What it provides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4460" y="3680460"/>
            <a:ext cx="825246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Ready-to-use React components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Buttons, forms, cards, dialogs, tables, etc.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Consistent Material Design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Customizable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Speeds up UI development</a:t>
            </a:r>
          </a:p>
          <a:p>
            <a:pPr algn="l">
              <a:lnSpc>
                <a:spcPts val="31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94460" y="6697980"/>
            <a:ext cx="1178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07A69"/>
                </a:solidFill>
                <a:latin typeface="Aptos Bold"/>
                <a:ea typeface="Aptos Bold"/>
                <a:cs typeface="Aptos Bold"/>
                <a:sym typeface="Aptos Bold"/>
              </a:rPr>
              <a:t>Example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9928" y="7415403"/>
            <a:ext cx="74980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variant="contained"&gt;\n  Click Me\n&lt;/Button&gt;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4300" y="3141345"/>
            <a:ext cx="489204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MUI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44300" y="4229100"/>
            <a:ext cx="489204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Ready-made\nReact components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44300" y="6276975"/>
            <a:ext cx="489204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EB6C4"/>
                </a:solidFill>
                <a:latin typeface="Aptos"/>
                <a:ea typeface="Aptos"/>
                <a:cs typeface="Aptos"/>
                <a:sym typeface="Aptos"/>
              </a:rPr>
              <a:t>Material Design  →  Faster UI development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18620" y="7781544"/>
            <a:ext cx="4343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B0E14"/>
                </a:solidFill>
                <a:latin typeface="Aptos Bold"/>
                <a:ea typeface="Aptos Bold"/>
                <a:cs typeface="Aptos Bold"/>
                <a:sym typeface="Aptos Bold"/>
              </a:rPr>
              <a:t>Build the UI, don't build every component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980" y="9801987"/>
            <a:ext cx="393192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Client-Side Data Fetching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67860" y="9801987"/>
            <a:ext cx="2971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25780"/>
            <a:ext cx="46177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C2A8"/>
                </a:solidFill>
                <a:latin typeface="Aptos Bold"/>
                <a:ea typeface="Aptos Bold"/>
                <a:cs typeface="Aptos Bold"/>
                <a:sym typeface="Aptos Bold"/>
              </a:rPr>
              <a:t>UI COMPONENT LIBRARIES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2980" y="1033272"/>
            <a:ext cx="259758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1A1F2B"/>
                </a:solidFill>
                <a:latin typeface="Aptos Bold"/>
                <a:ea typeface="Aptos Bold"/>
                <a:cs typeface="Aptos Bold"/>
                <a:sym typeface="Aptos Bold"/>
              </a:rPr>
              <a:t>shadcn/ui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2980" y="1838325"/>
            <a:ext cx="80467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Reusable components with direct customization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2980" y="2640330"/>
            <a:ext cx="9384158" cy="6279832"/>
            <a:chOff x="0" y="0"/>
            <a:chExt cx="2471548" cy="16539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1548" cy="1653948"/>
            </a:xfrm>
            <a:custGeom>
              <a:avLst/>
              <a:gdLst/>
              <a:ahLst/>
              <a:cxnLst/>
              <a:rect r="r" b="b" t="t" l="l"/>
              <a:pathLst>
                <a:path h="1653948" w="2471548">
                  <a:moveTo>
                    <a:pt x="42075" y="0"/>
                  </a:moveTo>
                  <a:lnTo>
                    <a:pt x="2429473" y="0"/>
                  </a:lnTo>
                  <a:cubicBezTo>
                    <a:pt x="2440632" y="0"/>
                    <a:pt x="2451334" y="4433"/>
                    <a:pt x="2459224" y="12323"/>
                  </a:cubicBezTo>
                  <a:cubicBezTo>
                    <a:pt x="2467115" y="20214"/>
                    <a:pt x="2471548" y="30916"/>
                    <a:pt x="2471548" y="42075"/>
                  </a:cubicBezTo>
                  <a:lnTo>
                    <a:pt x="2471548" y="1611873"/>
                  </a:lnTo>
                  <a:cubicBezTo>
                    <a:pt x="2471548" y="1623032"/>
                    <a:pt x="2467115" y="1633734"/>
                    <a:pt x="2459224" y="1641624"/>
                  </a:cubicBezTo>
                  <a:cubicBezTo>
                    <a:pt x="2451334" y="1649515"/>
                    <a:pt x="2440632" y="1653948"/>
                    <a:pt x="2429473" y="1653948"/>
                  </a:cubicBezTo>
                  <a:lnTo>
                    <a:pt x="42075" y="1653948"/>
                  </a:lnTo>
                  <a:cubicBezTo>
                    <a:pt x="30916" y="1653948"/>
                    <a:pt x="20214" y="1649515"/>
                    <a:pt x="12323" y="1641624"/>
                  </a:cubicBezTo>
                  <a:cubicBezTo>
                    <a:pt x="4433" y="1633734"/>
                    <a:pt x="0" y="1623032"/>
                    <a:pt x="0" y="1611873"/>
                  </a:cubicBezTo>
                  <a:lnTo>
                    <a:pt x="0" y="42075"/>
                  </a:lnTo>
                  <a:cubicBezTo>
                    <a:pt x="0" y="30916"/>
                    <a:pt x="4433" y="20214"/>
                    <a:pt x="12323" y="12323"/>
                  </a:cubicBezTo>
                  <a:cubicBezTo>
                    <a:pt x="20214" y="4433"/>
                    <a:pt x="30916" y="0"/>
                    <a:pt x="42075" y="0"/>
                  </a:cubicBezTo>
                  <a:close/>
                </a:path>
              </a:pathLst>
            </a:custGeom>
            <a:solidFill>
              <a:srgbClr val="E8EC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471548" cy="1672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4460" y="2994660"/>
            <a:ext cx="263282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A1F2B"/>
                </a:solidFill>
                <a:latin typeface="Aptos Bold"/>
                <a:ea typeface="Aptos Bold"/>
                <a:cs typeface="Aptos Bold"/>
                <a:sym typeface="Aptos Bold"/>
              </a:rPr>
              <a:t>What it provides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4460" y="3680460"/>
            <a:ext cx="825246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R</a:t>
            </a: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eusable components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Highly customizable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Open component code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Works well with Tailwind CSS</a:t>
            </a: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Commonly used with modern React/Next.js projects</a:t>
            </a:r>
          </a:p>
          <a:p>
            <a:pPr algn="l">
              <a:lnSpc>
                <a:spcPts val="31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94460" y="6697980"/>
            <a:ext cx="1178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07A69"/>
                </a:solidFill>
                <a:latin typeface="Aptos Bold"/>
                <a:ea typeface="Aptos Bold"/>
                <a:cs typeface="Aptos Bold"/>
                <a:sym typeface="Aptos Bold"/>
              </a:rPr>
              <a:t>Example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8258" y="7154990"/>
            <a:ext cx="8444865" cy="1243965"/>
            <a:chOff x="0" y="0"/>
            <a:chExt cx="11259820" cy="1658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59820" cy="1658747"/>
            </a:xfrm>
            <a:custGeom>
              <a:avLst/>
              <a:gdLst/>
              <a:ahLst/>
              <a:cxnLst/>
              <a:rect r="r" b="b" t="t" l="l"/>
              <a:pathLst>
                <a:path h="1658747" w="1125982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10983341" y="0"/>
                  </a:lnTo>
                  <a:cubicBezTo>
                    <a:pt x="11135995" y="0"/>
                    <a:pt x="11259820" y="123825"/>
                    <a:pt x="11259820" y="276479"/>
                  </a:cubicBezTo>
                  <a:lnTo>
                    <a:pt x="11259820" y="1382268"/>
                  </a:lnTo>
                  <a:cubicBezTo>
                    <a:pt x="11259820" y="1534922"/>
                    <a:pt x="11135995" y="1658747"/>
                    <a:pt x="1098334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181F26"/>
            </a:solidFill>
            <a:ln w="9525" cap="sq">
              <a:solidFill>
                <a:srgbClr val="181F2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709928" y="7377303"/>
            <a:ext cx="749808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D7E4E2"/>
                </a:solidFill>
                <a:latin typeface="Consolas"/>
                <a:ea typeface="Consolas"/>
                <a:cs typeface="Consolas"/>
                <a:sym typeface="Consolas"/>
              </a:rPr>
              <a:t>&lt;Button variant="outline"&gt;\n  Click Me\n&lt;/Button&gt;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68038" y="2532698"/>
            <a:ext cx="6387465" cy="6387465"/>
            <a:chOff x="0" y="0"/>
            <a:chExt cx="8516620" cy="8516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16620" cy="8516620"/>
            </a:xfrm>
            <a:custGeom>
              <a:avLst/>
              <a:gdLst/>
              <a:ahLst/>
              <a:cxnLst/>
              <a:rect r="r" b="b" t="t" l="l"/>
              <a:pathLst>
                <a:path h="8516620" w="8516620">
                  <a:moveTo>
                    <a:pt x="0" y="1419479"/>
                  </a:moveTo>
                  <a:cubicBezTo>
                    <a:pt x="0" y="635508"/>
                    <a:pt x="635508" y="0"/>
                    <a:pt x="1419479" y="0"/>
                  </a:cubicBezTo>
                  <a:lnTo>
                    <a:pt x="7097141" y="0"/>
                  </a:lnTo>
                  <a:cubicBezTo>
                    <a:pt x="7881112" y="0"/>
                    <a:pt x="8516620" y="635508"/>
                    <a:pt x="8516620" y="1419479"/>
                  </a:cubicBezTo>
                  <a:lnTo>
                    <a:pt x="8516620" y="7097141"/>
                  </a:lnTo>
                  <a:cubicBezTo>
                    <a:pt x="8516620" y="7881112"/>
                    <a:pt x="7881112" y="8516620"/>
                    <a:pt x="7097140" y="8516620"/>
                  </a:cubicBezTo>
                  <a:lnTo>
                    <a:pt x="1419479" y="8516620"/>
                  </a:lnTo>
                  <a:cubicBezTo>
                    <a:pt x="635508" y="8516620"/>
                    <a:pt x="0" y="7881112"/>
                    <a:pt x="0" y="7097141"/>
                  </a:cubicBezTo>
                  <a:close/>
                </a:path>
              </a:pathLst>
            </a:custGeom>
            <a:solidFill>
              <a:srgbClr val="0B0E14"/>
            </a:solidFill>
            <a:ln w="9525" cap="sq">
              <a:solidFill>
                <a:srgbClr val="0B0E1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544300" y="3141345"/>
            <a:ext cx="489204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shadcn/ui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44300" y="4229100"/>
            <a:ext cx="48920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Reusable + customizable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4300" y="6276975"/>
            <a:ext cx="489204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EB6C4"/>
                </a:solidFill>
                <a:latin typeface="Aptos"/>
                <a:ea typeface="Aptos"/>
                <a:cs typeface="Aptos"/>
                <a:sym typeface="Aptos"/>
              </a:rPr>
              <a:t>Direct code ownership  →  More control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48098" y="7607618"/>
            <a:ext cx="5084445" cy="695325"/>
            <a:chOff x="0" y="0"/>
            <a:chExt cx="6779260" cy="92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79260" cy="927100"/>
            </a:xfrm>
            <a:custGeom>
              <a:avLst/>
              <a:gdLst/>
              <a:ahLst/>
              <a:cxnLst/>
              <a:rect r="r" b="b" t="t" l="l"/>
              <a:pathLst>
                <a:path h="927100" w="677926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6624701" y="0"/>
                  </a:lnTo>
                  <a:cubicBezTo>
                    <a:pt x="6710045" y="0"/>
                    <a:pt x="6779260" y="69215"/>
                    <a:pt x="6779260" y="154559"/>
                  </a:cubicBezTo>
                  <a:lnTo>
                    <a:pt x="6779260" y="772541"/>
                  </a:lnTo>
                  <a:cubicBezTo>
                    <a:pt x="6779260" y="857885"/>
                    <a:pt x="6710045" y="927100"/>
                    <a:pt x="6624701" y="927100"/>
                  </a:cubicBezTo>
                  <a:lnTo>
                    <a:pt x="154559" y="927100"/>
                  </a:lnTo>
                  <a:cubicBezTo>
                    <a:pt x="69215" y="927100"/>
                    <a:pt x="0" y="857885"/>
                    <a:pt x="0" y="772541"/>
                  </a:cubicBezTo>
                  <a:close/>
                </a:path>
              </a:pathLst>
            </a:custGeom>
            <a:solidFill>
              <a:srgbClr val="00C2A8"/>
            </a:solidFill>
            <a:ln w="9525" cap="sq">
              <a:solidFill>
                <a:srgbClr val="00C2A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818620" y="7781544"/>
            <a:ext cx="4343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B0E14"/>
                </a:solidFill>
                <a:latin typeface="Aptos Bold"/>
                <a:ea typeface="Aptos Bold"/>
                <a:cs typeface="Aptos Bold"/>
                <a:sym typeface="Aptos Bold"/>
              </a:rPr>
              <a:t>Customize the component to your needs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980" y="9801987"/>
            <a:ext cx="393192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Client-Side Data Fetching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67860" y="9801987"/>
            <a:ext cx="2971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87639" y="1186984"/>
            <a:ext cx="1055088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 to Next.js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5924" y="2411433"/>
            <a:ext cx="11538461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From JavaScript, to React, to Next.js - Building full web 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3613488"/>
            <a:ext cx="3956661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Next.js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13393"/>
            <a:ext cx="4572057" cy="294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174" indent="-280587" lvl="1">
              <a:lnSpc>
                <a:spcPts val="415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framework built on the top of react </a:t>
            </a:r>
          </a:p>
          <a:p>
            <a:pPr algn="l" marL="561174" indent="-280587" lvl="1">
              <a:lnSpc>
                <a:spcPts val="415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Adds ready-made tools : rendering, optimization and backend support </a:t>
            </a:r>
          </a:p>
          <a:p>
            <a:pPr algn="l">
              <a:lnSpc>
                <a:spcPts val="271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22434" y="3568085"/>
            <a:ext cx="4833608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Library vs.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72856" y="4534354"/>
            <a:ext cx="4843133" cy="31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React(a library) : gives you tools - you decide the structure</a:t>
            </a:r>
          </a:p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Next.js( a framework) : gives you structure AND Tools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13948" y="3613488"/>
            <a:ext cx="4833608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developers use 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8469" y="4534354"/>
            <a:ext cx="4843133" cy="31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Faster page loading </a:t>
            </a:r>
          </a:p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Built in support from SEO</a:t>
            </a:r>
          </a:p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Less manual setup and configuration </a:t>
            </a:r>
          </a:p>
          <a:p>
            <a:pPr algn="l" marL="561336" indent="-280668" lvl="1">
              <a:lnSpc>
                <a:spcPts val="415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Built frontend and backend in one project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721440" y="2604790"/>
          <a:ext cx="13112681" cy="6964324"/>
        </p:xfrm>
        <a:graphic>
          <a:graphicData uri="http://schemas.openxmlformats.org/drawingml/2006/table">
            <a:tbl>
              <a:tblPr/>
              <a:tblGrid>
                <a:gridCol w="4370894"/>
                <a:gridCol w="4370894"/>
                <a:gridCol w="4370894"/>
              </a:tblGrid>
              <a:tr h="135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Next.js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423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Library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Framework( built on react)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</a:t>
                      </a: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outing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et up manually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</a:t>
                      </a: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uilt in support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7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</a:t>
                      </a: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endering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</a:t>
                      </a: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lient side by default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multiple options (CSR, SSR, SSG)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Needs extra setup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asier built in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1938092" y="2765944"/>
            <a:ext cx="1081007" cy="1018849"/>
          </a:xfrm>
          <a:custGeom>
            <a:avLst/>
            <a:gdLst/>
            <a:ahLst/>
            <a:cxnLst/>
            <a:rect r="r" b="b" t="t" l="l"/>
            <a:pathLst>
              <a:path h="1018849" w="1081007">
                <a:moveTo>
                  <a:pt x="0" y="0"/>
                </a:moveTo>
                <a:lnTo>
                  <a:pt x="1081008" y="0"/>
                </a:lnTo>
                <a:lnTo>
                  <a:pt x="1081008" y="1018850"/>
                </a:lnTo>
                <a:lnTo>
                  <a:pt x="0" y="101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37012" y="2765944"/>
            <a:ext cx="1130152" cy="1018849"/>
          </a:xfrm>
          <a:custGeom>
            <a:avLst/>
            <a:gdLst/>
            <a:ahLst/>
            <a:cxnLst/>
            <a:rect r="r" b="b" t="t" l="l"/>
            <a:pathLst>
              <a:path h="1018849" w="1130152">
                <a:moveTo>
                  <a:pt x="0" y="0"/>
                </a:moveTo>
                <a:lnTo>
                  <a:pt x="1130152" y="0"/>
                </a:lnTo>
                <a:lnTo>
                  <a:pt x="1130152" y="1018850"/>
                </a:lnTo>
                <a:lnTo>
                  <a:pt x="0" y="1018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React vs. Next.js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817" y="2519065"/>
            <a:ext cx="2907642" cy="142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6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next.js is built on react - it adds extra built in capabilities</a:t>
            </a:r>
            <a:r>
              <a:rPr lang="en-US" sz="241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  <a:r>
              <a:rPr lang="en-US" sz="241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51472" y="2674320"/>
            <a:ext cx="909958" cy="90995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128109" y="4474570"/>
            <a:ext cx="909958" cy="9099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74577" y="6684962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8844" y="2617137"/>
            <a:ext cx="7453872" cy="4280235"/>
          </a:xfrm>
          <a:custGeom>
            <a:avLst/>
            <a:gdLst/>
            <a:ahLst/>
            <a:cxnLst/>
            <a:rect r="r" b="b" t="t" l="l"/>
            <a:pathLst>
              <a:path h="4280235" w="7453872">
                <a:moveTo>
                  <a:pt x="0" y="0"/>
                </a:moveTo>
                <a:lnTo>
                  <a:pt x="7453872" y="0"/>
                </a:lnTo>
                <a:lnTo>
                  <a:pt x="7453872" y="4280235"/>
                </a:lnTo>
                <a:lnTo>
                  <a:pt x="0" y="4280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226746" y="2236172"/>
            <a:ext cx="8307875" cy="169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npx create-next-app my-college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creats the new next.js project with the name my-college.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51472" y="2762904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360270"/>
            <a:ext cx="8307875" cy="112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cd my-college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Moves the terminal into the project folder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74577" y="453453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5917925"/>
            <a:ext cx="8307875" cy="225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nmp run dev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start the development server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 http://localhost:3000 in your browser to see your site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74577" y="6773547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2369" y="274655"/>
            <a:ext cx="920237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Set up of Next.js project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7131" y="378806"/>
            <a:ext cx="3842189" cy="9529388"/>
          </a:xfrm>
          <a:custGeom>
            <a:avLst/>
            <a:gdLst/>
            <a:ahLst/>
            <a:cxnLst/>
            <a:rect r="r" b="b" t="t" l="l"/>
            <a:pathLst>
              <a:path h="9529388" w="3842189">
                <a:moveTo>
                  <a:pt x="0" y="0"/>
                </a:moveTo>
                <a:lnTo>
                  <a:pt x="3842189" y="0"/>
                </a:lnTo>
                <a:lnTo>
                  <a:pt x="3842189" y="9529388"/>
                </a:lnTo>
                <a:lnTo>
                  <a:pt x="0" y="9529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877" y="145564"/>
            <a:ext cx="1194847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Next.js Project Structure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7877" y="1455206"/>
            <a:ext cx="1112238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After creating the project, Next.js given a ready-to-use folder structure. We add components folder to keep reusable react components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7877" y="2905308"/>
            <a:ext cx="10197367" cy="727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Important Folders and files-</a:t>
            </a:r>
          </a:p>
          <a:p>
            <a:pPr algn="l">
              <a:lnSpc>
                <a:spcPts val="4479"/>
              </a:lnSpc>
            </a:pP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app/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contains pages and routes(Next.js uses the files inside this folder to organize routs)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components/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A folder we create to keep reusable React component(e.g. Navbar.jsx)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public/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Used to store static files like images, icons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node_modules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this folder contains the libraries and packages required by the project 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package.json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contains project details and dependencies such as development command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6399" y="1233825"/>
            <a:ext cx="1322890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pages get Rendered in Next.js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4739" y="3682580"/>
            <a:ext cx="4276833" cy="524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sz="30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CSR</a:t>
            </a:r>
          </a:p>
          <a:p>
            <a:pPr algn="ctr">
              <a:lnSpc>
                <a:spcPts val="4320"/>
              </a:lnSpc>
            </a:pPr>
            <a:r>
              <a:rPr lang="en-US" sz="27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Client side Rendering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432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browser Downloads JavaScript and builts the page after it loads 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Example- a dashboard you see after logging in </a:t>
            </a:r>
          </a:p>
          <a:p>
            <a:pPr algn="ctr" marL="0" indent="0" lvl="0">
              <a:lnSpc>
                <a:spcPts val="43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997823" y="3551136"/>
            <a:ext cx="4276833" cy="471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sz="30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SSR</a:t>
            </a:r>
          </a:p>
          <a:p>
            <a:pPr algn="ctr">
              <a:lnSpc>
                <a:spcPts val="4320"/>
              </a:lnSpc>
            </a:pPr>
            <a:r>
              <a:rPr lang="en-US" sz="27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Server side Rendering-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432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server prepares the full page freshly, for every single request</a:t>
            </a:r>
          </a:p>
          <a:p>
            <a:pPr algn="ctr">
              <a:lnSpc>
                <a:spcPts val="4320"/>
              </a:lnSpc>
            </a:pPr>
          </a:p>
          <a:p>
            <a:pPr algn="ctr" marL="0" indent="0" lvl="0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Example- a new homepage showing todays latest headline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87210" y="3493986"/>
            <a:ext cx="4642228" cy="483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sz="30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SSG</a:t>
            </a:r>
          </a:p>
          <a:p>
            <a:pPr algn="ctr">
              <a:lnSpc>
                <a:spcPts val="4479"/>
              </a:lnSpc>
            </a:pPr>
            <a:r>
              <a:rPr lang="en-US" sz="2799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Static site Generation-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Pages are prepared ahead of time, before any user even visits</a:t>
            </a:r>
          </a:p>
          <a:p>
            <a:pPr algn="ctr">
              <a:lnSpc>
                <a:spcPts val="4479"/>
              </a:lnSpc>
            </a:pPr>
          </a:p>
          <a:p>
            <a:pPr algn="ctr" marL="0" indent="0" lvl="0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Example- a blog post or an “About Us” page that rarely Changes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592" y="2386254"/>
            <a:ext cx="11538461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Rendering means turning data and UI instruction into the page the user sees.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79833" y="2772034"/>
            <a:ext cx="4437042" cy="7130720"/>
            <a:chOff x="0" y="0"/>
            <a:chExt cx="3963288" cy="63693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63288" cy="6369356"/>
            </a:xfrm>
            <a:custGeom>
              <a:avLst/>
              <a:gdLst/>
              <a:ahLst/>
              <a:cxnLst/>
              <a:rect r="r" b="b" t="t" l="l"/>
              <a:pathLst>
                <a:path h="6369356" w="3963288">
                  <a:moveTo>
                    <a:pt x="26045" y="0"/>
                  </a:moveTo>
                  <a:lnTo>
                    <a:pt x="3937243" y="0"/>
                  </a:lnTo>
                  <a:cubicBezTo>
                    <a:pt x="3944150" y="0"/>
                    <a:pt x="3950775" y="2744"/>
                    <a:pt x="3955659" y="7629"/>
                  </a:cubicBezTo>
                  <a:cubicBezTo>
                    <a:pt x="3960544" y="12513"/>
                    <a:pt x="3963288" y="19138"/>
                    <a:pt x="3963288" y="26045"/>
                  </a:cubicBezTo>
                  <a:lnTo>
                    <a:pt x="3963288" y="6343310"/>
                  </a:lnTo>
                  <a:cubicBezTo>
                    <a:pt x="3963288" y="6350218"/>
                    <a:pt x="3960544" y="6356843"/>
                    <a:pt x="3955659" y="6361727"/>
                  </a:cubicBezTo>
                  <a:cubicBezTo>
                    <a:pt x="3950775" y="6366612"/>
                    <a:pt x="3944150" y="6369356"/>
                    <a:pt x="3937243" y="6369356"/>
                  </a:cubicBezTo>
                  <a:lnTo>
                    <a:pt x="26045" y="6369356"/>
                  </a:lnTo>
                  <a:cubicBezTo>
                    <a:pt x="19138" y="6369356"/>
                    <a:pt x="12513" y="6366612"/>
                    <a:pt x="7629" y="6361727"/>
                  </a:cubicBezTo>
                  <a:cubicBezTo>
                    <a:pt x="2744" y="6356843"/>
                    <a:pt x="0" y="6350218"/>
                    <a:pt x="0" y="6343310"/>
                  </a:cubicBezTo>
                  <a:lnTo>
                    <a:pt x="0" y="26045"/>
                  </a:lnTo>
                  <a:cubicBezTo>
                    <a:pt x="0" y="19138"/>
                    <a:pt x="2744" y="12513"/>
                    <a:pt x="7629" y="7629"/>
                  </a:cubicBezTo>
                  <a:cubicBezTo>
                    <a:pt x="12513" y="2744"/>
                    <a:pt x="19138" y="0"/>
                    <a:pt x="2604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963288" cy="6416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56141" y="2615082"/>
            <a:ext cx="5262519" cy="7188848"/>
            <a:chOff x="0" y="0"/>
            <a:chExt cx="4700627" cy="64212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00627" cy="6421277"/>
            </a:xfrm>
            <a:custGeom>
              <a:avLst/>
              <a:gdLst/>
              <a:ahLst/>
              <a:cxnLst/>
              <a:rect r="r" b="b" t="t" l="l"/>
              <a:pathLst>
                <a:path h="6421277" w="4700627">
                  <a:moveTo>
                    <a:pt x="21960" y="0"/>
                  </a:moveTo>
                  <a:lnTo>
                    <a:pt x="4678667" y="0"/>
                  </a:lnTo>
                  <a:cubicBezTo>
                    <a:pt x="4690795" y="0"/>
                    <a:pt x="4700627" y="9832"/>
                    <a:pt x="4700627" y="21960"/>
                  </a:cubicBezTo>
                  <a:lnTo>
                    <a:pt x="4700627" y="6399317"/>
                  </a:lnTo>
                  <a:cubicBezTo>
                    <a:pt x="4700627" y="6411445"/>
                    <a:pt x="4690795" y="6421277"/>
                    <a:pt x="4678667" y="6421277"/>
                  </a:cubicBezTo>
                  <a:lnTo>
                    <a:pt x="21960" y="6421277"/>
                  </a:lnTo>
                  <a:cubicBezTo>
                    <a:pt x="16136" y="6421277"/>
                    <a:pt x="10550" y="6418963"/>
                    <a:pt x="6432" y="6414845"/>
                  </a:cubicBezTo>
                  <a:cubicBezTo>
                    <a:pt x="2314" y="6410727"/>
                    <a:pt x="0" y="6405141"/>
                    <a:pt x="0" y="6399317"/>
                  </a:cubicBezTo>
                  <a:lnTo>
                    <a:pt x="0" y="21960"/>
                  </a:lnTo>
                  <a:cubicBezTo>
                    <a:pt x="0" y="9832"/>
                    <a:pt x="9832" y="0"/>
                    <a:pt x="2196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700627" cy="6468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05201" y="2615082"/>
            <a:ext cx="5258494" cy="7053484"/>
            <a:chOff x="0" y="0"/>
            <a:chExt cx="4697032" cy="63003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7032" cy="6300367"/>
            </a:xfrm>
            <a:custGeom>
              <a:avLst/>
              <a:gdLst/>
              <a:ahLst/>
              <a:cxnLst/>
              <a:rect r="r" b="b" t="t" l="l"/>
              <a:pathLst>
                <a:path h="6300367" w="4697032">
                  <a:moveTo>
                    <a:pt x="21977" y="0"/>
                  </a:moveTo>
                  <a:lnTo>
                    <a:pt x="4675055" y="0"/>
                  </a:lnTo>
                  <a:cubicBezTo>
                    <a:pt x="4680884" y="0"/>
                    <a:pt x="4686474" y="2315"/>
                    <a:pt x="4690595" y="6437"/>
                  </a:cubicBezTo>
                  <a:cubicBezTo>
                    <a:pt x="4694717" y="10558"/>
                    <a:pt x="4697032" y="16148"/>
                    <a:pt x="4697032" y="21977"/>
                  </a:cubicBezTo>
                  <a:lnTo>
                    <a:pt x="4697032" y="6278390"/>
                  </a:lnTo>
                  <a:cubicBezTo>
                    <a:pt x="4697032" y="6290527"/>
                    <a:pt x="4687193" y="6300367"/>
                    <a:pt x="4675055" y="6300367"/>
                  </a:cubicBezTo>
                  <a:lnTo>
                    <a:pt x="21977" y="6300367"/>
                  </a:lnTo>
                  <a:cubicBezTo>
                    <a:pt x="16148" y="6300367"/>
                    <a:pt x="10558" y="6298051"/>
                    <a:pt x="6437" y="6293930"/>
                  </a:cubicBezTo>
                  <a:cubicBezTo>
                    <a:pt x="2315" y="6289808"/>
                    <a:pt x="0" y="6284218"/>
                    <a:pt x="0" y="627839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697032" cy="634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9945" y="1942140"/>
            <a:ext cx="3536441" cy="353644"/>
          </a:xfrm>
          <a:custGeom>
            <a:avLst/>
            <a:gdLst/>
            <a:ahLst/>
            <a:cxnLst/>
            <a:rect r="r" b="b" t="t" l="l"/>
            <a:pathLst>
              <a:path h="353644" w="3536441">
                <a:moveTo>
                  <a:pt x="0" y="0"/>
                </a:moveTo>
                <a:lnTo>
                  <a:pt x="3536441" y="0"/>
                </a:lnTo>
                <a:lnTo>
                  <a:pt x="3536441" y="353644"/>
                </a:lnTo>
                <a:lnTo>
                  <a:pt x="0" y="353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507" y="4788551"/>
            <a:ext cx="4307893" cy="3556044"/>
          </a:xfrm>
          <a:custGeom>
            <a:avLst/>
            <a:gdLst/>
            <a:ahLst/>
            <a:cxnLst/>
            <a:rect r="r" b="b" t="t" l="l"/>
            <a:pathLst>
              <a:path h="3556044" w="4307893">
                <a:moveTo>
                  <a:pt x="0" y="0"/>
                </a:moveTo>
                <a:lnTo>
                  <a:pt x="4307893" y="0"/>
                </a:lnTo>
                <a:lnTo>
                  <a:pt x="4307893" y="3556043"/>
                </a:lnTo>
                <a:lnTo>
                  <a:pt x="0" y="35560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93647" y="4788551"/>
            <a:ext cx="4601309" cy="3729023"/>
          </a:xfrm>
          <a:custGeom>
            <a:avLst/>
            <a:gdLst/>
            <a:ahLst/>
            <a:cxnLst/>
            <a:rect r="r" b="b" t="t" l="l"/>
            <a:pathLst>
              <a:path h="3729023" w="4601309">
                <a:moveTo>
                  <a:pt x="0" y="0"/>
                </a:moveTo>
                <a:lnTo>
                  <a:pt x="4601309" y="0"/>
                </a:lnTo>
                <a:lnTo>
                  <a:pt x="4601309" y="3729022"/>
                </a:lnTo>
                <a:lnTo>
                  <a:pt x="0" y="372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480688" y="5094586"/>
            <a:ext cx="4907520" cy="4163714"/>
          </a:xfrm>
          <a:custGeom>
            <a:avLst/>
            <a:gdLst/>
            <a:ahLst/>
            <a:cxnLst/>
            <a:rect r="r" b="b" t="t" l="l"/>
            <a:pathLst>
              <a:path h="4163714" w="4907520">
                <a:moveTo>
                  <a:pt x="0" y="0"/>
                </a:moveTo>
                <a:lnTo>
                  <a:pt x="4907521" y="0"/>
                </a:lnTo>
                <a:lnTo>
                  <a:pt x="4907521" y="4163714"/>
                </a:lnTo>
                <a:lnTo>
                  <a:pt x="0" y="4163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970" b="-50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53829" y="155911"/>
            <a:ext cx="1558034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React.js &amp; Next.js work together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937" y="2758998"/>
            <a:ext cx="4276833" cy="223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a next.js project</a:t>
            </a:r>
          </a:p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next.js give us a ready to use structure where we can write react components</a:t>
            </a:r>
          </a:p>
          <a:p>
            <a:pPr algn="ctr" marL="0" indent="0" lvl="0">
              <a:lnSpc>
                <a:spcPts val="38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293647" y="2667259"/>
            <a:ext cx="4787506" cy="180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281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a react component</a:t>
            </a:r>
          </a:p>
          <a:p>
            <a:pPr algn="ctr" marL="0" indent="0" lvl="0">
              <a:lnSpc>
                <a:spcPts val="3372"/>
              </a:lnSpc>
            </a:pPr>
            <a:r>
              <a:rPr lang="en-US" sz="2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will write a simple react component (Same as we write react.js)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98089" y="2706699"/>
            <a:ext cx="5165606" cy="215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</a:pPr>
            <a:r>
              <a:rPr lang="en-US" sz="303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the component in page</a:t>
            </a:r>
          </a:p>
          <a:p>
            <a:pPr algn="ctr" marL="0" indent="0" lvl="0">
              <a:lnSpc>
                <a:spcPts val="3846"/>
              </a:lnSpc>
            </a:pPr>
            <a:r>
              <a:rPr lang="en-US" sz="240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import and use the react component inside a next.js page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24972" y="1584296"/>
            <a:ext cx="3041212" cy="71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38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React.js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63989" y="1584296"/>
            <a:ext cx="3041212" cy="71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38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Next.js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55174" y="1631921"/>
            <a:ext cx="3041212" cy="4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inside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378508" y="3052848"/>
            <a:ext cx="9743094" cy="4776426"/>
          </a:xfrm>
          <a:custGeom>
            <a:avLst/>
            <a:gdLst/>
            <a:ahLst/>
            <a:cxnLst/>
            <a:rect r="r" b="b" t="t" l="l"/>
            <a:pathLst>
              <a:path h="4776426" w="9743094">
                <a:moveTo>
                  <a:pt x="0" y="0"/>
                </a:moveTo>
                <a:lnTo>
                  <a:pt x="9743093" y="0"/>
                </a:lnTo>
                <a:lnTo>
                  <a:pt x="9743093" y="4776426"/>
                </a:lnTo>
                <a:lnTo>
                  <a:pt x="0" y="4776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9274" y="210720"/>
            <a:ext cx="961912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Bringing it all Together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51816"/>
            <a:ext cx="5129996" cy="53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7"/>
              </a:lnSpc>
              <a:spcBef>
                <a:spcPct val="0"/>
              </a:spcBef>
            </a:pPr>
            <a:r>
              <a:rPr lang="en-US" b="true" sz="27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just Happened?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3388310"/>
            <a:ext cx="5139521" cy="562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867" indent="-274933" lvl="1">
              <a:lnSpc>
                <a:spcPts val="407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created a next.js project</a:t>
            </a:r>
          </a:p>
          <a:p>
            <a:pPr algn="l">
              <a:lnSpc>
                <a:spcPts val="4074"/>
              </a:lnSpc>
            </a:pPr>
          </a:p>
          <a:p>
            <a:pPr algn="l" marL="549867" indent="-274933" lvl="1">
              <a:lnSpc>
                <a:spcPts val="407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wrote a regular react component (Navbar.jsk)</a:t>
            </a:r>
          </a:p>
          <a:p>
            <a:pPr algn="l">
              <a:lnSpc>
                <a:spcPts val="4074"/>
              </a:lnSpc>
            </a:pPr>
          </a:p>
          <a:p>
            <a:pPr algn="l" marL="549867" indent="-274933" lvl="1">
              <a:lnSpc>
                <a:spcPts val="407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Imported and used that component in a Next.js page</a:t>
            </a:r>
          </a:p>
          <a:p>
            <a:pPr algn="l">
              <a:lnSpc>
                <a:spcPts val="4074"/>
              </a:lnSpc>
            </a:pPr>
          </a:p>
          <a:p>
            <a:pPr algn="l" marL="549867" indent="-274933" lvl="1">
              <a:lnSpc>
                <a:spcPts val="407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Next.js rendered our react component as a part of the web application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01840" y="2051816"/>
            <a:ext cx="5819227" cy="110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7"/>
              </a:lnSpc>
              <a:spcBef>
                <a:spcPct val="0"/>
              </a:spcBef>
            </a:pPr>
            <a:r>
              <a:rPr lang="en-US" b="true" sz="27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appears in the browser?</a:t>
            </a:r>
          </a:p>
          <a:p>
            <a:pPr algn="l" marL="0" indent="0" lvl="0">
              <a:lnSpc>
                <a:spcPts val="44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00000">
            <a:off x="13167360" y="-16459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2194560"/>
                  </a:moveTo>
                  <a:cubicBezTo>
                    <a:pt x="0" y="982599"/>
                    <a:pt x="982599" y="0"/>
                    <a:pt x="2194560" y="0"/>
                  </a:cubicBezTo>
                  <a:lnTo>
                    <a:pt x="8778240" y="0"/>
                  </a:lnTo>
                  <a:cubicBezTo>
                    <a:pt x="9990201" y="0"/>
                    <a:pt x="10972800" y="982599"/>
                    <a:pt x="10972800" y="2194560"/>
                  </a:cubicBezTo>
                  <a:lnTo>
                    <a:pt x="10972800" y="8778240"/>
                  </a:lnTo>
                  <a:cubicBezTo>
                    <a:pt x="10972800" y="9990201"/>
                    <a:pt x="9990201" y="10972800"/>
                    <a:pt x="8778240" y="10972800"/>
                  </a:cubicBezTo>
                  <a:lnTo>
                    <a:pt x="2194560" y="10972800"/>
                  </a:lnTo>
                  <a:cubicBezTo>
                    <a:pt x="982599" y="10972800"/>
                    <a:pt x="0" y="9990201"/>
                    <a:pt x="0" y="8778240"/>
                  </a:cubicBezTo>
                  <a:close/>
                </a:path>
              </a:pathLst>
            </a:custGeom>
            <a:solidFill>
              <a:srgbClr val="121826"/>
            </a:solidFill>
          </p:spPr>
        </p:sp>
      </p:grpSp>
      <p:grpSp>
        <p:nvGrpSpPr>
          <p:cNvPr name="Group 4" id="4"/>
          <p:cNvGrpSpPr/>
          <p:nvPr/>
        </p:nvGrpSpPr>
        <p:grpSpPr>
          <a:xfrm rot="1200000">
            <a:off x="14538960" y="493776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lnTo>
                    <a:pt x="5486400" y="0"/>
                  </a:lnTo>
                  <a:cubicBezTo>
                    <a:pt x="6496431" y="0"/>
                    <a:pt x="7315200" y="818769"/>
                    <a:pt x="7315200" y="1828800"/>
                  </a:cubicBezTo>
                  <a:lnTo>
                    <a:pt x="7315200" y="5486400"/>
                  </a:lnTo>
                  <a:cubicBezTo>
                    <a:pt x="7315200" y="6496431"/>
                    <a:pt x="6496431" y="7315200"/>
                    <a:pt x="5486400" y="7315200"/>
                  </a:cubicBezTo>
                  <a:lnTo>
                    <a:pt x="1828800" y="7315200"/>
                  </a:lnTo>
                  <a:cubicBezTo>
                    <a:pt x="818769" y="7315200"/>
                    <a:pt x="0" y="6496431"/>
                    <a:pt x="0" y="5486400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537460"/>
            <a:ext cx="14401800" cy="2880360"/>
            <a:chOff x="0" y="0"/>
            <a:chExt cx="19202400" cy="3840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202400" cy="3897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Next.js App Router</a:t>
              </a:r>
            </a:p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&amp; Client-Side Data Fetching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554980"/>
            <a:ext cx="11795760" cy="1097280"/>
            <a:chOff x="0" y="0"/>
            <a:chExt cx="1572768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57276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AEB6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Routing, layouts &amp; rendering in the App Router — then fetching data from the client with useEffect, SWR and React Query.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7338060"/>
            <a:ext cx="1152144" cy="630936"/>
            <a:chOff x="0" y="0"/>
            <a:chExt cx="1536192" cy="8412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6192" cy="841248"/>
            </a:xfrm>
            <a:custGeom>
              <a:avLst/>
              <a:gdLst/>
              <a:ahLst/>
              <a:cxnLst/>
              <a:rect r="r" b="b" t="t" l="l"/>
              <a:pathLst>
                <a:path h="841248" w="1536192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1115568" y="0"/>
                  </a:lnTo>
                  <a:cubicBezTo>
                    <a:pt x="1347851" y="0"/>
                    <a:pt x="1536192" y="188341"/>
                    <a:pt x="1536192" y="420624"/>
                  </a:cubicBezTo>
                  <a:cubicBezTo>
                    <a:pt x="1536192" y="652907"/>
                    <a:pt x="1347851" y="841248"/>
                    <a:pt x="1115568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B213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7338060"/>
            <a:ext cx="1152144" cy="630936"/>
            <a:chOff x="0" y="0"/>
            <a:chExt cx="1536192" cy="841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6192" cy="841248"/>
            </a:xfrm>
            <a:custGeom>
              <a:avLst/>
              <a:gdLst/>
              <a:ahLst/>
              <a:cxnLst/>
              <a:rect r="r" b="b" t="t" l="l"/>
              <a:pathLst>
                <a:path h="841248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261" t="0" r="-2026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536192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96312" y="7338060"/>
            <a:ext cx="1872234" cy="630936"/>
            <a:chOff x="0" y="0"/>
            <a:chExt cx="2496312" cy="8412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96312" cy="841248"/>
            </a:xfrm>
            <a:custGeom>
              <a:avLst/>
              <a:gdLst/>
              <a:ahLst/>
              <a:cxnLst/>
              <a:rect r="r" b="b" t="t" l="l"/>
              <a:pathLst>
                <a:path h="841248" w="2496312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2075688" y="0"/>
                  </a:lnTo>
                  <a:cubicBezTo>
                    <a:pt x="2307971" y="0"/>
                    <a:pt x="2496312" y="188341"/>
                    <a:pt x="2496312" y="420624"/>
                  </a:cubicBezTo>
                  <a:cubicBezTo>
                    <a:pt x="2496312" y="652907"/>
                    <a:pt x="2307971" y="841248"/>
                    <a:pt x="2075688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B213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496312" y="7338060"/>
            <a:ext cx="1872234" cy="630936"/>
            <a:chOff x="0" y="0"/>
            <a:chExt cx="2496312" cy="841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96312" cy="841248"/>
            </a:xfrm>
            <a:custGeom>
              <a:avLst/>
              <a:gdLst/>
              <a:ahLst/>
              <a:cxnLst/>
              <a:rect r="r" b="b" t="t" l="l"/>
              <a:pathLst>
                <a:path h="841248" w="2496312">
                  <a:moveTo>
                    <a:pt x="0" y="0"/>
                  </a:moveTo>
                  <a:lnTo>
                    <a:pt x="2496312" y="0"/>
                  </a:lnTo>
                  <a:lnTo>
                    <a:pt x="249631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19" r="0" b="-78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496312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layout.js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15434" y="7338060"/>
            <a:ext cx="1584198" cy="630936"/>
            <a:chOff x="0" y="0"/>
            <a:chExt cx="2112264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12264" cy="841248"/>
            </a:xfrm>
            <a:custGeom>
              <a:avLst/>
              <a:gdLst/>
              <a:ahLst/>
              <a:cxnLst/>
              <a:rect r="r" b="b" t="t" l="l"/>
              <a:pathLst>
                <a:path h="841248" w="2112264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1691640" y="0"/>
                  </a:lnTo>
                  <a:cubicBezTo>
                    <a:pt x="1923923" y="0"/>
                    <a:pt x="2112264" y="188341"/>
                    <a:pt x="2112264" y="420624"/>
                  </a:cubicBezTo>
                  <a:cubicBezTo>
                    <a:pt x="2112264" y="652907"/>
                    <a:pt x="1923923" y="841248"/>
                    <a:pt x="1691640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B213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15434" y="7338060"/>
            <a:ext cx="1584198" cy="630936"/>
            <a:chOff x="0" y="0"/>
            <a:chExt cx="2112264" cy="8412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2264" cy="841248"/>
            </a:xfrm>
            <a:custGeom>
              <a:avLst/>
              <a:gdLst/>
              <a:ahLst/>
              <a:cxnLst/>
              <a:rect r="r" b="b" t="t" l="l"/>
              <a:pathLst>
                <a:path h="841248" w="2112264">
                  <a:moveTo>
                    <a:pt x="0" y="0"/>
                  </a:moveTo>
                  <a:lnTo>
                    <a:pt x="2112264" y="0"/>
                  </a:lnTo>
                  <a:lnTo>
                    <a:pt x="21122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9" t="0" r="-109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12264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page.js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46520" y="7338060"/>
            <a:ext cx="1728216" cy="630936"/>
            <a:chOff x="0" y="0"/>
            <a:chExt cx="2304288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04288" cy="841248"/>
            </a:xfrm>
            <a:custGeom>
              <a:avLst/>
              <a:gdLst/>
              <a:ahLst/>
              <a:cxnLst/>
              <a:rect r="r" b="b" t="t" l="l"/>
              <a:pathLst>
                <a:path h="841248" w="230428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1883664" y="0"/>
                  </a:lnTo>
                  <a:cubicBezTo>
                    <a:pt x="2115947" y="0"/>
                    <a:pt x="2304288" y="188341"/>
                    <a:pt x="2304288" y="420624"/>
                  </a:cubicBezTo>
                  <a:cubicBezTo>
                    <a:pt x="2304288" y="652907"/>
                    <a:pt x="2115947" y="841248"/>
                    <a:pt x="1883664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B213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46520" y="7338060"/>
            <a:ext cx="1728216" cy="630936"/>
            <a:chOff x="0" y="0"/>
            <a:chExt cx="2304288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04288" cy="841248"/>
            </a:xfrm>
            <a:custGeom>
              <a:avLst/>
              <a:gdLst/>
              <a:ahLst/>
              <a:cxnLst/>
              <a:rect r="r" b="b" t="t" l="l"/>
              <a:pathLst>
                <a:path h="841248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2" r="0" b="-337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304288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useSWR()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421624" y="7338060"/>
            <a:ext cx="2016252" cy="630936"/>
            <a:chOff x="0" y="0"/>
            <a:chExt cx="2688336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8336" cy="841248"/>
            </a:xfrm>
            <a:custGeom>
              <a:avLst/>
              <a:gdLst/>
              <a:ahLst/>
              <a:cxnLst/>
              <a:rect r="r" b="b" t="t" l="l"/>
              <a:pathLst>
                <a:path h="841248" w="268833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2267712" y="0"/>
                  </a:lnTo>
                  <a:cubicBezTo>
                    <a:pt x="2499995" y="0"/>
                    <a:pt x="2688336" y="188341"/>
                    <a:pt x="2688336" y="420624"/>
                  </a:cubicBezTo>
                  <a:cubicBezTo>
                    <a:pt x="2688336" y="652907"/>
                    <a:pt x="2499995" y="841248"/>
                    <a:pt x="226771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B213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21624" y="7338060"/>
            <a:ext cx="2016252" cy="630936"/>
            <a:chOff x="0" y="0"/>
            <a:chExt cx="2688336" cy="8412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8336" cy="841248"/>
            </a:xfrm>
            <a:custGeom>
              <a:avLst/>
              <a:gdLst/>
              <a:ahLst/>
              <a:cxnLst/>
              <a:rect r="r" b="b" t="t" l="l"/>
              <a:pathLst>
                <a:path h="841248" w="2688336">
                  <a:moveTo>
                    <a:pt x="0" y="0"/>
                  </a:moveTo>
                  <a:lnTo>
                    <a:pt x="2688336" y="0"/>
                  </a:lnTo>
                  <a:lnTo>
                    <a:pt x="268833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67" r="0" b="-122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688336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useQuery()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Libraries, Package Managers &amp; Next.js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TODAY'S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cover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8023860" cy="7269480"/>
            <a:chOff x="0" y="0"/>
            <a:chExt cx="10698480" cy="969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9509760"/>
                  </a:lnTo>
                  <a:cubicBezTo>
                    <a:pt x="10698480" y="9610725"/>
                    <a:pt x="10616565" y="9692640"/>
                    <a:pt x="10515600" y="9692640"/>
                  </a:cubicBezTo>
                  <a:lnTo>
                    <a:pt x="182880" y="9692640"/>
                  </a:lnTo>
                  <a:cubicBezTo>
                    <a:pt x="81915" y="9692640"/>
                    <a:pt x="0" y="9610725"/>
                    <a:pt x="0" y="95097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432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715768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5"/>
                </a:lnSpc>
              </a:pPr>
              <a:r>
                <a:rPr lang="en-US" sz="280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31720" y="1697098"/>
            <a:ext cx="6103620" cy="2743457"/>
            <a:chOff x="0" y="0"/>
            <a:chExt cx="8138160" cy="36579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8160" cy="3657942"/>
            </a:xfrm>
            <a:custGeom>
              <a:avLst/>
              <a:gdLst/>
              <a:ahLst/>
              <a:cxnLst/>
              <a:rect r="r" b="b" t="t" l="l"/>
              <a:pathLst>
                <a:path h="3657942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01" r="0" b="42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13816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Part 1 — App Router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71600" y="4392930"/>
            <a:ext cx="6926580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File-based routing basics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App Router vs Pages Router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Folder structure &amp; special files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Nested &amp; dynamic routes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Server vs Client Components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Layouts, metadata &amp; SEO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32620" y="2272665"/>
            <a:ext cx="8023860" cy="7269480"/>
            <a:chOff x="0" y="0"/>
            <a:chExt cx="10698480" cy="969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848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9509760"/>
                  </a:lnTo>
                  <a:cubicBezTo>
                    <a:pt x="10698480" y="9610725"/>
                    <a:pt x="10616565" y="9692640"/>
                    <a:pt x="10515600" y="9692640"/>
                  </a:cubicBezTo>
                  <a:lnTo>
                    <a:pt x="182880" y="9692640"/>
                  </a:lnTo>
                  <a:cubicBezTo>
                    <a:pt x="81915" y="9692640"/>
                    <a:pt x="0" y="9610725"/>
                    <a:pt x="0" y="95097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12680" y="274320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12680" y="2715768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5"/>
                </a:lnSpc>
              </a:pPr>
              <a:r>
                <a:rPr lang="en-US" sz="280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43285" y="1748662"/>
            <a:ext cx="6103620" cy="2743457"/>
            <a:chOff x="0" y="0"/>
            <a:chExt cx="8138160" cy="36579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38160" cy="3657942"/>
            </a:xfrm>
            <a:custGeom>
              <a:avLst/>
              <a:gdLst/>
              <a:ahLst/>
              <a:cxnLst/>
              <a:rect r="r" b="b" t="t" l="l"/>
              <a:pathLst>
                <a:path h="3657942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01" r="0" b="429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13816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Part 2 — Data Fetching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81260" y="4283392"/>
            <a:ext cx="6926580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Fetching with useEffect + fetch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Handling loading &amp; error states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SWR &amp; React Query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Caching &amp; revalidation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Client-side vs server-side fetching</a:t>
            </a:r>
          </a:p>
          <a:p>
            <a:pPr algn="l" marL="624358" indent="-312179" lvl="1">
              <a:lnSpc>
                <a:spcPts val="4139"/>
              </a:lnSpc>
              <a:buFont typeface="Arial"/>
              <a:buChar char="•"/>
            </a:pPr>
            <a:r>
              <a:rPr lang="en-US" sz="3449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Putting it together — a live example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3 — Agenda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File-based routing basics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333625"/>
            <a:ext cx="7543800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1737" indent="-300869" lvl="1">
              <a:lnSpc>
                <a:spcPts val="3989"/>
              </a:lnSpc>
              <a:buFont typeface="Arial"/>
              <a:buChar char="•"/>
            </a:pPr>
            <a:r>
              <a:rPr lang="en-US" sz="3324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No route config file — the app/ folder structure IS the routing table.</a:t>
            </a:r>
          </a:p>
          <a:p>
            <a:pPr algn="l" marL="601737" indent="-300869" lvl="1">
              <a:lnSpc>
                <a:spcPts val="3989"/>
              </a:lnSpc>
              <a:buFont typeface="Arial"/>
              <a:buChar char="•"/>
            </a:pPr>
            <a:r>
              <a:rPr lang="en-US" sz="3324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Each folder segment becomes part of the URL path.</a:t>
            </a:r>
          </a:p>
          <a:p>
            <a:pPr algn="l" marL="601737" indent="-300869" lvl="1">
              <a:lnSpc>
                <a:spcPts val="3989"/>
              </a:lnSpc>
              <a:buFont typeface="Arial"/>
              <a:buChar char="•"/>
            </a:pPr>
            <a:r>
              <a:rPr lang="en-US" sz="3324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A folder becomes a visitable route only once it contains a page.js.</a:t>
            </a:r>
          </a:p>
          <a:p>
            <a:pPr algn="l" marL="601737" indent="-300869" lvl="1">
              <a:lnSpc>
                <a:spcPts val="3989"/>
              </a:lnSpc>
              <a:buFont typeface="Arial"/>
              <a:buChar char="•"/>
            </a:pPr>
            <a:r>
              <a:rPr lang="en-US" sz="3324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Folders without a page.js are just organizational (or hold layouts).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83980" y="2400300"/>
            <a:ext cx="4869180" cy="1261872"/>
            <a:chOff x="0" y="0"/>
            <a:chExt cx="6492240" cy="1682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92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6492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345936" y="0"/>
                  </a:lnTo>
                  <a:cubicBezTo>
                    <a:pt x="6426708" y="0"/>
                    <a:pt x="6492240" y="65532"/>
                    <a:pt x="6492240" y="146304"/>
                  </a:cubicBezTo>
                  <a:lnTo>
                    <a:pt x="6492240" y="1536192"/>
                  </a:lnTo>
                  <a:cubicBezTo>
                    <a:pt x="6492240" y="1616964"/>
                    <a:pt x="6426708" y="1682496"/>
                    <a:pt x="6345936" y="1682496"/>
                  </a:cubicBezTo>
                  <a:lnTo>
                    <a:pt x="146304" y="1682496"/>
                  </a:lnTo>
                  <a:cubicBezTo>
                    <a:pt x="65532" y="1682496"/>
                    <a:pt x="0" y="1616964"/>
                    <a:pt x="0" y="15361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26880" y="2400300"/>
            <a:ext cx="4183380" cy="1261872"/>
            <a:chOff x="0" y="0"/>
            <a:chExt cx="5577840" cy="16824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778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97" r="0" b="-145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57784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app/page.js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31468" y="2935224"/>
            <a:ext cx="685800" cy="192024"/>
            <a:chOff x="0" y="0"/>
            <a:chExt cx="914400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256032"/>
            </a:xfrm>
            <a:custGeom>
              <a:avLst/>
              <a:gdLst/>
              <a:ahLst/>
              <a:cxnLst/>
              <a:rect r="r" b="b" t="t" l="l"/>
              <a:pathLst>
                <a:path h="256032" w="914400">
                  <a:moveTo>
                    <a:pt x="0" y="64008"/>
                  </a:moveTo>
                  <a:lnTo>
                    <a:pt x="786384" y="64008"/>
                  </a:lnTo>
                  <a:lnTo>
                    <a:pt x="786384" y="0"/>
                  </a:lnTo>
                  <a:lnTo>
                    <a:pt x="914400" y="128016"/>
                  </a:lnTo>
                  <a:lnTo>
                    <a:pt x="786384" y="256032"/>
                  </a:lnTo>
                  <a:lnTo>
                    <a:pt x="786384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72335" y="2390775"/>
            <a:ext cx="2625090" cy="1280922"/>
            <a:chOff x="0" y="0"/>
            <a:chExt cx="3500120" cy="1707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0120" cy="1707896"/>
            </a:xfrm>
            <a:custGeom>
              <a:avLst/>
              <a:gdLst/>
              <a:ahLst/>
              <a:cxnLst/>
              <a:rect r="r" b="b" t="t" l="l"/>
              <a:pathLst>
                <a:path h="1707896" w="350012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351657" y="0"/>
                  </a:lnTo>
                  <a:cubicBezTo>
                    <a:pt x="3433699" y="0"/>
                    <a:pt x="3500120" y="66548"/>
                    <a:pt x="3500120" y="148463"/>
                  </a:cubicBezTo>
                  <a:lnTo>
                    <a:pt x="3500120" y="1559433"/>
                  </a:lnTo>
                  <a:cubicBezTo>
                    <a:pt x="3500120" y="1641475"/>
                    <a:pt x="3433572" y="1707896"/>
                    <a:pt x="3351657" y="1707896"/>
                  </a:cubicBezTo>
                  <a:lnTo>
                    <a:pt x="148463" y="1707896"/>
                  </a:lnTo>
                  <a:cubicBezTo>
                    <a:pt x="66548" y="1707896"/>
                    <a:pt x="0" y="1641348"/>
                    <a:pt x="0" y="1559433"/>
                  </a:cubicBezTo>
                  <a:close/>
                </a:path>
              </a:pathLst>
            </a:custGeom>
            <a:solidFill>
              <a:srgbClr val="E9FBF8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881860" y="2400300"/>
            <a:ext cx="2606040" cy="1261872"/>
            <a:chOff x="0" y="0"/>
            <a:chExt cx="3474720" cy="16824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4747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07A6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83980" y="3909060"/>
            <a:ext cx="4869180" cy="1261872"/>
            <a:chOff x="0" y="0"/>
            <a:chExt cx="6492240" cy="16824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92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6492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345936" y="0"/>
                  </a:lnTo>
                  <a:cubicBezTo>
                    <a:pt x="6426708" y="0"/>
                    <a:pt x="6492240" y="65532"/>
                    <a:pt x="6492240" y="146304"/>
                  </a:cubicBezTo>
                  <a:lnTo>
                    <a:pt x="6492240" y="1536192"/>
                  </a:lnTo>
                  <a:cubicBezTo>
                    <a:pt x="6492240" y="1616964"/>
                    <a:pt x="6426708" y="1682496"/>
                    <a:pt x="6345936" y="1682496"/>
                  </a:cubicBezTo>
                  <a:lnTo>
                    <a:pt x="146304" y="1682496"/>
                  </a:lnTo>
                  <a:cubicBezTo>
                    <a:pt x="65532" y="1682496"/>
                    <a:pt x="0" y="1616964"/>
                    <a:pt x="0" y="15361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26880" y="3909060"/>
            <a:ext cx="4183380" cy="1261872"/>
            <a:chOff x="0" y="0"/>
            <a:chExt cx="5577840" cy="16824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778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97" r="0" b="-145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57784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app/about/page.js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31468" y="4443984"/>
            <a:ext cx="685800" cy="192024"/>
            <a:chOff x="0" y="0"/>
            <a:chExt cx="914400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256032"/>
            </a:xfrm>
            <a:custGeom>
              <a:avLst/>
              <a:gdLst/>
              <a:ahLst/>
              <a:cxnLst/>
              <a:rect r="r" b="b" t="t" l="l"/>
              <a:pathLst>
                <a:path h="256032" w="914400">
                  <a:moveTo>
                    <a:pt x="0" y="64008"/>
                  </a:moveTo>
                  <a:lnTo>
                    <a:pt x="786384" y="64008"/>
                  </a:lnTo>
                  <a:lnTo>
                    <a:pt x="786384" y="0"/>
                  </a:lnTo>
                  <a:lnTo>
                    <a:pt x="914400" y="128016"/>
                  </a:lnTo>
                  <a:lnTo>
                    <a:pt x="786384" y="256032"/>
                  </a:lnTo>
                  <a:lnTo>
                    <a:pt x="786384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872335" y="3899535"/>
            <a:ext cx="2625090" cy="1280922"/>
            <a:chOff x="0" y="0"/>
            <a:chExt cx="3500120" cy="1707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0120" cy="1707896"/>
            </a:xfrm>
            <a:custGeom>
              <a:avLst/>
              <a:gdLst/>
              <a:ahLst/>
              <a:cxnLst/>
              <a:rect r="r" b="b" t="t" l="l"/>
              <a:pathLst>
                <a:path h="1707896" w="350012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351657" y="0"/>
                  </a:lnTo>
                  <a:cubicBezTo>
                    <a:pt x="3433699" y="0"/>
                    <a:pt x="3500120" y="66548"/>
                    <a:pt x="3500120" y="148463"/>
                  </a:cubicBezTo>
                  <a:lnTo>
                    <a:pt x="3500120" y="1559433"/>
                  </a:lnTo>
                  <a:cubicBezTo>
                    <a:pt x="3500120" y="1641475"/>
                    <a:pt x="3433572" y="1707896"/>
                    <a:pt x="3351657" y="1707896"/>
                  </a:cubicBezTo>
                  <a:lnTo>
                    <a:pt x="148463" y="1707896"/>
                  </a:lnTo>
                  <a:cubicBezTo>
                    <a:pt x="66548" y="1707896"/>
                    <a:pt x="0" y="1641348"/>
                    <a:pt x="0" y="1559433"/>
                  </a:cubicBezTo>
                  <a:close/>
                </a:path>
              </a:pathLst>
            </a:custGeom>
            <a:solidFill>
              <a:srgbClr val="E9FBF8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881860" y="3909060"/>
            <a:ext cx="2606040" cy="1261872"/>
            <a:chOff x="0" y="0"/>
            <a:chExt cx="3474720" cy="1682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4747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07A6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/about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83980" y="5417820"/>
            <a:ext cx="4869180" cy="1261872"/>
            <a:chOff x="0" y="0"/>
            <a:chExt cx="6492240" cy="16824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6492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345936" y="0"/>
                  </a:lnTo>
                  <a:cubicBezTo>
                    <a:pt x="6426708" y="0"/>
                    <a:pt x="6492240" y="65532"/>
                    <a:pt x="6492240" y="146304"/>
                  </a:cubicBezTo>
                  <a:lnTo>
                    <a:pt x="6492240" y="1536192"/>
                  </a:lnTo>
                  <a:cubicBezTo>
                    <a:pt x="6492240" y="1616964"/>
                    <a:pt x="6426708" y="1682496"/>
                    <a:pt x="6345936" y="1682496"/>
                  </a:cubicBezTo>
                  <a:lnTo>
                    <a:pt x="146304" y="1682496"/>
                  </a:lnTo>
                  <a:cubicBezTo>
                    <a:pt x="65532" y="1682496"/>
                    <a:pt x="0" y="1616964"/>
                    <a:pt x="0" y="15361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26880" y="5417820"/>
            <a:ext cx="4183380" cy="1261872"/>
            <a:chOff x="0" y="0"/>
            <a:chExt cx="5577840" cy="16824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778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97" r="0" b="-145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57784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app/blog/page.js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031468" y="5952744"/>
            <a:ext cx="685800" cy="192024"/>
            <a:chOff x="0" y="0"/>
            <a:chExt cx="914400" cy="2560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256032"/>
            </a:xfrm>
            <a:custGeom>
              <a:avLst/>
              <a:gdLst/>
              <a:ahLst/>
              <a:cxnLst/>
              <a:rect r="r" b="b" t="t" l="l"/>
              <a:pathLst>
                <a:path h="256032" w="914400">
                  <a:moveTo>
                    <a:pt x="0" y="64008"/>
                  </a:moveTo>
                  <a:lnTo>
                    <a:pt x="786384" y="64008"/>
                  </a:lnTo>
                  <a:lnTo>
                    <a:pt x="786384" y="0"/>
                  </a:lnTo>
                  <a:lnTo>
                    <a:pt x="914400" y="128016"/>
                  </a:lnTo>
                  <a:lnTo>
                    <a:pt x="786384" y="256032"/>
                  </a:lnTo>
                  <a:lnTo>
                    <a:pt x="786384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872335" y="5408295"/>
            <a:ext cx="2625090" cy="1280922"/>
            <a:chOff x="0" y="0"/>
            <a:chExt cx="3500120" cy="17078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00120" cy="1707896"/>
            </a:xfrm>
            <a:custGeom>
              <a:avLst/>
              <a:gdLst/>
              <a:ahLst/>
              <a:cxnLst/>
              <a:rect r="r" b="b" t="t" l="l"/>
              <a:pathLst>
                <a:path h="1707896" w="350012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351657" y="0"/>
                  </a:lnTo>
                  <a:cubicBezTo>
                    <a:pt x="3433699" y="0"/>
                    <a:pt x="3500120" y="66548"/>
                    <a:pt x="3500120" y="148463"/>
                  </a:cubicBezTo>
                  <a:lnTo>
                    <a:pt x="3500120" y="1559433"/>
                  </a:lnTo>
                  <a:cubicBezTo>
                    <a:pt x="3500120" y="1641475"/>
                    <a:pt x="3433572" y="1707896"/>
                    <a:pt x="3351657" y="1707896"/>
                  </a:cubicBezTo>
                  <a:lnTo>
                    <a:pt x="148463" y="1707896"/>
                  </a:lnTo>
                  <a:cubicBezTo>
                    <a:pt x="66548" y="1707896"/>
                    <a:pt x="0" y="1641348"/>
                    <a:pt x="0" y="1559433"/>
                  </a:cubicBezTo>
                  <a:close/>
                </a:path>
              </a:pathLst>
            </a:custGeom>
            <a:solidFill>
              <a:srgbClr val="E9FBF8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881860" y="5417820"/>
            <a:ext cx="2606040" cy="1261872"/>
            <a:chOff x="0" y="0"/>
            <a:chExt cx="3474720" cy="1682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4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4747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07A6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/blog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983980" y="6926580"/>
            <a:ext cx="4869180" cy="1261872"/>
            <a:chOff x="0" y="0"/>
            <a:chExt cx="6492240" cy="16824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92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6492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345936" y="0"/>
                  </a:lnTo>
                  <a:cubicBezTo>
                    <a:pt x="6426708" y="0"/>
                    <a:pt x="6492240" y="65532"/>
                    <a:pt x="6492240" y="146304"/>
                  </a:cubicBezTo>
                  <a:lnTo>
                    <a:pt x="6492240" y="1536192"/>
                  </a:lnTo>
                  <a:cubicBezTo>
                    <a:pt x="6492240" y="1616964"/>
                    <a:pt x="6426708" y="1682496"/>
                    <a:pt x="6345936" y="1682496"/>
                  </a:cubicBezTo>
                  <a:lnTo>
                    <a:pt x="146304" y="1682496"/>
                  </a:lnTo>
                  <a:cubicBezTo>
                    <a:pt x="65532" y="1682496"/>
                    <a:pt x="0" y="1616964"/>
                    <a:pt x="0" y="15361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26880" y="6926580"/>
            <a:ext cx="4183380" cy="1261872"/>
            <a:chOff x="0" y="0"/>
            <a:chExt cx="5577840" cy="16824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778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97" r="0" b="-145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57784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app/contact/page.js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031468" y="7461504"/>
            <a:ext cx="685800" cy="192024"/>
            <a:chOff x="0" y="0"/>
            <a:chExt cx="914400" cy="2560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256032"/>
            </a:xfrm>
            <a:custGeom>
              <a:avLst/>
              <a:gdLst/>
              <a:ahLst/>
              <a:cxnLst/>
              <a:rect r="r" b="b" t="t" l="l"/>
              <a:pathLst>
                <a:path h="256032" w="914400">
                  <a:moveTo>
                    <a:pt x="0" y="64008"/>
                  </a:moveTo>
                  <a:lnTo>
                    <a:pt x="786384" y="64008"/>
                  </a:lnTo>
                  <a:lnTo>
                    <a:pt x="786384" y="0"/>
                  </a:lnTo>
                  <a:lnTo>
                    <a:pt x="914400" y="128016"/>
                  </a:lnTo>
                  <a:lnTo>
                    <a:pt x="786384" y="256032"/>
                  </a:lnTo>
                  <a:lnTo>
                    <a:pt x="786384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872335" y="6917055"/>
            <a:ext cx="2625090" cy="1280922"/>
            <a:chOff x="0" y="0"/>
            <a:chExt cx="3500120" cy="17078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00120" cy="1707896"/>
            </a:xfrm>
            <a:custGeom>
              <a:avLst/>
              <a:gdLst/>
              <a:ahLst/>
              <a:cxnLst/>
              <a:rect r="r" b="b" t="t" l="l"/>
              <a:pathLst>
                <a:path h="1707896" w="350012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351657" y="0"/>
                  </a:lnTo>
                  <a:cubicBezTo>
                    <a:pt x="3433699" y="0"/>
                    <a:pt x="3500120" y="66548"/>
                    <a:pt x="3500120" y="148463"/>
                  </a:cubicBezTo>
                  <a:lnTo>
                    <a:pt x="3500120" y="1559433"/>
                  </a:lnTo>
                  <a:cubicBezTo>
                    <a:pt x="3500120" y="1641475"/>
                    <a:pt x="3433572" y="1707896"/>
                    <a:pt x="3351657" y="1707896"/>
                  </a:cubicBezTo>
                  <a:lnTo>
                    <a:pt x="148463" y="1707896"/>
                  </a:lnTo>
                  <a:cubicBezTo>
                    <a:pt x="66548" y="1707896"/>
                    <a:pt x="0" y="1641348"/>
                    <a:pt x="0" y="1559433"/>
                  </a:cubicBezTo>
                  <a:close/>
                </a:path>
              </a:pathLst>
            </a:custGeom>
            <a:solidFill>
              <a:srgbClr val="E9FBF8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881860" y="6926580"/>
            <a:ext cx="2606040" cy="1261872"/>
            <a:chOff x="0" y="0"/>
            <a:chExt cx="3474720" cy="16824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4747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07A6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/contact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 Router vs. legacy Pages Router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4320540" cy="754380"/>
            <a:chOff x="0" y="0"/>
            <a:chExt cx="576072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60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6072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669280" y="0"/>
                  </a:lnTo>
                  <a:cubicBezTo>
                    <a:pt x="5719826" y="0"/>
                    <a:pt x="5760720" y="40894"/>
                    <a:pt x="5760720" y="91440"/>
                  </a:cubicBezTo>
                  <a:lnTo>
                    <a:pt x="5760720" y="914400"/>
                  </a:lnTo>
                  <a:cubicBezTo>
                    <a:pt x="5760720" y="964946"/>
                    <a:pt x="5719826" y="1005840"/>
                    <a:pt x="5669280" y="1005840"/>
                  </a:cubicBezTo>
                  <a:lnTo>
                    <a:pt x="91440" y="1005840"/>
                  </a:lnTo>
                  <a:cubicBezTo>
                    <a:pt x="40894" y="1005840"/>
                    <a:pt x="0" y="964946"/>
                    <a:pt x="0" y="914400"/>
                  </a:cubicBezTo>
                  <a:close/>
                </a:path>
              </a:pathLst>
            </a:custGeom>
            <a:solidFill>
              <a:srgbClr val="1A1F2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25796" y="2331720"/>
            <a:ext cx="6446520" cy="754380"/>
            <a:chOff x="0" y="0"/>
            <a:chExt cx="859536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503920" y="0"/>
                  </a:lnTo>
                  <a:cubicBezTo>
                    <a:pt x="8554465" y="0"/>
                    <a:pt x="8595360" y="40894"/>
                    <a:pt x="8595360" y="91440"/>
                  </a:cubicBezTo>
                  <a:lnTo>
                    <a:pt x="8595360" y="914400"/>
                  </a:lnTo>
                  <a:cubicBezTo>
                    <a:pt x="8595360" y="964946"/>
                    <a:pt x="8554465" y="1005840"/>
                    <a:pt x="8503920" y="1005840"/>
                  </a:cubicBezTo>
                  <a:lnTo>
                    <a:pt x="91440" y="1005840"/>
                  </a:lnTo>
                  <a:cubicBezTo>
                    <a:pt x="40894" y="1005840"/>
                    <a:pt x="0" y="964946"/>
                    <a:pt x="0" y="91440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54612" y="2331720"/>
            <a:ext cx="6446520" cy="754380"/>
            <a:chOff x="0" y="0"/>
            <a:chExt cx="859536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503920" y="0"/>
                  </a:lnTo>
                  <a:cubicBezTo>
                    <a:pt x="8554465" y="0"/>
                    <a:pt x="8595360" y="40894"/>
                    <a:pt x="8595360" y="91440"/>
                  </a:cubicBezTo>
                  <a:lnTo>
                    <a:pt x="8595360" y="914400"/>
                  </a:lnTo>
                  <a:cubicBezTo>
                    <a:pt x="8595360" y="964946"/>
                    <a:pt x="8554465" y="1005840"/>
                    <a:pt x="8503920" y="1005840"/>
                  </a:cubicBezTo>
                  <a:lnTo>
                    <a:pt x="91440" y="1005840"/>
                  </a:lnTo>
                  <a:cubicBezTo>
                    <a:pt x="40894" y="1005840"/>
                    <a:pt x="0" y="964946"/>
                    <a:pt x="0" y="914400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25796" y="2331720"/>
            <a:ext cx="6446520" cy="754380"/>
            <a:chOff x="0" y="0"/>
            <a:chExt cx="859536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595360" cy="1082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sz="3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Pages Router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54612" y="2331720"/>
            <a:ext cx="6446520" cy="754380"/>
            <a:chOff x="0" y="0"/>
            <a:chExt cx="859536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595360" cy="1082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sz="3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182112"/>
            <a:ext cx="4320540" cy="1179576"/>
            <a:chOff x="0" y="0"/>
            <a:chExt cx="5760720" cy="15727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6072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76072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687568" y="0"/>
                  </a:lnTo>
                  <a:cubicBezTo>
                    <a:pt x="5727954" y="0"/>
                    <a:pt x="5760720" y="32766"/>
                    <a:pt x="5760720" y="73152"/>
                  </a:cubicBezTo>
                  <a:lnTo>
                    <a:pt x="5760720" y="1499616"/>
                  </a:lnTo>
                  <a:cubicBezTo>
                    <a:pt x="5760720" y="1540002"/>
                    <a:pt x="5727954" y="1572768"/>
                    <a:pt x="568756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25796" y="3182112"/>
            <a:ext cx="6446520" cy="1179576"/>
            <a:chOff x="0" y="0"/>
            <a:chExt cx="8595360" cy="15727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754612" y="3182112"/>
            <a:ext cx="6446520" cy="1179576"/>
            <a:chOff x="0" y="0"/>
            <a:chExt cx="8595360" cy="15727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8700" y="3182112"/>
            <a:ext cx="3909060" cy="1179576"/>
            <a:chOff x="0" y="0"/>
            <a:chExt cx="5212080" cy="15727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72" r="0" b="-1457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21208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folder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17820" y="3182112"/>
            <a:ext cx="5897880" cy="1179576"/>
            <a:chOff x="0" y="0"/>
            <a:chExt cx="7863840" cy="15727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pages/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46636" y="3182112"/>
            <a:ext cx="5897880" cy="1179576"/>
            <a:chOff x="0" y="0"/>
            <a:chExt cx="7863840" cy="15727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app/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4471416"/>
            <a:ext cx="4320540" cy="1179576"/>
            <a:chOff x="0" y="0"/>
            <a:chExt cx="5760720" cy="15727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072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76072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687568" y="0"/>
                  </a:lnTo>
                  <a:cubicBezTo>
                    <a:pt x="5727954" y="0"/>
                    <a:pt x="5760720" y="32766"/>
                    <a:pt x="5760720" y="73152"/>
                  </a:cubicBezTo>
                  <a:lnTo>
                    <a:pt x="5760720" y="1499616"/>
                  </a:lnTo>
                  <a:cubicBezTo>
                    <a:pt x="5760720" y="1540002"/>
                    <a:pt x="5727954" y="1572768"/>
                    <a:pt x="568756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225796" y="4471416"/>
            <a:ext cx="6446520" cy="1179576"/>
            <a:chOff x="0" y="0"/>
            <a:chExt cx="8595360" cy="15727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54612" y="4471416"/>
            <a:ext cx="6446520" cy="1179576"/>
            <a:chOff x="0" y="0"/>
            <a:chExt cx="8595360" cy="15727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8700" y="4471416"/>
            <a:ext cx="3909060" cy="1179576"/>
            <a:chOff x="0" y="0"/>
            <a:chExt cx="5212080" cy="15727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20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72" r="0" b="-1457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21208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fetching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17820" y="4471416"/>
            <a:ext cx="5897880" cy="1179576"/>
            <a:chOff x="0" y="0"/>
            <a:chExt cx="7863840" cy="15727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getServerSideProps / getStaticProps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946636" y="4471416"/>
            <a:ext cx="5897880" cy="1179576"/>
            <a:chOff x="0" y="0"/>
            <a:chExt cx="7863840" cy="15727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async Server Components (fetch directly)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5760720"/>
            <a:ext cx="4320540" cy="1179576"/>
            <a:chOff x="0" y="0"/>
            <a:chExt cx="5760720" cy="15727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6072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76072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687568" y="0"/>
                  </a:lnTo>
                  <a:cubicBezTo>
                    <a:pt x="5727954" y="0"/>
                    <a:pt x="5760720" y="32766"/>
                    <a:pt x="5760720" y="73152"/>
                  </a:cubicBezTo>
                  <a:lnTo>
                    <a:pt x="5760720" y="1499616"/>
                  </a:lnTo>
                  <a:cubicBezTo>
                    <a:pt x="5760720" y="1540002"/>
                    <a:pt x="5727954" y="1572768"/>
                    <a:pt x="568756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225796" y="5760720"/>
            <a:ext cx="6446520" cy="1179576"/>
            <a:chOff x="0" y="0"/>
            <a:chExt cx="8595360" cy="15727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54612" y="5760720"/>
            <a:ext cx="6446520" cy="1179576"/>
            <a:chOff x="0" y="0"/>
            <a:chExt cx="8595360" cy="15727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8700" y="5760720"/>
            <a:ext cx="3909060" cy="1179576"/>
            <a:chOff x="0" y="0"/>
            <a:chExt cx="5212080" cy="15727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120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72" r="0" b="-145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521208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Default rendering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17820" y="5760720"/>
            <a:ext cx="5897880" cy="1179576"/>
            <a:chOff x="0" y="0"/>
            <a:chExt cx="7863840" cy="15727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Client-rendered by default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946636" y="5760720"/>
            <a:ext cx="5897880" cy="1179576"/>
            <a:chOff x="0" y="0"/>
            <a:chExt cx="7863840" cy="15727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 Components by default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7050024"/>
            <a:ext cx="4320540" cy="1179576"/>
            <a:chOff x="0" y="0"/>
            <a:chExt cx="5760720" cy="15727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6072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76072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687568" y="0"/>
                  </a:lnTo>
                  <a:cubicBezTo>
                    <a:pt x="5727954" y="0"/>
                    <a:pt x="5760720" y="32766"/>
                    <a:pt x="5760720" y="73152"/>
                  </a:cubicBezTo>
                  <a:lnTo>
                    <a:pt x="5760720" y="1499616"/>
                  </a:lnTo>
                  <a:cubicBezTo>
                    <a:pt x="5760720" y="1540002"/>
                    <a:pt x="5727954" y="1572768"/>
                    <a:pt x="568756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225796" y="7050024"/>
            <a:ext cx="6446520" cy="1179576"/>
            <a:chOff x="0" y="0"/>
            <a:chExt cx="8595360" cy="15727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54612" y="7050024"/>
            <a:ext cx="6446520" cy="1179576"/>
            <a:chOff x="0" y="0"/>
            <a:chExt cx="8595360" cy="15727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28700" y="7050024"/>
            <a:ext cx="3909060" cy="1179576"/>
            <a:chOff x="0" y="0"/>
            <a:chExt cx="5212080" cy="15727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120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72" r="0" b="-1457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21208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Layouts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17820" y="7050024"/>
            <a:ext cx="5897880" cy="1179576"/>
            <a:chOff x="0" y="0"/>
            <a:chExt cx="7863840" cy="15727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Manual, per-page _app.js wrapper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946636" y="7050024"/>
            <a:ext cx="5897880" cy="1179576"/>
            <a:chOff x="0" y="0"/>
            <a:chExt cx="7863840" cy="15727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Native, nested layout.js files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8339328"/>
            <a:ext cx="4320540" cy="1179576"/>
            <a:chOff x="0" y="0"/>
            <a:chExt cx="5760720" cy="15727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6072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76072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687568" y="0"/>
                  </a:lnTo>
                  <a:cubicBezTo>
                    <a:pt x="5727954" y="0"/>
                    <a:pt x="5760720" y="32766"/>
                    <a:pt x="5760720" y="73152"/>
                  </a:cubicBezTo>
                  <a:lnTo>
                    <a:pt x="5760720" y="1499616"/>
                  </a:lnTo>
                  <a:cubicBezTo>
                    <a:pt x="5760720" y="1540002"/>
                    <a:pt x="5727954" y="1572768"/>
                    <a:pt x="568756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225796" y="8339328"/>
            <a:ext cx="6446520" cy="1179576"/>
            <a:chOff x="0" y="0"/>
            <a:chExt cx="8595360" cy="15727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754612" y="8339328"/>
            <a:ext cx="6446520" cy="1179576"/>
            <a:chOff x="0" y="0"/>
            <a:chExt cx="8595360" cy="15727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953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85953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8522208" y="0"/>
                  </a:lnTo>
                  <a:cubicBezTo>
                    <a:pt x="8562594" y="0"/>
                    <a:pt x="8595360" y="32766"/>
                    <a:pt x="8595360" y="73152"/>
                  </a:cubicBezTo>
                  <a:lnTo>
                    <a:pt x="8595360" y="1499616"/>
                  </a:lnTo>
                  <a:cubicBezTo>
                    <a:pt x="8595360" y="1540002"/>
                    <a:pt x="8562594" y="1572768"/>
                    <a:pt x="8522208" y="1572768"/>
                  </a:cubicBezTo>
                  <a:lnTo>
                    <a:pt x="73152" y="1572768"/>
                  </a:lnTo>
                  <a:cubicBezTo>
                    <a:pt x="32766" y="1572768"/>
                    <a:pt x="0" y="1540002"/>
                    <a:pt x="0" y="149961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28700" y="8339328"/>
            <a:ext cx="3909060" cy="1179576"/>
            <a:chOff x="0" y="0"/>
            <a:chExt cx="5212080" cy="15727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120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72" r="0" b="-145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521208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17820" y="8339328"/>
            <a:ext cx="5897880" cy="1179576"/>
            <a:chOff x="0" y="0"/>
            <a:chExt cx="7863840" cy="15727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Legacy — still supported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946636" y="8339328"/>
            <a:ext cx="5897880" cy="1179576"/>
            <a:chOff x="0" y="0"/>
            <a:chExt cx="7863840" cy="15727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863840" cy="1572768"/>
            </a:xfrm>
            <a:custGeom>
              <a:avLst/>
              <a:gdLst/>
              <a:ahLst/>
              <a:cxnLst/>
              <a:rect r="r" b="b" t="t" l="l"/>
              <a:pathLst>
                <a:path h="1572768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7863840" cy="16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Recommended for new projects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Folder structure &amp; special files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6309360" cy="6858000"/>
            <a:chOff x="0" y="0"/>
            <a:chExt cx="8412480" cy="9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124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8412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266176" y="0"/>
                  </a:lnTo>
                  <a:cubicBezTo>
                    <a:pt x="8346948" y="0"/>
                    <a:pt x="8412480" y="65532"/>
                    <a:pt x="8412480" y="146304"/>
                  </a:cubicBezTo>
                  <a:lnTo>
                    <a:pt x="8412480" y="8997696"/>
                  </a:lnTo>
                  <a:cubicBezTo>
                    <a:pt x="8412480" y="9078468"/>
                    <a:pt x="8346948" y="9144000"/>
                    <a:pt x="826617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4114800" cy="548640"/>
            <a:chOff x="0" y="0"/>
            <a:chExt cx="5486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486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2A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app/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0180" y="3607308"/>
            <a:ext cx="246888" cy="27432"/>
            <a:chOff x="0" y="0"/>
            <a:chExt cx="329184" cy="365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" cy="36576"/>
            </a:xfrm>
            <a:custGeom>
              <a:avLst/>
              <a:gdLst/>
              <a:ahLst/>
              <a:cxnLst/>
              <a:rect r="r" b="b" t="t" l="l"/>
              <a:pathLst>
                <a:path h="3657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A415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3429000"/>
            <a:ext cx="411480" cy="685800"/>
            <a:chOff x="0" y="0"/>
            <a:chExt cx="54864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48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83080" y="3429000"/>
            <a:ext cx="4937760" cy="548640"/>
            <a:chOff x="0" y="0"/>
            <a:chExt cx="65836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583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layout.js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0180" y="4773168"/>
            <a:ext cx="246888" cy="27432"/>
            <a:chOff x="0" y="0"/>
            <a:chExt cx="329184" cy="365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84" cy="36576"/>
            </a:xfrm>
            <a:custGeom>
              <a:avLst/>
              <a:gdLst/>
              <a:ahLst/>
              <a:cxnLst/>
              <a:rect r="r" b="b" t="t" l="l"/>
              <a:pathLst>
                <a:path h="3657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A41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4594860"/>
            <a:ext cx="411480" cy="685800"/>
            <a:chOff x="0" y="0"/>
            <a:chExt cx="5486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48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83080" y="4594860"/>
            <a:ext cx="4937760" cy="581192"/>
            <a:chOff x="0" y="0"/>
            <a:chExt cx="6583680" cy="7749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774923"/>
            </a:xfrm>
            <a:custGeom>
              <a:avLst/>
              <a:gdLst/>
              <a:ahLst/>
              <a:cxnLst/>
              <a:rect r="r" b="b" t="t" l="l"/>
              <a:pathLst>
                <a:path h="77492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74923"/>
                  </a:lnTo>
                  <a:lnTo>
                    <a:pt x="0" y="7749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343" r="0" b="-1127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583680" cy="784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page.js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0180" y="5939028"/>
            <a:ext cx="246888" cy="27432"/>
            <a:chOff x="0" y="0"/>
            <a:chExt cx="329184" cy="365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184" cy="36576"/>
            </a:xfrm>
            <a:custGeom>
              <a:avLst/>
              <a:gdLst/>
              <a:ahLst/>
              <a:cxnLst/>
              <a:rect r="r" b="b" t="t" l="l"/>
              <a:pathLst>
                <a:path h="3657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A415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" y="5760720"/>
            <a:ext cx="411480" cy="685800"/>
            <a:chOff x="0" y="0"/>
            <a:chExt cx="54864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48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83080" y="5760720"/>
            <a:ext cx="4937760" cy="548640"/>
            <a:chOff x="0" y="0"/>
            <a:chExt cx="65836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583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loading.js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40180" y="7104888"/>
            <a:ext cx="246888" cy="27432"/>
            <a:chOff x="0" y="0"/>
            <a:chExt cx="329184" cy="3657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9184" cy="36576"/>
            </a:xfrm>
            <a:custGeom>
              <a:avLst/>
              <a:gdLst/>
              <a:ahLst/>
              <a:cxnLst/>
              <a:rect r="r" b="b" t="t" l="l"/>
              <a:pathLst>
                <a:path h="3657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A415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6926580"/>
            <a:ext cx="411480" cy="685800"/>
            <a:chOff x="0" y="0"/>
            <a:chExt cx="54864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48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83080" y="6926580"/>
            <a:ext cx="4937760" cy="548640"/>
            <a:chOff x="0" y="0"/>
            <a:chExt cx="65836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583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error.js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0180" y="8270748"/>
            <a:ext cx="246888" cy="27432"/>
            <a:chOff x="0" y="0"/>
            <a:chExt cx="329184" cy="365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" cy="36576"/>
            </a:xfrm>
            <a:custGeom>
              <a:avLst/>
              <a:gdLst/>
              <a:ahLst/>
              <a:cxnLst/>
              <a:rect r="r" b="b" t="t" l="l"/>
              <a:pathLst>
                <a:path h="3657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A415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" y="8092440"/>
            <a:ext cx="411480" cy="685800"/>
            <a:chOff x="0" y="0"/>
            <a:chExt cx="5486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48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83080" y="8092440"/>
            <a:ext cx="4937760" cy="548640"/>
            <a:chOff x="0" y="0"/>
            <a:chExt cx="65836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583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not-found.js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43800" y="2359152"/>
            <a:ext cx="9944100" cy="1152144"/>
            <a:chOff x="0" y="0"/>
            <a:chExt cx="13258800" cy="15361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2588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325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112496" y="0"/>
                  </a:lnTo>
                  <a:cubicBezTo>
                    <a:pt x="13193268" y="0"/>
                    <a:pt x="13258800" y="65532"/>
                    <a:pt x="13258800" y="146304"/>
                  </a:cubicBezTo>
                  <a:lnTo>
                    <a:pt x="13258800" y="1389888"/>
                  </a:lnTo>
                  <a:cubicBezTo>
                    <a:pt x="13258800" y="1470660"/>
                    <a:pt x="13193268" y="1536192"/>
                    <a:pt x="13112496" y="1536192"/>
                  </a:cubicBezTo>
                  <a:lnTo>
                    <a:pt x="146304" y="1536192"/>
                  </a:lnTo>
                  <a:cubicBezTo>
                    <a:pt x="65532" y="1536192"/>
                    <a:pt x="0" y="1470660"/>
                    <a:pt x="0" y="138988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845552" y="2441448"/>
            <a:ext cx="2743200" cy="1014984"/>
            <a:chOff x="0" y="0"/>
            <a:chExt cx="3657600" cy="13533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2" r="0" b="-26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657600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5B6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layout.js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424160" y="2441448"/>
            <a:ext cx="6858000" cy="1014984"/>
            <a:chOff x="0" y="0"/>
            <a:chExt cx="9144000" cy="13533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55" r="0" b="-816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14400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Shared UI (nav, footer) that wraps children and persists across navigation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543800" y="3648456"/>
            <a:ext cx="9944100" cy="1152144"/>
            <a:chOff x="0" y="0"/>
            <a:chExt cx="13258800" cy="15361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2588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325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112496" y="0"/>
                  </a:lnTo>
                  <a:cubicBezTo>
                    <a:pt x="13193268" y="0"/>
                    <a:pt x="13258800" y="65532"/>
                    <a:pt x="13258800" y="146304"/>
                  </a:cubicBezTo>
                  <a:lnTo>
                    <a:pt x="13258800" y="1389888"/>
                  </a:lnTo>
                  <a:cubicBezTo>
                    <a:pt x="13258800" y="1470660"/>
                    <a:pt x="13193268" y="1536192"/>
                    <a:pt x="13112496" y="1536192"/>
                  </a:cubicBezTo>
                  <a:lnTo>
                    <a:pt x="146304" y="1536192"/>
                  </a:lnTo>
                  <a:cubicBezTo>
                    <a:pt x="65532" y="1536192"/>
                    <a:pt x="0" y="1470660"/>
                    <a:pt x="0" y="138988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845552" y="3730752"/>
            <a:ext cx="2743200" cy="1014984"/>
            <a:chOff x="0" y="0"/>
            <a:chExt cx="3657600" cy="13533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2" r="0" b="-266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657600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5B6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page.js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24160" y="3730752"/>
            <a:ext cx="6858000" cy="1014984"/>
            <a:chOff x="0" y="0"/>
            <a:chExt cx="9144000" cy="13533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55" r="0" b="-816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unique UI for this route segment — makes the folder publicly visitable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543800" y="4937760"/>
            <a:ext cx="9944100" cy="1152144"/>
            <a:chOff x="0" y="0"/>
            <a:chExt cx="13258800" cy="15361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2588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325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112496" y="0"/>
                  </a:lnTo>
                  <a:cubicBezTo>
                    <a:pt x="13193268" y="0"/>
                    <a:pt x="13258800" y="65532"/>
                    <a:pt x="13258800" y="146304"/>
                  </a:cubicBezTo>
                  <a:lnTo>
                    <a:pt x="13258800" y="1389888"/>
                  </a:lnTo>
                  <a:cubicBezTo>
                    <a:pt x="13258800" y="1470660"/>
                    <a:pt x="13193268" y="1536192"/>
                    <a:pt x="13112496" y="1536192"/>
                  </a:cubicBezTo>
                  <a:lnTo>
                    <a:pt x="146304" y="1536192"/>
                  </a:lnTo>
                  <a:cubicBezTo>
                    <a:pt x="65532" y="1536192"/>
                    <a:pt x="0" y="1470660"/>
                    <a:pt x="0" y="138988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845552" y="5020056"/>
            <a:ext cx="2743200" cy="1014984"/>
            <a:chOff x="0" y="0"/>
            <a:chExt cx="3657600" cy="13533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2" r="0" b="-266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3657600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5B6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loading.js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424160" y="5020056"/>
            <a:ext cx="6858000" cy="1014984"/>
            <a:chOff x="0" y="0"/>
            <a:chExt cx="9144000" cy="13533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55" r="0" b="-8165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14400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Automatic loading/Suspense fallback shown while the segment loads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543800" y="6227064"/>
            <a:ext cx="9944100" cy="1152144"/>
            <a:chOff x="0" y="0"/>
            <a:chExt cx="13258800" cy="15361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2588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325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112496" y="0"/>
                  </a:lnTo>
                  <a:cubicBezTo>
                    <a:pt x="13193268" y="0"/>
                    <a:pt x="13258800" y="65532"/>
                    <a:pt x="13258800" y="146304"/>
                  </a:cubicBezTo>
                  <a:lnTo>
                    <a:pt x="13258800" y="1389888"/>
                  </a:lnTo>
                  <a:cubicBezTo>
                    <a:pt x="13258800" y="1470660"/>
                    <a:pt x="13193268" y="1536192"/>
                    <a:pt x="13112496" y="1536192"/>
                  </a:cubicBezTo>
                  <a:lnTo>
                    <a:pt x="146304" y="1536192"/>
                  </a:lnTo>
                  <a:cubicBezTo>
                    <a:pt x="65532" y="1536192"/>
                    <a:pt x="0" y="1470660"/>
                    <a:pt x="0" y="138988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845552" y="6309360"/>
            <a:ext cx="2743200" cy="1014984"/>
            <a:chOff x="0" y="0"/>
            <a:chExt cx="3657600" cy="13533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2" r="0" b="-266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3657600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5B6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error.js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424160" y="6309360"/>
            <a:ext cx="6858000" cy="1014984"/>
            <a:chOff x="0" y="0"/>
            <a:chExt cx="9144000" cy="13533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55" r="0" b="-8165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4400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 error boundary that catches errors in this segment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543800" y="7516368"/>
            <a:ext cx="9944100" cy="1152144"/>
            <a:chOff x="0" y="0"/>
            <a:chExt cx="13258800" cy="15361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2588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325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112496" y="0"/>
                  </a:lnTo>
                  <a:cubicBezTo>
                    <a:pt x="13193268" y="0"/>
                    <a:pt x="13258800" y="65532"/>
                    <a:pt x="13258800" y="146304"/>
                  </a:cubicBezTo>
                  <a:lnTo>
                    <a:pt x="13258800" y="1389888"/>
                  </a:lnTo>
                  <a:cubicBezTo>
                    <a:pt x="13258800" y="1470660"/>
                    <a:pt x="13193268" y="1536192"/>
                    <a:pt x="13112496" y="1536192"/>
                  </a:cubicBezTo>
                  <a:lnTo>
                    <a:pt x="146304" y="1536192"/>
                  </a:lnTo>
                  <a:cubicBezTo>
                    <a:pt x="65532" y="1536192"/>
                    <a:pt x="0" y="1470660"/>
                    <a:pt x="0" y="138988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7845552" y="7598664"/>
            <a:ext cx="2743200" cy="1014984"/>
            <a:chOff x="0" y="0"/>
            <a:chExt cx="3657600" cy="13533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2" r="0" b="-266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657600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5B6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not-found.js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424160" y="7598664"/>
            <a:ext cx="6858000" cy="1014984"/>
            <a:chOff x="0" y="0"/>
            <a:chExt cx="9144000" cy="13533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55" r="0" b="-8165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14400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UI shown when notFound() is thrown or a route doesn't match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Nested &amp; dynamic routes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16596360" cy="1064762"/>
            <a:chOff x="0" y="0"/>
            <a:chExt cx="22128480" cy="1419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19683"/>
            </a:xfrm>
            <a:custGeom>
              <a:avLst/>
              <a:gdLst/>
              <a:ahLst/>
              <a:cxnLst/>
              <a:rect r="r" b="b" t="t" l="l"/>
              <a:pathLst>
                <a:path h="141968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19683"/>
                  </a:lnTo>
                  <a:lnTo>
                    <a:pt x="0" y="14196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066" r="0" b="-2423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128480" cy="1486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Folders nest to build nested URLs. </a:t>
              </a:r>
            </a:p>
            <a:p>
              <a:pPr algn="l">
                <a:lnSpc>
                  <a:spcPts val="3659"/>
                </a:lnSpc>
              </a:pPr>
              <a:r>
                <a:rPr lang="en-US" sz="3049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Square brackets </a:t>
              </a:r>
              <a:r>
                <a:rPr lang="en-US" sz="3049" b="true">
                  <a:solidFill>
                    <a:srgbClr val="5B6C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[id]</a:t>
              </a:r>
              <a:r>
                <a:rPr lang="en-US" sz="3049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create a dynamic segment captured as a route parameter.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360420"/>
            <a:ext cx="7680960" cy="4251960"/>
            <a:chOff x="0" y="0"/>
            <a:chExt cx="10241280" cy="5669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5669280"/>
            </a:xfrm>
            <a:custGeom>
              <a:avLst/>
              <a:gdLst/>
              <a:ahLst/>
              <a:cxnLst/>
              <a:rect r="r" b="b" t="t" l="l"/>
              <a:pathLst>
                <a:path h="566928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5522976"/>
                  </a:lnTo>
                  <a:cubicBezTo>
                    <a:pt x="10241280" y="5603748"/>
                    <a:pt x="10175748" y="5669280"/>
                    <a:pt x="10094976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3771900"/>
            <a:ext cx="4800600" cy="548640"/>
            <a:chOff x="0" y="0"/>
            <a:chExt cx="6400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app/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57400" y="4457700"/>
            <a:ext cx="4800600" cy="548640"/>
            <a:chOff x="0" y="0"/>
            <a:chExt cx="6400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blog/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37460" y="5143500"/>
            <a:ext cx="4800600" cy="548640"/>
            <a:chOff x="0" y="0"/>
            <a:chExt cx="6400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page.js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57400" y="5829300"/>
            <a:ext cx="4800600" cy="548640"/>
            <a:chOff x="0" y="0"/>
            <a:chExt cx="6400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C2A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[id]/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37460" y="6515100"/>
            <a:ext cx="4800600" cy="548640"/>
            <a:chOff x="0" y="0"/>
            <a:chExt cx="64008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C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page.js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905875" y="3350895"/>
            <a:ext cx="8591550" cy="1596390"/>
            <a:chOff x="0" y="0"/>
            <a:chExt cx="11455400" cy="2128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554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1455400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1344402" y="0"/>
                  </a:lnTo>
                  <a:cubicBezTo>
                    <a:pt x="11405743" y="0"/>
                    <a:pt x="11455400" y="49657"/>
                    <a:pt x="11455400" y="110998"/>
                  </a:cubicBezTo>
                  <a:lnTo>
                    <a:pt x="11455400" y="2017522"/>
                  </a:lnTo>
                  <a:cubicBezTo>
                    <a:pt x="11455400" y="2078863"/>
                    <a:pt x="11405743" y="2128520"/>
                    <a:pt x="11344402" y="2128520"/>
                  </a:cubicBezTo>
                  <a:lnTo>
                    <a:pt x="110998" y="2128520"/>
                  </a:lnTo>
                  <a:cubicBezTo>
                    <a:pt x="49657" y="2128520"/>
                    <a:pt x="0" y="2078863"/>
                    <a:pt x="0" y="2017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915400" y="3360420"/>
            <a:ext cx="8572500" cy="576072"/>
            <a:chOff x="0" y="0"/>
            <a:chExt cx="1143000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30000" cy="768096"/>
            </a:xfrm>
            <a:custGeom>
              <a:avLst/>
              <a:gdLst/>
              <a:ahLst/>
              <a:cxnLst/>
              <a:rect r="r" b="b" t="t" l="l"/>
              <a:pathLst>
                <a:path h="768096" w="11430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320272" y="0"/>
                  </a:lnTo>
                  <a:cubicBezTo>
                    <a:pt x="11380851" y="0"/>
                    <a:pt x="11430000" y="49149"/>
                    <a:pt x="11430000" y="109728"/>
                  </a:cubicBezTo>
                  <a:lnTo>
                    <a:pt x="11430000" y="658368"/>
                  </a:lnTo>
                  <a:cubicBezTo>
                    <a:pt x="11430000" y="718947"/>
                    <a:pt x="11380851" y="768096"/>
                    <a:pt x="1132027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915400" y="3799332"/>
            <a:ext cx="8572500" cy="137160"/>
            <a:chOff x="0" y="0"/>
            <a:chExt cx="11430000" cy="182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30000" cy="182880"/>
            </a:xfrm>
            <a:custGeom>
              <a:avLst/>
              <a:gdLst/>
              <a:ahLst/>
              <a:cxnLst/>
              <a:rect r="r" b="b" t="t" l="l"/>
              <a:pathLst>
                <a:path h="1828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34856" y="3566160"/>
            <a:ext cx="164592" cy="164592"/>
            <a:chOff x="0" y="0"/>
            <a:chExt cx="219456" cy="2194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36608" y="3566160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38360" y="3566160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18420" y="3483864"/>
            <a:ext cx="6995160" cy="329184"/>
            <a:chOff x="0" y="0"/>
            <a:chExt cx="9326880" cy="4389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26880" cy="438912"/>
            </a:xfrm>
            <a:custGeom>
              <a:avLst/>
              <a:gdLst/>
              <a:ahLst/>
              <a:cxnLst/>
              <a:rect r="r" b="b" t="t" l="l"/>
              <a:pathLst>
                <a:path h="438912" w="9326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235440" y="0"/>
                  </a:lnTo>
                  <a:cubicBezTo>
                    <a:pt x="9285986" y="0"/>
                    <a:pt x="9326880" y="40894"/>
                    <a:pt x="9326880" y="91440"/>
                  </a:cubicBezTo>
                  <a:lnTo>
                    <a:pt x="9326880" y="347472"/>
                  </a:lnTo>
                  <a:cubicBezTo>
                    <a:pt x="9326880" y="398018"/>
                    <a:pt x="9285986" y="438912"/>
                    <a:pt x="923544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355580" y="3470148"/>
            <a:ext cx="6789420" cy="356616"/>
            <a:chOff x="0" y="0"/>
            <a:chExt cx="9052560" cy="4754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52560" cy="475488"/>
            </a:xfrm>
            <a:custGeom>
              <a:avLst/>
              <a:gdLst/>
              <a:ahLst/>
              <a:cxnLst/>
              <a:rect r="r" b="b" t="t" l="l"/>
              <a:pathLst>
                <a:path h="475488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965" r="0" b="-3209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0525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myapp.com/blog/123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58300" y="4101084"/>
            <a:ext cx="7886700" cy="630936"/>
            <a:chOff x="0" y="0"/>
            <a:chExt cx="10515600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5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51560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F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myapp.com/blog/</a:t>
              </a:r>
              <a:r>
                <a:rPr lang="en-US" sz="2250" b="true">
                  <a:solidFill>
                    <a:srgbClr val="007A6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123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15400" y="5280660"/>
            <a:ext cx="8572500" cy="2331720"/>
            <a:chOff x="0" y="0"/>
            <a:chExt cx="11430000" cy="3108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430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2962656"/>
                  </a:lnTo>
                  <a:cubicBezTo>
                    <a:pt x="11430000" y="3043428"/>
                    <a:pt x="11364468" y="3108960"/>
                    <a:pt x="1128369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258300" y="5438775"/>
            <a:ext cx="7886700" cy="120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2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params.id</a:t>
            </a:r>
          </a:p>
          <a:p>
            <a:pPr algn="l">
              <a:lnSpc>
                <a:spcPts val="3239"/>
              </a:lnSpc>
            </a:pPr>
            <a:r>
              <a:rPr lang="en-US" sz="22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evaluates to "123" — the same page can render different posts based on the URL.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915400" y="7886700"/>
            <a:ext cx="8572500" cy="1371600"/>
            <a:chOff x="0" y="0"/>
            <a:chExt cx="114300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30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430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320272" y="0"/>
                  </a:lnTo>
                  <a:cubicBezTo>
                    <a:pt x="11380851" y="0"/>
                    <a:pt x="11430000" y="49149"/>
                    <a:pt x="11430000" y="109728"/>
                  </a:cubicBezTo>
                  <a:lnTo>
                    <a:pt x="11430000" y="1719072"/>
                  </a:lnTo>
                  <a:cubicBezTo>
                    <a:pt x="11430000" y="1779651"/>
                    <a:pt x="11380851" y="1828800"/>
                    <a:pt x="11320272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217152" y="8068056"/>
            <a:ext cx="7968996" cy="97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function Post({ params }) {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&lt;h1&gt;Post #{params.id}&lt;/h1&gt;;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Server vs. Client Components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4594860"/>
            <a:chOff x="0" y="0"/>
            <a:chExt cx="10789920" cy="6126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6126480"/>
            </a:xfrm>
            <a:custGeom>
              <a:avLst/>
              <a:gdLst/>
              <a:ahLst/>
              <a:cxnLst/>
              <a:rect r="r" b="b" t="t" l="l"/>
              <a:pathLst>
                <a:path h="612648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5943600"/>
                  </a:lnTo>
                  <a:cubicBezTo>
                    <a:pt x="10789920" y="6044565"/>
                    <a:pt x="10708005" y="6126480"/>
                    <a:pt x="10607040" y="6126480"/>
                  </a:cubicBezTo>
                  <a:lnTo>
                    <a:pt x="182880" y="6126480"/>
                  </a:lnTo>
                  <a:cubicBezTo>
                    <a:pt x="81915" y="6126480"/>
                    <a:pt x="0" y="6044565"/>
                    <a:pt x="0" y="5943600"/>
                  </a:cubicBezTo>
                  <a:close/>
                </a:path>
              </a:pathLst>
            </a:custGeom>
            <a:solidFill>
              <a:srgbClr val="EEF0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1178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784348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5"/>
                </a:lnSpc>
              </a:pPr>
              <a:r>
                <a:rPr lang="en-US" sz="300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31720" y="2156871"/>
            <a:ext cx="6172200" cy="2009335"/>
            <a:chOff x="0" y="0"/>
            <a:chExt cx="8229600" cy="26791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0" cy="2679113"/>
            </a:xfrm>
            <a:custGeom>
              <a:avLst/>
              <a:gdLst/>
              <a:ahLst/>
              <a:cxnLst/>
              <a:rect r="r" b="b" t="t" l="l"/>
              <a:pathLst>
                <a:path h="2679113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679113"/>
                  </a:lnTo>
                  <a:lnTo>
                    <a:pt x="0" y="26791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1" r="0" b="2649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229600" cy="2679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Server Component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31720" y="3264408"/>
            <a:ext cx="6172200" cy="513512"/>
            <a:chOff x="0" y="0"/>
            <a:chExt cx="8229600" cy="6846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00" cy="684683"/>
            </a:xfrm>
            <a:custGeom>
              <a:avLst/>
              <a:gdLst/>
              <a:ahLst/>
              <a:cxnLst/>
              <a:rect r="r" b="b" t="t" l="l"/>
              <a:pathLst>
                <a:path h="684683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84683"/>
                  </a:lnTo>
                  <a:lnTo>
                    <a:pt x="0" y="6846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36" r="0" b="-1742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229600" cy="69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5B6C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Default in app/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71600" y="4055745"/>
            <a:ext cx="699516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Default in app/</a:t>
            </a:r>
          </a:p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Runs on the server</a:t>
            </a:r>
          </a:p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Can fetch server-side data directly</a:t>
            </a:r>
          </a:p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Cannot use useState, useEffect, or browser APIs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0" y="2331720"/>
            <a:ext cx="8092440" cy="4594860"/>
            <a:chOff x="0" y="0"/>
            <a:chExt cx="10789920" cy="6126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9920" cy="6126480"/>
            </a:xfrm>
            <a:custGeom>
              <a:avLst/>
              <a:gdLst/>
              <a:ahLst/>
              <a:cxnLst/>
              <a:rect r="r" b="b" t="t" l="l"/>
              <a:pathLst>
                <a:path h="612648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5943600"/>
                  </a:lnTo>
                  <a:cubicBezTo>
                    <a:pt x="10789920" y="6044565"/>
                    <a:pt x="10708005" y="6126480"/>
                    <a:pt x="10607040" y="6126480"/>
                  </a:cubicBezTo>
                  <a:lnTo>
                    <a:pt x="182880" y="6126480"/>
                  </a:lnTo>
                  <a:cubicBezTo>
                    <a:pt x="81915" y="6126480"/>
                    <a:pt x="0" y="6044565"/>
                    <a:pt x="0" y="5943600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81260" y="281178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81260" y="2784348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5"/>
                </a:lnSpc>
              </a:pPr>
              <a:r>
                <a:rPr lang="en-US" sz="300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9960" y="2137821"/>
            <a:ext cx="6172200" cy="2009335"/>
            <a:chOff x="0" y="0"/>
            <a:chExt cx="8229600" cy="26791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9600" cy="2679113"/>
            </a:xfrm>
            <a:custGeom>
              <a:avLst/>
              <a:gdLst/>
              <a:ahLst/>
              <a:cxnLst/>
              <a:rect r="r" b="b" t="t" l="l"/>
              <a:pathLst>
                <a:path h="2679113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679113"/>
                  </a:lnTo>
                  <a:lnTo>
                    <a:pt x="0" y="26791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1" r="0" b="264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8229600" cy="2679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 Component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09960" y="3264408"/>
            <a:ext cx="6172200" cy="513512"/>
            <a:chOff x="0" y="0"/>
            <a:chExt cx="8229600" cy="6846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0" cy="684683"/>
            </a:xfrm>
            <a:custGeom>
              <a:avLst/>
              <a:gdLst/>
              <a:ahLst/>
              <a:cxnLst/>
              <a:rect r="r" b="b" t="t" l="l"/>
              <a:pathLst>
                <a:path h="684683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84683"/>
                  </a:lnTo>
                  <a:lnTo>
                    <a:pt x="0" y="6846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36" r="0" b="-1742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229600" cy="69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Opt in with "use client"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149840" y="4055745"/>
            <a:ext cx="699516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Opt in with "use client"</a:t>
            </a:r>
          </a:p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Required for hooks, event handlers &amp; browser APIs</a:t>
            </a:r>
          </a:p>
          <a:p>
            <a:pPr algn="l" marL="464184" indent="-232092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1A1F2B"/>
                </a:solidFill>
                <a:latin typeface="Aptos"/>
                <a:ea typeface="Aptos"/>
                <a:cs typeface="Aptos"/>
                <a:sym typeface="Aptos"/>
              </a:rPr>
              <a:t>Used when the UI needs client-side interactivity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7200900"/>
            <a:ext cx="8092440" cy="2057400"/>
            <a:chOff x="0" y="0"/>
            <a:chExt cx="10789920" cy="274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89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789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680192" y="0"/>
                  </a:lnTo>
                  <a:cubicBezTo>
                    <a:pt x="10740772" y="0"/>
                    <a:pt x="10789920" y="49149"/>
                    <a:pt x="10789920" y="109728"/>
                  </a:cubicBezTo>
                  <a:lnTo>
                    <a:pt x="10789920" y="2633472"/>
                  </a:lnTo>
                  <a:cubicBezTo>
                    <a:pt x="10789920" y="2694051"/>
                    <a:pt x="10740772" y="2743200"/>
                    <a:pt x="1068019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24712" y="7382256"/>
            <a:ext cx="7488936" cy="166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// app/page.js  (Server by default)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async function Page() {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const data = await getPosts();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&lt;PostList posts={data} /&gt;;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1200" y="7200900"/>
            <a:ext cx="8092440" cy="2057400"/>
            <a:chOff x="0" y="0"/>
            <a:chExt cx="10789920" cy="2743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89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789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680192" y="0"/>
                  </a:lnTo>
                  <a:cubicBezTo>
                    <a:pt x="10740772" y="0"/>
                    <a:pt x="10789920" y="49149"/>
                    <a:pt x="10789920" y="109728"/>
                  </a:cubicBezTo>
                  <a:lnTo>
                    <a:pt x="10789920" y="2633472"/>
                  </a:lnTo>
                  <a:cubicBezTo>
                    <a:pt x="10789920" y="2694051"/>
                    <a:pt x="10740772" y="2743200"/>
                    <a:pt x="1068019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902952" y="7382256"/>
            <a:ext cx="7488936" cy="22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"use client";</a:t>
            </a:r>
          </a:p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useState } from "react";</a:t>
            </a:r>
          </a:p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function Counter() {</a:t>
            </a:r>
          </a:p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const [n, setN] = useState(0);</a:t>
            </a:r>
          </a:p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&lt;button onClick={() =&gt; setN(n+1)}&gt;{n}&lt;/button&gt;;</a:t>
            </a:r>
          </a:p>
          <a:p>
            <a:pPr algn="l">
              <a:lnSpc>
                <a:spcPts val="2552"/>
              </a:lnSpc>
            </a:pPr>
            <a:r>
              <a:rPr lang="en-US" sz="18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0956" y="7719203"/>
            <a:ext cx="8037886" cy="1532314"/>
            <a:chOff x="0" y="0"/>
            <a:chExt cx="10717181" cy="2043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7181" cy="2043085"/>
            </a:xfrm>
            <a:custGeom>
              <a:avLst/>
              <a:gdLst/>
              <a:ahLst/>
              <a:cxnLst/>
              <a:rect r="r" b="b" t="t" l="l"/>
              <a:pathLst>
                <a:path h="2043085" w="10717181">
                  <a:moveTo>
                    <a:pt x="0" y="60988"/>
                  </a:moveTo>
                  <a:cubicBezTo>
                    <a:pt x="0" y="27317"/>
                    <a:pt x="81363" y="0"/>
                    <a:pt x="181647" y="0"/>
                  </a:cubicBezTo>
                  <a:lnTo>
                    <a:pt x="10535534" y="0"/>
                  </a:lnTo>
                  <a:cubicBezTo>
                    <a:pt x="10635819" y="0"/>
                    <a:pt x="10717181" y="27317"/>
                    <a:pt x="10717181" y="60988"/>
                  </a:cubicBezTo>
                  <a:lnTo>
                    <a:pt x="10717181" y="1982097"/>
                  </a:lnTo>
                  <a:cubicBezTo>
                    <a:pt x="10717181" y="2015768"/>
                    <a:pt x="10635819" y="2043085"/>
                    <a:pt x="10535534" y="2043085"/>
                  </a:cubicBezTo>
                  <a:lnTo>
                    <a:pt x="181647" y="2043085"/>
                  </a:lnTo>
                  <a:cubicBezTo>
                    <a:pt x="81363" y="2043085"/>
                    <a:pt x="0" y="2015768"/>
                    <a:pt x="0" y="1982097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810817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38124" y="7412191"/>
            <a:ext cx="7083511" cy="2245416"/>
            <a:chOff x="0" y="0"/>
            <a:chExt cx="9444681" cy="2993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44681" cy="2993889"/>
            </a:xfrm>
            <a:custGeom>
              <a:avLst/>
              <a:gdLst/>
              <a:ahLst/>
              <a:cxnLst/>
              <a:rect r="r" b="b" t="t" l="l"/>
              <a:pathLst>
                <a:path h="2993889" w="9444681">
                  <a:moveTo>
                    <a:pt x="0" y="0"/>
                  </a:moveTo>
                  <a:lnTo>
                    <a:pt x="9444681" y="0"/>
                  </a:lnTo>
                  <a:lnTo>
                    <a:pt x="9444681" y="2993889"/>
                  </a:lnTo>
                  <a:lnTo>
                    <a:pt x="0" y="29938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43" r="12865" b="342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444681" cy="3003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 "use client" only where client-side functionality is required.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5820" y="-286074"/>
            <a:ext cx="16596360" cy="3303594"/>
            <a:chOff x="0" y="0"/>
            <a:chExt cx="22128480" cy="44047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2848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56" r="0" b="-124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12848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When to use Cleint Side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90956" y="2822476"/>
            <a:ext cx="8037886" cy="763407"/>
            <a:chOff x="0" y="0"/>
            <a:chExt cx="10717181" cy="10178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17181" cy="1017876"/>
            </a:xfrm>
            <a:custGeom>
              <a:avLst/>
              <a:gdLst/>
              <a:ahLst/>
              <a:cxnLst/>
              <a:rect r="r" b="b" t="t" l="l"/>
              <a:pathLst>
                <a:path h="1017876" w="10717181">
                  <a:moveTo>
                    <a:pt x="0" y="88511"/>
                  </a:moveTo>
                  <a:cubicBezTo>
                    <a:pt x="0" y="39646"/>
                    <a:pt x="108178" y="0"/>
                    <a:pt x="241514" y="0"/>
                  </a:cubicBezTo>
                  <a:lnTo>
                    <a:pt x="10475668" y="0"/>
                  </a:lnTo>
                  <a:cubicBezTo>
                    <a:pt x="10609003" y="0"/>
                    <a:pt x="10717181" y="39646"/>
                    <a:pt x="10717181" y="88511"/>
                  </a:cubicBezTo>
                  <a:lnTo>
                    <a:pt x="10717181" y="929365"/>
                  </a:lnTo>
                  <a:cubicBezTo>
                    <a:pt x="10717181" y="978231"/>
                    <a:pt x="10609004" y="1017876"/>
                    <a:pt x="10475668" y="1017876"/>
                  </a:cubicBezTo>
                  <a:lnTo>
                    <a:pt x="241514" y="1017876"/>
                  </a:lnTo>
                  <a:cubicBezTo>
                    <a:pt x="108178" y="1017876"/>
                    <a:pt x="0" y="978231"/>
                    <a:pt x="0" y="929365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57004" y="2822476"/>
            <a:ext cx="6905789" cy="978808"/>
            <a:chOff x="0" y="0"/>
            <a:chExt cx="9207719" cy="13050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07719" cy="1305077"/>
            </a:xfrm>
            <a:custGeom>
              <a:avLst/>
              <a:gdLst/>
              <a:ahLst/>
              <a:cxnLst/>
              <a:rect r="r" b="b" t="t" l="l"/>
              <a:pathLst>
                <a:path h="1305077" w="9207719">
                  <a:moveTo>
                    <a:pt x="0" y="0"/>
                  </a:moveTo>
                  <a:lnTo>
                    <a:pt x="9207719" y="0"/>
                  </a:lnTo>
                  <a:lnTo>
                    <a:pt x="9207719" y="1305077"/>
                  </a:lnTo>
                  <a:lnTo>
                    <a:pt x="0" y="1305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8" r="39422" b="-477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207719" cy="1314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useState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0956" y="3735245"/>
            <a:ext cx="8037886" cy="763407"/>
            <a:chOff x="0" y="0"/>
            <a:chExt cx="10717181" cy="10178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17181" cy="1017876"/>
            </a:xfrm>
            <a:custGeom>
              <a:avLst/>
              <a:gdLst/>
              <a:ahLst/>
              <a:cxnLst/>
              <a:rect r="r" b="b" t="t" l="l"/>
              <a:pathLst>
                <a:path h="1017876" w="10717181">
                  <a:moveTo>
                    <a:pt x="0" y="88511"/>
                  </a:moveTo>
                  <a:cubicBezTo>
                    <a:pt x="0" y="39646"/>
                    <a:pt x="108178" y="0"/>
                    <a:pt x="241514" y="0"/>
                  </a:cubicBezTo>
                  <a:lnTo>
                    <a:pt x="10475668" y="0"/>
                  </a:lnTo>
                  <a:cubicBezTo>
                    <a:pt x="10609003" y="0"/>
                    <a:pt x="10717181" y="39646"/>
                    <a:pt x="10717181" y="88511"/>
                  </a:cubicBezTo>
                  <a:lnTo>
                    <a:pt x="10717181" y="929365"/>
                  </a:lnTo>
                  <a:cubicBezTo>
                    <a:pt x="10717181" y="978231"/>
                    <a:pt x="10609004" y="1017876"/>
                    <a:pt x="10475668" y="1017876"/>
                  </a:cubicBezTo>
                  <a:lnTo>
                    <a:pt x="241514" y="1017876"/>
                  </a:lnTo>
                  <a:cubicBezTo>
                    <a:pt x="108178" y="1017876"/>
                    <a:pt x="0" y="978231"/>
                    <a:pt x="0" y="929365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57004" y="3735245"/>
            <a:ext cx="6905789" cy="978808"/>
            <a:chOff x="0" y="0"/>
            <a:chExt cx="9207719" cy="13050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07719" cy="1305077"/>
            </a:xfrm>
            <a:custGeom>
              <a:avLst/>
              <a:gdLst/>
              <a:ahLst/>
              <a:cxnLst/>
              <a:rect r="r" b="b" t="t" l="l"/>
              <a:pathLst>
                <a:path h="1305077" w="9207719">
                  <a:moveTo>
                    <a:pt x="0" y="0"/>
                  </a:moveTo>
                  <a:lnTo>
                    <a:pt x="9207719" y="0"/>
                  </a:lnTo>
                  <a:lnTo>
                    <a:pt x="9207719" y="1305077"/>
                  </a:lnTo>
                  <a:lnTo>
                    <a:pt x="0" y="1305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8" r="39422" b="-4773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207719" cy="1314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useEffect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0956" y="4648015"/>
            <a:ext cx="8037886" cy="763407"/>
            <a:chOff x="0" y="0"/>
            <a:chExt cx="10717181" cy="10178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17181" cy="1017876"/>
            </a:xfrm>
            <a:custGeom>
              <a:avLst/>
              <a:gdLst/>
              <a:ahLst/>
              <a:cxnLst/>
              <a:rect r="r" b="b" t="t" l="l"/>
              <a:pathLst>
                <a:path h="1017876" w="10717181">
                  <a:moveTo>
                    <a:pt x="0" y="88511"/>
                  </a:moveTo>
                  <a:cubicBezTo>
                    <a:pt x="0" y="39646"/>
                    <a:pt x="108178" y="0"/>
                    <a:pt x="241514" y="0"/>
                  </a:cubicBezTo>
                  <a:lnTo>
                    <a:pt x="10475668" y="0"/>
                  </a:lnTo>
                  <a:cubicBezTo>
                    <a:pt x="10609003" y="0"/>
                    <a:pt x="10717181" y="39646"/>
                    <a:pt x="10717181" y="88511"/>
                  </a:cubicBezTo>
                  <a:lnTo>
                    <a:pt x="10717181" y="929365"/>
                  </a:lnTo>
                  <a:cubicBezTo>
                    <a:pt x="10717181" y="978231"/>
                    <a:pt x="10609004" y="1017876"/>
                    <a:pt x="10475668" y="1017876"/>
                  </a:cubicBezTo>
                  <a:lnTo>
                    <a:pt x="241514" y="1017876"/>
                  </a:lnTo>
                  <a:cubicBezTo>
                    <a:pt x="108178" y="1017876"/>
                    <a:pt x="0" y="978231"/>
                    <a:pt x="0" y="929365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57004" y="4648015"/>
            <a:ext cx="6905789" cy="978808"/>
            <a:chOff x="0" y="0"/>
            <a:chExt cx="9207719" cy="13050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07719" cy="1305077"/>
            </a:xfrm>
            <a:custGeom>
              <a:avLst/>
              <a:gdLst/>
              <a:ahLst/>
              <a:cxnLst/>
              <a:rect r="r" b="b" t="t" l="l"/>
              <a:pathLst>
                <a:path h="1305077" w="9207719">
                  <a:moveTo>
                    <a:pt x="0" y="0"/>
                  </a:moveTo>
                  <a:lnTo>
                    <a:pt x="9207719" y="0"/>
                  </a:lnTo>
                  <a:lnTo>
                    <a:pt x="9207719" y="1305077"/>
                  </a:lnTo>
                  <a:lnTo>
                    <a:pt x="0" y="1305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8" r="39422" b="-477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207719" cy="1314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Event Handlers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0956" y="5560784"/>
            <a:ext cx="8037886" cy="763407"/>
            <a:chOff x="0" y="0"/>
            <a:chExt cx="10717181" cy="10178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17181" cy="1017876"/>
            </a:xfrm>
            <a:custGeom>
              <a:avLst/>
              <a:gdLst/>
              <a:ahLst/>
              <a:cxnLst/>
              <a:rect r="r" b="b" t="t" l="l"/>
              <a:pathLst>
                <a:path h="1017876" w="10717181">
                  <a:moveTo>
                    <a:pt x="0" y="88511"/>
                  </a:moveTo>
                  <a:cubicBezTo>
                    <a:pt x="0" y="39646"/>
                    <a:pt x="108178" y="0"/>
                    <a:pt x="241514" y="0"/>
                  </a:cubicBezTo>
                  <a:lnTo>
                    <a:pt x="10475668" y="0"/>
                  </a:lnTo>
                  <a:cubicBezTo>
                    <a:pt x="10609003" y="0"/>
                    <a:pt x="10717181" y="39646"/>
                    <a:pt x="10717181" y="88511"/>
                  </a:cubicBezTo>
                  <a:lnTo>
                    <a:pt x="10717181" y="929365"/>
                  </a:lnTo>
                  <a:cubicBezTo>
                    <a:pt x="10717181" y="978231"/>
                    <a:pt x="10609004" y="1017876"/>
                    <a:pt x="10475668" y="1017876"/>
                  </a:cubicBezTo>
                  <a:lnTo>
                    <a:pt x="241514" y="1017876"/>
                  </a:lnTo>
                  <a:cubicBezTo>
                    <a:pt x="108178" y="1017876"/>
                    <a:pt x="0" y="978231"/>
                    <a:pt x="0" y="929365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7004" y="5560784"/>
            <a:ext cx="6905789" cy="978808"/>
            <a:chOff x="0" y="0"/>
            <a:chExt cx="9207719" cy="13050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07719" cy="1305077"/>
            </a:xfrm>
            <a:custGeom>
              <a:avLst/>
              <a:gdLst/>
              <a:ahLst/>
              <a:cxnLst/>
              <a:rect r="r" b="b" t="t" l="l"/>
              <a:pathLst>
                <a:path h="1305077" w="9207719">
                  <a:moveTo>
                    <a:pt x="0" y="0"/>
                  </a:moveTo>
                  <a:lnTo>
                    <a:pt x="9207719" y="0"/>
                  </a:lnTo>
                  <a:lnTo>
                    <a:pt x="9207719" y="1305077"/>
                  </a:lnTo>
                  <a:lnTo>
                    <a:pt x="0" y="1305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8" r="39422" b="-477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207719" cy="1314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Browser APIs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90956" y="6496384"/>
            <a:ext cx="8037886" cy="763407"/>
            <a:chOff x="0" y="0"/>
            <a:chExt cx="10717181" cy="10178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17181" cy="1017876"/>
            </a:xfrm>
            <a:custGeom>
              <a:avLst/>
              <a:gdLst/>
              <a:ahLst/>
              <a:cxnLst/>
              <a:rect r="r" b="b" t="t" l="l"/>
              <a:pathLst>
                <a:path h="1017876" w="10717181">
                  <a:moveTo>
                    <a:pt x="0" y="88511"/>
                  </a:moveTo>
                  <a:cubicBezTo>
                    <a:pt x="0" y="39646"/>
                    <a:pt x="108178" y="0"/>
                    <a:pt x="241514" y="0"/>
                  </a:cubicBezTo>
                  <a:lnTo>
                    <a:pt x="10475668" y="0"/>
                  </a:lnTo>
                  <a:cubicBezTo>
                    <a:pt x="10609003" y="0"/>
                    <a:pt x="10717181" y="39646"/>
                    <a:pt x="10717181" y="88511"/>
                  </a:cubicBezTo>
                  <a:lnTo>
                    <a:pt x="10717181" y="929365"/>
                  </a:lnTo>
                  <a:cubicBezTo>
                    <a:pt x="10717181" y="978231"/>
                    <a:pt x="10609004" y="1017876"/>
                    <a:pt x="10475668" y="1017876"/>
                  </a:cubicBezTo>
                  <a:lnTo>
                    <a:pt x="241514" y="1017876"/>
                  </a:lnTo>
                  <a:cubicBezTo>
                    <a:pt x="108178" y="1017876"/>
                    <a:pt x="0" y="978231"/>
                    <a:pt x="0" y="929365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7004" y="6496384"/>
            <a:ext cx="6905789" cy="978808"/>
            <a:chOff x="0" y="0"/>
            <a:chExt cx="9207719" cy="130507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207719" cy="1305077"/>
            </a:xfrm>
            <a:custGeom>
              <a:avLst/>
              <a:gdLst/>
              <a:ahLst/>
              <a:cxnLst/>
              <a:rect r="r" b="b" t="t" l="l"/>
              <a:pathLst>
                <a:path h="1305077" w="9207719">
                  <a:moveTo>
                    <a:pt x="0" y="0"/>
                  </a:moveTo>
                  <a:lnTo>
                    <a:pt x="9207719" y="0"/>
                  </a:lnTo>
                  <a:lnTo>
                    <a:pt x="9207719" y="1305077"/>
                  </a:lnTo>
                  <a:lnTo>
                    <a:pt x="0" y="1305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8" r="39422" b="-477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9207719" cy="1314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7E4E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Interactive UI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45820" y="1381184"/>
            <a:ext cx="6172200" cy="1864416"/>
            <a:chOff x="0" y="0"/>
            <a:chExt cx="8229600" cy="24858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29600" cy="2485889"/>
            </a:xfrm>
            <a:custGeom>
              <a:avLst/>
              <a:gdLst/>
              <a:ahLst/>
              <a:cxnLst/>
              <a:rect r="r" b="b" t="t" l="l"/>
              <a:pathLst>
                <a:path h="2485889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85889"/>
                  </a:lnTo>
                  <a:lnTo>
                    <a:pt x="0" y="24858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792" r="0" b="207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229600" cy="2495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Need: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Shared layouts, metadata &amp; SEO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21992"/>
            <a:ext cx="8092440" cy="548640"/>
            <a:chOff x="0" y="0"/>
            <a:chExt cx="1078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789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Layouts wrap pages and persist across navigation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870835"/>
            <a:ext cx="8111490" cy="6259830"/>
            <a:chOff x="0" y="0"/>
            <a:chExt cx="10815320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5320" cy="8346440"/>
            </a:xfrm>
            <a:custGeom>
              <a:avLst/>
              <a:gdLst/>
              <a:ahLst/>
              <a:cxnLst/>
              <a:rect r="r" b="b" t="t" l="l"/>
              <a:pathLst>
                <a:path h="8346440" w="1081532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10705211" y="0"/>
                  </a:lnTo>
                  <a:cubicBezTo>
                    <a:pt x="10766044" y="0"/>
                    <a:pt x="10815320" y="49276"/>
                    <a:pt x="10815320" y="110109"/>
                  </a:cubicBezTo>
                  <a:lnTo>
                    <a:pt x="10815320" y="8236331"/>
                  </a:lnTo>
                  <a:cubicBezTo>
                    <a:pt x="10815320" y="8297164"/>
                    <a:pt x="10766044" y="8346440"/>
                    <a:pt x="10705211" y="8346440"/>
                  </a:cubicBezTo>
                  <a:lnTo>
                    <a:pt x="110109" y="8346440"/>
                  </a:lnTo>
                  <a:cubicBezTo>
                    <a:pt x="49276" y="8346440"/>
                    <a:pt x="0" y="8297164"/>
                    <a:pt x="0" y="82363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2880360"/>
            <a:ext cx="8092440" cy="576072"/>
            <a:chOff x="0" y="0"/>
            <a:chExt cx="1078992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89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0789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680192" y="0"/>
                  </a:lnTo>
                  <a:cubicBezTo>
                    <a:pt x="10740772" y="0"/>
                    <a:pt x="10789920" y="49149"/>
                    <a:pt x="10789920" y="109728"/>
                  </a:cubicBezTo>
                  <a:lnTo>
                    <a:pt x="10789920" y="658368"/>
                  </a:lnTo>
                  <a:cubicBezTo>
                    <a:pt x="10789920" y="718947"/>
                    <a:pt x="10740772" y="768096"/>
                    <a:pt x="1068019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3319272"/>
            <a:ext cx="8092440" cy="137160"/>
            <a:chOff x="0" y="0"/>
            <a:chExt cx="10789920" cy="182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182880"/>
            </a:xfrm>
            <a:custGeom>
              <a:avLst/>
              <a:gdLst/>
              <a:ahLst/>
              <a:cxnLst/>
              <a:rect r="r" b="b" t="t" l="l"/>
              <a:pathLst>
                <a:path h="1828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2416" y="3086100"/>
            <a:ext cx="164592" cy="164592"/>
            <a:chOff x="0" y="0"/>
            <a:chExt cx="21945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4168" y="3086100"/>
            <a:ext cx="164592" cy="164592"/>
            <a:chOff x="0" y="0"/>
            <a:chExt cx="219456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3086100"/>
            <a:ext cx="164592" cy="164592"/>
            <a:chOff x="0" y="0"/>
            <a:chExt cx="219456" cy="2194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25980" y="3003804"/>
            <a:ext cx="6515100" cy="329184"/>
            <a:chOff x="0" y="0"/>
            <a:chExt cx="8686800" cy="4389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8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86868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595360" y="0"/>
                  </a:lnTo>
                  <a:cubicBezTo>
                    <a:pt x="8645906" y="0"/>
                    <a:pt x="8686800" y="40894"/>
                    <a:pt x="8686800" y="91440"/>
                  </a:cubicBezTo>
                  <a:lnTo>
                    <a:pt x="8686800" y="347472"/>
                  </a:lnTo>
                  <a:cubicBezTo>
                    <a:pt x="8686800" y="398018"/>
                    <a:pt x="8645906" y="438912"/>
                    <a:pt x="859536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263140" y="2990088"/>
            <a:ext cx="6309360" cy="356616"/>
            <a:chOff x="0" y="0"/>
            <a:chExt cx="8412480" cy="4754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12480" cy="475488"/>
            </a:xfrm>
            <a:custGeom>
              <a:avLst/>
              <a:gdLst/>
              <a:ahLst/>
              <a:cxnLst/>
              <a:rect r="r" b="b" t="t" l="l"/>
              <a:pathLst>
                <a:path h="4754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735" r="0" b="-2947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41248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myapp.com/blog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3621024"/>
            <a:ext cx="7680960" cy="5294376"/>
            <a:chOff x="0" y="0"/>
            <a:chExt cx="10241280" cy="7059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7059168"/>
            </a:xfrm>
            <a:custGeom>
              <a:avLst/>
              <a:gdLst/>
              <a:ahLst/>
              <a:cxnLst/>
              <a:rect r="r" b="b" t="t" l="l"/>
              <a:pathLst>
                <a:path h="7059168" w="102412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149840" y="0"/>
                  </a:lnTo>
                  <a:cubicBezTo>
                    <a:pt x="10200386" y="0"/>
                    <a:pt x="10241280" y="40894"/>
                    <a:pt x="10241280" y="91440"/>
                  </a:cubicBezTo>
                  <a:lnTo>
                    <a:pt x="10241280" y="6967728"/>
                  </a:lnTo>
                  <a:cubicBezTo>
                    <a:pt x="10241280" y="7018274"/>
                    <a:pt x="10200386" y="7059168"/>
                    <a:pt x="10149840" y="7059168"/>
                  </a:cubicBezTo>
                  <a:lnTo>
                    <a:pt x="91440" y="7059168"/>
                  </a:lnTo>
                  <a:cubicBezTo>
                    <a:pt x="40894" y="7059168"/>
                    <a:pt x="0" y="7018274"/>
                    <a:pt x="0" y="6967728"/>
                  </a:cubicBezTo>
                  <a:close/>
                </a:path>
              </a:pathLst>
            </a:custGeom>
            <a:solidFill>
              <a:srgbClr val="2B314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3758184"/>
            <a:ext cx="7269480" cy="480060"/>
            <a:chOff x="0" y="0"/>
            <a:chExt cx="969264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692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layout.js  —  Navbar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3020" y="4375404"/>
            <a:ext cx="7132320" cy="3236976"/>
            <a:chOff x="0" y="0"/>
            <a:chExt cx="9509760" cy="43159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4315968"/>
            </a:xfrm>
            <a:custGeom>
              <a:avLst/>
              <a:gdLst/>
              <a:ahLst/>
              <a:cxnLst/>
              <a:rect r="r" b="b" t="t" l="l"/>
              <a:pathLst>
                <a:path h="4315968" w="95097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418320" y="0"/>
                  </a:lnTo>
                  <a:cubicBezTo>
                    <a:pt x="9468865" y="0"/>
                    <a:pt x="9509760" y="40894"/>
                    <a:pt x="9509760" y="91440"/>
                  </a:cubicBezTo>
                  <a:lnTo>
                    <a:pt x="9509760" y="4224528"/>
                  </a:lnTo>
                  <a:cubicBezTo>
                    <a:pt x="9509760" y="4275074"/>
                    <a:pt x="9468865" y="4315968"/>
                    <a:pt x="9418320" y="4315968"/>
                  </a:cubicBezTo>
                  <a:lnTo>
                    <a:pt x="91440" y="4315968"/>
                  </a:lnTo>
                  <a:cubicBezTo>
                    <a:pt x="40894" y="4315968"/>
                    <a:pt x="0" y="42750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77340" y="4581144"/>
            <a:ext cx="6583680" cy="480060"/>
            <a:chOff x="0" y="0"/>
            <a:chExt cx="87782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778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B6C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page.js  —  {children}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77340" y="5129784"/>
            <a:ext cx="6583680" cy="1508760"/>
            <a:chOff x="0" y="0"/>
            <a:chExt cx="877824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78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77824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Blog post content renders here and swaps as the user navigates —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navbar above never re-mounts.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4440" y="8298180"/>
            <a:ext cx="7269480" cy="480060"/>
            <a:chOff x="0" y="0"/>
            <a:chExt cx="969264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692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C2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layout.js  —  Footer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58300" y="2880360"/>
            <a:ext cx="8229600" cy="2331720"/>
            <a:chOff x="0" y="0"/>
            <a:chExt cx="10972800" cy="3108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9728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863072" y="0"/>
                  </a:lnTo>
                  <a:cubicBezTo>
                    <a:pt x="10923651" y="0"/>
                    <a:pt x="10972800" y="49149"/>
                    <a:pt x="10972800" y="109728"/>
                  </a:cubicBezTo>
                  <a:lnTo>
                    <a:pt x="10972800" y="2999232"/>
                  </a:lnTo>
                  <a:cubicBezTo>
                    <a:pt x="10972800" y="3059811"/>
                    <a:pt x="10923651" y="3108960"/>
                    <a:pt x="10863072" y="3108960"/>
                  </a:cubicBezTo>
                  <a:lnTo>
                    <a:pt x="109728" y="3108960"/>
                  </a:lnTo>
                  <a:cubicBezTo>
                    <a:pt x="49149" y="3108960"/>
                    <a:pt x="0" y="3059811"/>
                    <a:pt x="0" y="299923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560052" y="3061716"/>
            <a:ext cx="7626096" cy="19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// app/blog/page.js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metadata = {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title: "Blog — MyApp",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description: "Latest posts and updates",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48775" y="5545455"/>
            <a:ext cx="8248650" cy="1802130"/>
            <a:chOff x="0" y="0"/>
            <a:chExt cx="10998200" cy="2402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982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99820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10887329" y="0"/>
                  </a:lnTo>
                  <a:cubicBezTo>
                    <a:pt x="10948543" y="0"/>
                    <a:pt x="10998200" y="49657"/>
                    <a:pt x="10998200" y="110871"/>
                  </a:cubicBezTo>
                  <a:lnTo>
                    <a:pt x="10998200" y="2291969"/>
                  </a:lnTo>
                  <a:cubicBezTo>
                    <a:pt x="10998200" y="2353183"/>
                    <a:pt x="10948543" y="2402840"/>
                    <a:pt x="10887329" y="2402840"/>
                  </a:cubicBezTo>
                  <a:lnTo>
                    <a:pt x="110871" y="2402840"/>
                  </a:lnTo>
                  <a:cubicBezTo>
                    <a:pt x="49657" y="2402840"/>
                    <a:pt x="0" y="2353183"/>
                    <a:pt x="0" y="22919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258300" y="5554980"/>
            <a:ext cx="8229600" cy="576072"/>
            <a:chOff x="0" y="0"/>
            <a:chExt cx="1097280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768096"/>
            </a:xfrm>
            <a:custGeom>
              <a:avLst/>
              <a:gdLst/>
              <a:ahLst/>
              <a:cxnLst/>
              <a:rect r="r" b="b" t="t" l="l"/>
              <a:pathLst>
                <a:path h="768096" w="109728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863072" y="0"/>
                  </a:lnTo>
                  <a:cubicBezTo>
                    <a:pt x="10923651" y="0"/>
                    <a:pt x="10972800" y="49149"/>
                    <a:pt x="10972800" y="109728"/>
                  </a:cubicBezTo>
                  <a:lnTo>
                    <a:pt x="10972800" y="658368"/>
                  </a:lnTo>
                  <a:cubicBezTo>
                    <a:pt x="10972800" y="718947"/>
                    <a:pt x="10923651" y="768096"/>
                    <a:pt x="1086307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258300" y="5993892"/>
            <a:ext cx="8229600" cy="137160"/>
            <a:chOff x="0" y="0"/>
            <a:chExt cx="10972800" cy="1828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77756" y="5760720"/>
            <a:ext cx="164592" cy="164592"/>
            <a:chOff x="0" y="0"/>
            <a:chExt cx="219456" cy="2194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79508" y="5760720"/>
            <a:ext cx="164592" cy="164592"/>
            <a:chOff x="0" y="0"/>
            <a:chExt cx="219456" cy="2194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81260" y="5760720"/>
            <a:ext cx="164592" cy="164592"/>
            <a:chOff x="0" y="0"/>
            <a:chExt cx="219456" cy="2194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561320" y="5678424"/>
            <a:ext cx="6652260" cy="329184"/>
            <a:chOff x="0" y="0"/>
            <a:chExt cx="8869680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6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88696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778240" y="0"/>
                  </a:lnTo>
                  <a:cubicBezTo>
                    <a:pt x="8828786" y="0"/>
                    <a:pt x="8869680" y="40894"/>
                    <a:pt x="8869680" y="91440"/>
                  </a:cubicBezTo>
                  <a:lnTo>
                    <a:pt x="8869680" y="347472"/>
                  </a:lnTo>
                  <a:cubicBezTo>
                    <a:pt x="8869680" y="398018"/>
                    <a:pt x="8828786" y="438912"/>
                    <a:pt x="877824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698480" y="5664708"/>
            <a:ext cx="6446520" cy="356616"/>
            <a:chOff x="0" y="0"/>
            <a:chExt cx="8595360" cy="4754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95360" cy="475488"/>
            </a:xfrm>
            <a:custGeom>
              <a:avLst/>
              <a:gdLst/>
              <a:ahLst/>
              <a:cxnLst/>
              <a:rect r="r" b="b" t="t" l="l"/>
              <a:pathLst>
                <a:path h="475488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229" r="0" b="-3022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595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myapp.com/blog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0" y="6295644"/>
            <a:ext cx="7543800" cy="480060"/>
            <a:chOff x="0" y="0"/>
            <a:chExt cx="1005840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Blog — MyApp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01200" y="6775704"/>
            <a:ext cx="7543800" cy="411480"/>
            <a:chOff x="0" y="0"/>
            <a:chExt cx="100584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058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Latest posts and updates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258300" y="7543800"/>
            <a:ext cx="8229600" cy="548640"/>
            <a:chOff x="0" y="0"/>
            <a:chExt cx="109728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i="true">
                  <a:solidFill>
                    <a:srgbClr val="5B6C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↳ Browser tab title + search-result snippet, generated automatically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58300" y="8298180"/>
            <a:ext cx="8229600" cy="1028700"/>
            <a:chOff x="0" y="0"/>
            <a:chExt cx="10972800" cy="1371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1225296"/>
                  </a:lnTo>
                  <a:cubicBezTo>
                    <a:pt x="10972800" y="1306068"/>
                    <a:pt x="10907268" y="1371600"/>
                    <a:pt x="10826496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32620" y="8298180"/>
            <a:ext cx="7680960" cy="1028700"/>
            <a:chOff x="0" y="0"/>
            <a:chExt cx="10241280" cy="1371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02412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extra library needed — export metadata (or generateMetadata()) from any page.js or layout.js.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ROUTER · RESULT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Putting it together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7680960" cy="6720840"/>
            <a:chOff x="0" y="0"/>
            <a:chExt cx="10241280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241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8851392"/>
                  </a:lnTo>
                  <a:cubicBezTo>
                    <a:pt x="10241280" y="8911972"/>
                    <a:pt x="10192131" y="8961120"/>
                    <a:pt x="10131552" y="8961120"/>
                  </a:cubicBezTo>
                  <a:lnTo>
                    <a:pt x="109728" y="8961120"/>
                  </a:lnTo>
                  <a:cubicBezTo>
                    <a:pt x="49149" y="8961120"/>
                    <a:pt x="0" y="8911972"/>
                    <a:pt x="0" y="88513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4712" y="2581656"/>
            <a:ext cx="7077456" cy="63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app/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├─ layout.js        // Navbar + Footer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├─ page.js          // "/"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├─ about/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page.js       // "/about"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└─ blog/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├─ page.js       // "/blog"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├─ loading.js    // fallback UI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└─ [id]/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   └─ page.js    // "/blog/:id"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74455" y="2390775"/>
            <a:ext cx="8522970" cy="6739890"/>
            <a:chOff x="0" y="0"/>
            <a:chExt cx="11363960" cy="8986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639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136396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1253978" y="0"/>
                  </a:lnTo>
                  <a:cubicBezTo>
                    <a:pt x="11314685" y="0"/>
                    <a:pt x="11363960" y="49276"/>
                    <a:pt x="11363960" y="109982"/>
                  </a:cubicBezTo>
                  <a:lnTo>
                    <a:pt x="11363960" y="8876538"/>
                  </a:lnTo>
                  <a:cubicBezTo>
                    <a:pt x="11363960" y="8937244"/>
                    <a:pt x="11314685" y="8986520"/>
                    <a:pt x="11253978" y="8986520"/>
                  </a:cubicBezTo>
                  <a:lnTo>
                    <a:pt x="109982" y="8986520"/>
                  </a:lnTo>
                  <a:cubicBezTo>
                    <a:pt x="49276" y="8986520"/>
                    <a:pt x="0" y="8937244"/>
                    <a:pt x="0" y="8876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983980" y="2400300"/>
            <a:ext cx="8503920" cy="576072"/>
            <a:chOff x="0" y="0"/>
            <a:chExt cx="1133856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0" cy="768096"/>
            </a:xfrm>
            <a:custGeom>
              <a:avLst/>
              <a:gdLst/>
              <a:ahLst/>
              <a:cxnLst/>
              <a:rect r="r" b="b" t="t" l="l"/>
              <a:pathLst>
                <a:path h="768096" w="11338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228832" y="0"/>
                  </a:lnTo>
                  <a:cubicBezTo>
                    <a:pt x="11289411" y="0"/>
                    <a:pt x="11338560" y="49149"/>
                    <a:pt x="11338560" y="109728"/>
                  </a:cubicBezTo>
                  <a:lnTo>
                    <a:pt x="11338560" y="658368"/>
                  </a:lnTo>
                  <a:cubicBezTo>
                    <a:pt x="11338560" y="718947"/>
                    <a:pt x="11289411" y="768096"/>
                    <a:pt x="1122883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83980" y="2839212"/>
            <a:ext cx="8503920" cy="137160"/>
            <a:chOff x="0" y="0"/>
            <a:chExt cx="11338560" cy="182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0" cy="182880"/>
            </a:xfrm>
            <a:custGeom>
              <a:avLst/>
              <a:gdLst/>
              <a:ahLst/>
              <a:cxnLst/>
              <a:rect r="r" b="b" t="t" l="l"/>
              <a:pathLst>
                <a:path h="1828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03436" y="2606040"/>
            <a:ext cx="164592" cy="164592"/>
            <a:chOff x="0" y="0"/>
            <a:chExt cx="21945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05188" y="2606040"/>
            <a:ext cx="164592" cy="164592"/>
            <a:chOff x="0" y="0"/>
            <a:chExt cx="219456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06940" y="2606040"/>
            <a:ext cx="164592" cy="164592"/>
            <a:chOff x="0" y="0"/>
            <a:chExt cx="219456" cy="2194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0" y="2523744"/>
            <a:ext cx="6926580" cy="329184"/>
            <a:chOff x="0" y="0"/>
            <a:chExt cx="9235440" cy="4389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35440" cy="438912"/>
            </a:xfrm>
            <a:custGeom>
              <a:avLst/>
              <a:gdLst/>
              <a:ahLst/>
              <a:cxnLst/>
              <a:rect r="r" b="b" t="t" l="l"/>
              <a:pathLst>
                <a:path h="438912" w="92354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144000" y="0"/>
                  </a:lnTo>
                  <a:cubicBezTo>
                    <a:pt x="9194546" y="0"/>
                    <a:pt x="9235440" y="40894"/>
                    <a:pt x="9235440" y="91440"/>
                  </a:cubicBezTo>
                  <a:lnTo>
                    <a:pt x="9235440" y="347472"/>
                  </a:lnTo>
                  <a:cubicBezTo>
                    <a:pt x="9235440" y="398018"/>
                    <a:pt x="9194546" y="438912"/>
                    <a:pt x="914400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24160" y="2510028"/>
            <a:ext cx="6720840" cy="356616"/>
            <a:chOff x="0" y="0"/>
            <a:chExt cx="8961120" cy="4754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61120" cy="475488"/>
            </a:xfrm>
            <a:custGeom>
              <a:avLst/>
              <a:gdLst/>
              <a:ahLst/>
              <a:cxnLst/>
              <a:rect r="r" b="b" t="t" l="l"/>
              <a:pathLst>
                <a:path h="47548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218" r="0" b="-3172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9611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myapp.com/blog/123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89720" y="3140964"/>
            <a:ext cx="8092440" cy="754380"/>
            <a:chOff x="0" y="0"/>
            <a:chExt cx="107899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89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78992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698480" y="0"/>
                  </a:lnTo>
                  <a:cubicBezTo>
                    <a:pt x="10749026" y="0"/>
                    <a:pt x="10789920" y="40894"/>
                    <a:pt x="10789920" y="91440"/>
                  </a:cubicBezTo>
                  <a:lnTo>
                    <a:pt x="10789920" y="914400"/>
                  </a:lnTo>
                  <a:cubicBezTo>
                    <a:pt x="10789920" y="964946"/>
                    <a:pt x="10749026" y="1005840"/>
                    <a:pt x="10698480" y="1005840"/>
                  </a:cubicBezTo>
                  <a:lnTo>
                    <a:pt x="91440" y="1005840"/>
                  </a:lnTo>
                  <a:cubicBezTo>
                    <a:pt x="40894" y="1005840"/>
                    <a:pt x="0" y="964946"/>
                    <a:pt x="0" y="914400"/>
                  </a:cubicBezTo>
                  <a:close/>
                </a:path>
              </a:pathLst>
            </a:custGeom>
            <a:solidFill>
              <a:srgbClr val="2B314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32620" y="3140964"/>
            <a:ext cx="1371600" cy="754380"/>
            <a:chOff x="0" y="0"/>
            <a:chExt cx="182880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28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F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41380" y="3140964"/>
            <a:ext cx="1371600" cy="754380"/>
            <a:chOff x="0" y="0"/>
            <a:chExt cx="182880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28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F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About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50140" y="3140964"/>
            <a:ext cx="1371600" cy="754380"/>
            <a:chOff x="0" y="0"/>
            <a:chExt cx="182880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828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01200" y="4306824"/>
            <a:ext cx="7269480" cy="685800"/>
            <a:chOff x="0" y="0"/>
            <a:chExt cx="969264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6926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Post #123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0" y="5129784"/>
            <a:ext cx="7269480" cy="1234440"/>
            <a:chOff x="0" y="0"/>
            <a:chExt cx="9692640" cy="164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96926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Rendered by app/blog/[id]/page.js — the Navbar above came from the shared layout.js and did not re-render on navigation.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01200" y="6569964"/>
            <a:ext cx="7269480" cy="2194560"/>
            <a:chOff x="0" y="0"/>
            <a:chExt cx="9692640" cy="2926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692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546336" y="0"/>
                  </a:lnTo>
                  <a:cubicBezTo>
                    <a:pt x="9627108" y="0"/>
                    <a:pt x="9692640" y="65532"/>
                    <a:pt x="9692640" y="146304"/>
                  </a:cubicBezTo>
                  <a:lnTo>
                    <a:pt x="9692640" y="2779776"/>
                  </a:lnTo>
                  <a:cubicBezTo>
                    <a:pt x="9692640" y="2860548"/>
                    <a:pt x="9627108" y="2926080"/>
                    <a:pt x="95463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875520" y="6569964"/>
            <a:ext cx="6720840" cy="2194560"/>
            <a:chOff x="0" y="0"/>
            <a:chExt cx="8961120" cy="2926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611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72" r="0" b="-96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96112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© 2026 MyApp — Footer (from layout.js)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App Router Architecture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00000">
            <a:off x="-2057400" y="57607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2194560"/>
                  </a:moveTo>
                  <a:cubicBezTo>
                    <a:pt x="0" y="982599"/>
                    <a:pt x="982599" y="0"/>
                    <a:pt x="2194560" y="0"/>
                  </a:cubicBezTo>
                  <a:lnTo>
                    <a:pt x="8778240" y="0"/>
                  </a:lnTo>
                  <a:cubicBezTo>
                    <a:pt x="9990201" y="0"/>
                    <a:pt x="10972800" y="982599"/>
                    <a:pt x="10972800" y="2194560"/>
                  </a:cubicBezTo>
                  <a:lnTo>
                    <a:pt x="10972800" y="8778240"/>
                  </a:lnTo>
                  <a:cubicBezTo>
                    <a:pt x="10972800" y="9990201"/>
                    <a:pt x="9990201" y="10972800"/>
                    <a:pt x="8778240" y="10972800"/>
                  </a:cubicBezTo>
                  <a:lnTo>
                    <a:pt x="2194560" y="10972800"/>
                  </a:lnTo>
                  <a:cubicBezTo>
                    <a:pt x="982599" y="10972800"/>
                    <a:pt x="0" y="9990201"/>
                    <a:pt x="0" y="8778240"/>
                  </a:cubicBezTo>
                  <a:close/>
                </a:path>
              </a:pathLst>
            </a:custGeom>
            <a:solidFill>
              <a:srgbClr val="1218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909060"/>
            <a:ext cx="8229600" cy="548640"/>
            <a:chOff x="0" y="0"/>
            <a:chExt cx="109728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4457700"/>
            <a:ext cx="15087600" cy="1645920"/>
            <a:chOff x="0" y="0"/>
            <a:chExt cx="20116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1168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Client-Side Data Fetching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5829300"/>
            <a:ext cx="13716000" cy="685800"/>
            <a:chOff x="0" y="0"/>
            <a:chExt cx="182880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8288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AEB6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useEffect · loading &amp; error states · SWR / React Query · caching &amp; revalidation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3 — Part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1200000">
            <a:off x="13880224" y="-1634621"/>
            <a:ext cx="8229600" cy="8229600"/>
            <a:chOff x="0" y="0"/>
            <a:chExt cx="10972800" cy="1097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2194560"/>
                  </a:moveTo>
                  <a:cubicBezTo>
                    <a:pt x="0" y="982599"/>
                    <a:pt x="982599" y="0"/>
                    <a:pt x="2194560" y="0"/>
                  </a:cubicBezTo>
                  <a:lnTo>
                    <a:pt x="8778240" y="0"/>
                  </a:lnTo>
                  <a:cubicBezTo>
                    <a:pt x="9990201" y="0"/>
                    <a:pt x="10972800" y="982599"/>
                    <a:pt x="10972800" y="2194560"/>
                  </a:cubicBezTo>
                  <a:lnTo>
                    <a:pt x="10972800" y="8778240"/>
                  </a:lnTo>
                  <a:cubicBezTo>
                    <a:pt x="10972800" y="9990201"/>
                    <a:pt x="9990201" y="10972800"/>
                    <a:pt x="8778240" y="10972800"/>
                  </a:cubicBezTo>
                  <a:lnTo>
                    <a:pt x="2194560" y="10972800"/>
                  </a:lnTo>
                  <a:cubicBezTo>
                    <a:pt x="982599" y="10972800"/>
                    <a:pt x="0" y="9990201"/>
                    <a:pt x="0" y="8778240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FETCHING · 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Fetching in Client Components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229600" cy="4047363"/>
            <a:chOff x="0" y="0"/>
            <a:chExt cx="10972800" cy="5396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396484"/>
            </a:xfrm>
            <a:custGeom>
              <a:avLst/>
              <a:gdLst/>
              <a:ahLst/>
              <a:cxnLst/>
              <a:rect r="r" b="b" t="t" l="l"/>
              <a:pathLst>
                <a:path h="5396484" w="10972800">
                  <a:moveTo>
                    <a:pt x="0" y="86344"/>
                  </a:moveTo>
                  <a:cubicBezTo>
                    <a:pt x="0" y="38675"/>
                    <a:pt x="49149" y="0"/>
                    <a:pt x="109728" y="0"/>
                  </a:cubicBezTo>
                  <a:lnTo>
                    <a:pt x="10863072" y="0"/>
                  </a:lnTo>
                  <a:cubicBezTo>
                    <a:pt x="10923651" y="0"/>
                    <a:pt x="10972800" y="38675"/>
                    <a:pt x="10972800" y="86344"/>
                  </a:cubicBezTo>
                  <a:lnTo>
                    <a:pt x="10972800" y="5310140"/>
                  </a:lnTo>
                  <a:cubicBezTo>
                    <a:pt x="10972800" y="5357809"/>
                    <a:pt x="10923651" y="5396484"/>
                    <a:pt x="10863072" y="5396484"/>
                  </a:cubicBezTo>
                  <a:lnTo>
                    <a:pt x="109728" y="5396484"/>
                  </a:lnTo>
                  <a:cubicBezTo>
                    <a:pt x="49149" y="5396484"/>
                    <a:pt x="0" y="5357809"/>
                    <a:pt x="0" y="5310140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4712" y="2446782"/>
            <a:ext cx="5533073" cy="400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"use client";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useState, useEffect } from "react";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function Users() {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const [data, setData] = useState([);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useEffect(() =&gt; {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 fetch("/api/users")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   .then((res) =&gt; res.json())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    .then(setData);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}, []);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&lt;UserList users={data} /&gt;;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48790" y="7065645"/>
            <a:ext cx="877824" cy="877824"/>
            <a:chOff x="0" y="0"/>
            <a:chExt cx="1170432" cy="1170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8790" y="7038213"/>
            <a:ext cx="877824" cy="877824"/>
            <a:chOff x="0" y="0"/>
            <a:chExt cx="1170432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7043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6"/>
                </a:lnSpc>
              </a:pPr>
              <a:r>
                <a:rPr lang="en-US" sz="326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4712" y="8135493"/>
            <a:ext cx="2125980" cy="822960"/>
            <a:chOff x="0" y="0"/>
            <a:chExt cx="28346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34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834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mounts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35224" y="7408545"/>
            <a:ext cx="384048" cy="192024"/>
            <a:chOff x="0" y="0"/>
            <a:chExt cx="512064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" cy="256032"/>
            </a:xfrm>
            <a:custGeom>
              <a:avLst/>
              <a:gdLst/>
              <a:ahLst/>
              <a:cxnLst/>
              <a:rect r="r" b="b" t="t" l="l"/>
              <a:pathLst>
                <a:path h="256032" w="512064">
                  <a:moveTo>
                    <a:pt x="0" y="64008"/>
                  </a:moveTo>
                  <a:lnTo>
                    <a:pt x="384048" y="64008"/>
                  </a:lnTo>
                  <a:lnTo>
                    <a:pt x="384048" y="0"/>
                  </a:lnTo>
                  <a:lnTo>
                    <a:pt x="512064" y="128016"/>
                  </a:lnTo>
                  <a:lnTo>
                    <a:pt x="384048" y="256032"/>
                  </a:lnTo>
                  <a:lnTo>
                    <a:pt x="3840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627882" y="7065645"/>
            <a:ext cx="877824" cy="877824"/>
            <a:chOff x="0" y="0"/>
            <a:chExt cx="1170432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27882" y="7038213"/>
            <a:ext cx="877824" cy="877824"/>
            <a:chOff x="0" y="0"/>
            <a:chExt cx="11704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17043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6"/>
                </a:lnSpc>
              </a:pPr>
              <a:r>
                <a:rPr lang="en-US" sz="326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03804" y="8135493"/>
            <a:ext cx="2125980" cy="822960"/>
            <a:chOff x="0" y="0"/>
            <a:chExt cx="283464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34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834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useEffect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14316" y="7408545"/>
            <a:ext cx="384048" cy="192024"/>
            <a:chOff x="0" y="0"/>
            <a:chExt cx="512064" cy="2560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" cy="256032"/>
            </a:xfrm>
            <a:custGeom>
              <a:avLst/>
              <a:gdLst/>
              <a:ahLst/>
              <a:cxnLst/>
              <a:rect r="r" b="b" t="t" l="l"/>
              <a:pathLst>
                <a:path h="256032" w="512064">
                  <a:moveTo>
                    <a:pt x="0" y="64008"/>
                  </a:moveTo>
                  <a:lnTo>
                    <a:pt x="384048" y="64008"/>
                  </a:lnTo>
                  <a:lnTo>
                    <a:pt x="384048" y="0"/>
                  </a:lnTo>
                  <a:lnTo>
                    <a:pt x="512064" y="128016"/>
                  </a:lnTo>
                  <a:lnTo>
                    <a:pt x="384048" y="256032"/>
                  </a:lnTo>
                  <a:lnTo>
                    <a:pt x="3840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506974" y="7065645"/>
            <a:ext cx="877824" cy="877824"/>
            <a:chOff x="0" y="0"/>
            <a:chExt cx="1170432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06974" y="7038213"/>
            <a:ext cx="877824" cy="877824"/>
            <a:chOff x="0" y="0"/>
            <a:chExt cx="1170432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17043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6"/>
                </a:lnSpc>
              </a:pPr>
              <a:r>
                <a:rPr lang="en-US" sz="326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882896" y="8135493"/>
            <a:ext cx="2125980" cy="822960"/>
            <a:chOff x="0" y="0"/>
            <a:chExt cx="28346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34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834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fetch()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93408" y="7408545"/>
            <a:ext cx="384048" cy="192024"/>
            <a:chOff x="0" y="0"/>
            <a:chExt cx="512064" cy="25603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" cy="256032"/>
            </a:xfrm>
            <a:custGeom>
              <a:avLst/>
              <a:gdLst/>
              <a:ahLst/>
              <a:cxnLst/>
              <a:rect r="r" b="b" t="t" l="l"/>
              <a:pathLst>
                <a:path h="256032" w="512064">
                  <a:moveTo>
                    <a:pt x="0" y="64008"/>
                  </a:moveTo>
                  <a:lnTo>
                    <a:pt x="384048" y="64008"/>
                  </a:lnTo>
                  <a:lnTo>
                    <a:pt x="384048" y="0"/>
                  </a:lnTo>
                  <a:lnTo>
                    <a:pt x="512064" y="128016"/>
                  </a:lnTo>
                  <a:lnTo>
                    <a:pt x="384048" y="256032"/>
                  </a:lnTo>
                  <a:lnTo>
                    <a:pt x="3840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386066" y="7065645"/>
            <a:ext cx="877824" cy="877824"/>
            <a:chOff x="0" y="0"/>
            <a:chExt cx="1170432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86066" y="7038213"/>
            <a:ext cx="877824" cy="877824"/>
            <a:chOff x="0" y="0"/>
            <a:chExt cx="1170432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17043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6"/>
                </a:lnSpc>
              </a:pPr>
              <a:r>
                <a:rPr lang="en-US" sz="326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61988" y="8135493"/>
            <a:ext cx="2125980" cy="822960"/>
            <a:chOff x="0" y="0"/>
            <a:chExt cx="28346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34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834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setState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updates UI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68028" y="6732216"/>
            <a:ext cx="8229600" cy="2422507"/>
            <a:chOff x="0" y="0"/>
            <a:chExt cx="10972800" cy="323000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3230009"/>
            </a:xfrm>
            <a:custGeom>
              <a:avLst/>
              <a:gdLst/>
              <a:ahLst/>
              <a:cxnLst/>
              <a:rect r="r" b="b" t="t" l="l"/>
              <a:pathLst>
                <a:path h="3230009" w="10972800">
                  <a:moveTo>
                    <a:pt x="0" y="105902"/>
                  </a:moveTo>
                  <a:cubicBezTo>
                    <a:pt x="0" y="47435"/>
                    <a:pt x="81915" y="0"/>
                    <a:pt x="182880" y="0"/>
                  </a:cubicBezTo>
                  <a:lnTo>
                    <a:pt x="10789920" y="0"/>
                  </a:lnTo>
                  <a:cubicBezTo>
                    <a:pt x="10890885" y="0"/>
                    <a:pt x="10972800" y="47435"/>
                    <a:pt x="10972800" y="105902"/>
                  </a:cubicBezTo>
                  <a:lnTo>
                    <a:pt x="10972800" y="3124107"/>
                  </a:lnTo>
                  <a:cubicBezTo>
                    <a:pt x="10972800" y="3182574"/>
                    <a:pt x="10890885" y="3230009"/>
                    <a:pt x="10789920" y="3230009"/>
                  </a:cubicBezTo>
                  <a:lnTo>
                    <a:pt x="182880" y="3230009"/>
                  </a:lnTo>
                  <a:cubicBezTo>
                    <a:pt x="81915" y="3230009"/>
                    <a:pt x="0" y="3182574"/>
                    <a:pt x="0" y="3124107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710928" y="7027491"/>
            <a:ext cx="754380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This pattern uses useEffect, so the component must be a Client Component.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The empty dependency array [] means it runs once, on mount.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Until the fetch resolves, data is null — the UI must handle that.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A1F2B"/>
                </a:solidFill>
                <a:latin typeface="Calibri (MS)"/>
                <a:ea typeface="Calibri (MS)"/>
                <a:cs typeface="Calibri (MS)"/>
                <a:sym typeface="Calibri (MS)"/>
              </a:rPr>
              <a:t>Every re-fetch, cache and race-condition edge case is on you to manage manually.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Data Fetching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05188" y="2400300"/>
            <a:ext cx="8092440" cy="4047363"/>
            <a:chOff x="0" y="0"/>
            <a:chExt cx="10789920" cy="53964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89920" cy="5396484"/>
            </a:xfrm>
            <a:custGeom>
              <a:avLst/>
              <a:gdLst/>
              <a:ahLst/>
              <a:cxnLst/>
              <a:rect r="r" b="b" t="t" l="l"/>
              <a:pathLst>
                <a:path h="5396484" w="10789920">
                  <a:moveTo>
                    <a:pt x="0" y="161089"/>
                  </a:moveTo>
                  <a:cubicBezTo>
                    <a:pt x="0" y="72154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72154"/>
                    <a:pt x="10789920" y="161089"/>
                  </a:cubicBezTo>
                  <a:lnTo>
                    <a:pt x="10789920" y="5235395"/>
                  </a:lnTo>
                  <a:cubicBezTo>
                    <a:pt x="10789920" y="5324330"/>
                    <a:pt x="10708005" y="5396484"/>
                    <a:pt x="10607040" y="5396484"/>
                  </a:cubicBezTo>
                  <a:lnTo>
                    <a:pt x="182880" y="5396484"/>
                  </a:lnTo>
                  <a:cubicBezTo>
                    <a:pt x="81915" y="5396484"/>
                    <a:pt x="0" y="5324330"/>
                    <a:pt x="0" y="5235395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2218682" y="2580132"/>
            <a:ext cx="2528292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Component renders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Effect executes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HTTP request is sent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Server returns response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5. JSON is parsed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6. State is updated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  <a:p>
            <a:pPr algn="ctr">
              <a:lnSpc>
                <a:spcPts val="2189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7. Component re-renders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FETCHING · 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Handling loading &amp; error states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16596360" cy="2674620"/>
            <a:chOff x="0" y="0"/>
            <a:chExt cx="22128480" cy="3566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3456432"/>
                  </a:lnTo>
                  <a:cubicBezTo>
                    <a:pt x="22128480" y="3517011"/>
                    <a:pt x="22079331" y="3566160"/>
                    <a:pt x="22018752" y="3566160"/>
                  </a:cubicBezTo>
                  <a:lnTo>
                    <a:pt x="109728" y="3566160"/>
                  </a:lnTo>
                  <a:cubicBezTo>
                    <a:pt x="49149" y="3566160"/>
                    <a:pt x="0" y="3517011"/>
                    <a:pt x="0" y="345643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4712" y="2513076"/>
            <a:ext cx="15992856" cy="227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const [data, setData] = useState(null);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const [loading, setLoading] = useState(true);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const [error, setError] = useState(null);</a:t>
            </a:r>
          </a:p>
          <a:p>
            <a:pPr algn="l">
              <a:lnSpc>
                <a:spcPts val="2483"/>
              </a:lnSpc>
            </a:pP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fetch("/api/users").then(r =&gt; r.json()).then(setData).catch(setError).finally(() =&gt; setLoading(false));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5239512"/>
            <a:ext cx="10972800" cy="548640"/>
            <a:chOff x="0" y="0"/>
            <a:chExt cx="146304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UI states, three outcomes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5915787"/>
            <a:ext cx="5436870" cy="3242310"/>
            <a:chOff x="0" y="0"/>
            <a:chExt cx="7249160" cy="4323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491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491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7138797" y="0"/>
                  </a:lnTo>
                  <a:cubicBezTo>
                    <a:pt x="7199757" y="0"/>
                    <a:pt x="7249160" y="49403"/>
                    <a:pt x="7249160" y="110363"/>
                  </a:cubicBezTo>
                  <a:lnTo>
                    <a:pt x="7249160" y="4212717"/>
                  </a:lnTo>
                  <a:cubicBezTo>
                    <a:pt x="7249160" y="4273677"/>
                    <a:pt x="7199757" y="4323080"/>
                    <a:pt x="71387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5925312"/>
            <a:ext cx="5417820" cy="576072"/>
            <a:chOff x="0" y="0"/>
            <a:chExt cx="722376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23760" cy="768096"/>
            </a:xfrm>
            <a:custGeom>
              <a:avLst/>
              <a:gdLst/>
              <a:ahLst/>
              <a:cxnLst/>
              <a:rect r="r" b="b" t="t" l="l"/>
              <a:pathLst>
                <a:path h="768096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658368"/>
                  </a:lnTo>
                  <a:cubicBezTo>
                    <a:pt x="7223760" y="718947"/>
                    <a:pt x="7174611" y="768096"/>
                    <a:pt x="711403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6364224"/>
            <a:ext cx="5417820" cy="137160"/>
            <a:chOff x="0" y="0"/>
            <a:chExt cx="722376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2416" y="6131052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6131052"/>
            <a:ext cx="164592" cy="164592"/>
            <a:chOff x="0" y="0"/>
            <a:chExt cx="219456" cy="219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5920" y="6131052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25980" y="6048756"/>
            <a:ext cx="3840480" cy="329184"/>
            <a:chOff x="0" y="0"/>
            <a:chExt cx="5120640" cy="438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1206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029200" y="0"/>
                  </a:lnTo>
                  <a:cubicBezTo>
                    <a:pt x="5079746" y="0"/>
                    <a:pt x="5120640" y="40894"/>
                    <a:pt x="5120640" y="91440"/>
                  </a:cubicBezTo>
                  <a:lnTo>
                    <a:pt x="5120640" y="347472"/>
                  </a:lnTo>
                  <a:cubicBezTo>
                    <a:pt x="5120640" y="398018"/>
                    <a:pt x="5079746" y="438912"/>
                    <a:pt x="502920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263140" y="6035040"/>
            <a:ext cx="3634740" cy="356616"/>
            <a:chOff x="0" y="0"/>
            <a:chExt cx="4846320" cy="4754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46320" cy="475488"/>
            </a:xfrm>
            <a:custGeom>
              <a:avLst/>
              <a:gdLst/>
              <a:ahLst/>
              <a:cxnLst/>
              <a:rect r="r" b="b" t="t" l="l"/>
              <a:pathLst>
                <a:path h="47548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597" r="0" b="-1485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8463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myapp.com/users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7351776"/>
            <a:ext cx="5006340" cy="822960"/>
            <a:chOff x="0" y="0"/>
            <a:chExt cx="667512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7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33" r="0" b="-6853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675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⟳  Loading…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8188452"/>
            <a:ext cx="5006340" cy="548640"/>
            <a:chOff x="0" y="0"/>
            <a:chExt cx="66751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7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6751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loading === true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05575" y="5915787"/>
            <a:ext cx="5436870" cy="3242310"/>
            <a:chOff x="0" y="0"/>
            <a:chExt cx="7249160" cy="4323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491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491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7138797" y="0"/>
                  </a:lnTo>
                  <a:cubicBezTo>
                    <a:pt x="7199757" y="0"/>
                    <a:pt x="7249160" y="49403"/>
                    <a:pt x="7249160" y="110363"/>
                  </a:cubicBezTo>
                  <a:lnTo>
                    <a:pt x="7249160" y="4212717"/>
                  </a:lnTo>
                  <a:cubicBezTo>
                    <a:pt x="7249160" y="4273677"/>
                    <a:pt x="7199757" y="4323080"/>
                    <a:pt x="71387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515100" y="5925312"/>
            <a:ext cx="5417820" cy="576072"/>
            <a:chOff x="0" y="0"/>
            <a:chExt cx="7223760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23760" cy="768096"/>
            </a:xfrm>
            <a:custGeom>
              <a:avLst/>
              <a:gdLst/>
              <a:ahLst/>
              <a:cxnLst/>
              <a:rect r="r" b="b" t="t" l="l"/>
              <a:pathLst>
                <a:path h="768096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658368"/>
                  </a:lnTo>
                  <a:cubicBezTo>
                    <a:pt x="7223760" y="718947"/>
                    <a:pt x="7174611" y="768096"/>
                    <a:pt x="711403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515100" y="6364224"/>
            <a:ext cx="5417820" cy="137160"/>
            <a:chOff x="0" y="0"/>
            <a:chExt cx="7223760" cy="182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734556" y="6131052"/>
            <a:ext cx="164592" cy="164592"/>
            <a:chOff x="0" y="0"/>
            <a:chExt cx="219456" cy="2194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36308" y="6131052"/>
            <a:ext cx="164592" cy="164592"/>
            <a:chOff x="0" y="0"/>
            <a:chExt cx="219456" cy="2194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38060" y="6131052"/>
            <a:ext cx="164592" cy="164592"/>
            <a:chOff x="0" y="0"/>
            <a:chExt cx="219456" cy="2194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818120" y="6048756"/>
            <a:ext cx="3840480" cy="329184"/>
            <a:chOff x="0" y="0"/>
            <a:chExt cx="5120640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0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1206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029200" y="0"/>
                  </a:lnTo>
                  <a:cubicBezTo>
                    <a:pt x="5079746" y="0"/>
                    <a:pt x="5120640" y="40894"/>
                    <a:pt x="5120640" y="91440"/>
                  </a:cubicBezTo>
                  <a:lnTo>
                    <a:pt x="5120640" y="347472"/>
                  </a:lnTo>
                  <a:cubicBezTo>
                    <a:pt x="5120640" y="398018"/>
                    <a:pt x="5079746" y="438912"/>
                    <a:pt x="502920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955280" y="6035040"/>
            <a:ext cx="3634740" cy="356616"/>
            <a:chOff x="0" y="0"/>
            <a:chExt cx="4846320" cy="4754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46320" cy="475488"/>
            </a:xfrm>
            <a:custGeom>
              <a:avLst/>
              <a:gdLst/>
              <a:ahLst/>
              <a:cxnLst/>
              <a:rect r="r" b="b" t="t" l="l"/>
              <a:pathLst>
                <a:path h="47548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597" r="0" b="-1485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8463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myapp.com/users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20840" y="7351776"/>
            <a:ext cx="5006340" cy="822960"/>
            <a:chOff x="0" y="0"/>
            <a:chExt cx="667512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7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33" r="0" b="-6853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6675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Something went wrong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20840" y="8188452"/>
            <a:ext cx="5006340" cy="548640"/>
            <a:chOff x="0" y="0"/>
            <a:chExt cx="66751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7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6751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error !== null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197715" y="5915787"/>
            <a:ext cx="5436870" cy="3242310"/>
            <a:chOff x="0" y="0"/>
            <a:chExt cx="7249160" cy="4323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491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491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7138797" y="0"/>
                  </a:lnTo>
                  <a:cubicBezTo>
                    <a:pt x="7199757" y="0"/>
                    <a:pt x="7249160" y="49403"/>
                    <a:pt x="7249160" y="110363"/>
                  </a:cubicBezTo>
                  <a:lnTo>
                    <a:pt x="7249160" y="4212717"/>
                  </a:lnTo>
                  <a:cubicBezTo>
                    <a:pt x="7249160" y="4273677"/>
                    <a:pt x="7199757" y="4323080"/>
                    <a:pt x="71387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207240" y="5925312"/>
            <a:ext cx="5417820" cy="576072"/>
            <a:chOff x="0" y="0"/>
            <a:chExt cx="7223760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23760" cy="768096"/>
            </a:xfrm>
            <a:custGeom>
              <a:avLst/>
              <a:gdLst/>
              <a:ahLst/>
              <a:cxnLst/>
              <a:rect r="r" b="b" t="t" l="l"/>
              <a:pathLst>
                <a:path h="768096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658368"/>
                  </a:lnTo>
                  <a:cubicBezTo>
                    <a:pt x="7223760" y="718947"/>
                    <a:pt x="7174611" y="768096"/>
                    <a:pt x="711403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207240" y="6364224"/>
            <a:ext cx="5417820" cy="137160"/>
            <a:chOff x="0" y="0"/>
            <a:chExt cx="7223760" cy="1828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426696" y="6131052"/>
            <a:ext cx="164592" cy="164592"/>
            <a:chOff x="0" y="0"/>
            <a:chExt cx="219456" cy="2194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728448" y="6131052"/>
            <a:ext cx="164592" cy="164592"/>
            <a:chOff x="0" y="0"/>
            <a:chExt cx="219456" cy="2194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030200" y="6131052"/>
            <a:ext cx="164592" cy="164592"/>
            <a:chOff x="0" y="0"/>
            <a:chExt cx="219456" cy="2194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510260" y="6048756"/>
            <a:ext cx="3840480" cy="329184"/>
            <a:chOff x="0" y="0"/>
            <a:chExt cx="5120640" cy="4389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20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1206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029200" y="0"/>
                  </a:lnTo>
                  <a:cubicBezTo>
                    <a:pt x="5079746" y="0"/>
                    <a:pt x="5120640" y="40894"/>
                    <a:pt x="5120640" y="91440"/>
                  </a:cubicBezTo>
                  <a:lnTo>
                    <a:pt x="5120640" y="347472"/>
                  </a:lnTo>
                  <a:cubicBezTo>
                    <a:pt x="5120640" y="398018"/>
                    <a:pt x="5079746" y="438912"/>
                    <a:pt x="502920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647420" y="6035040"/>
            <a:ext cx="3634740" cy="356616"/>
            <a:chOff x="0" y="0"/>
            <a:chExt cx="4846320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46320" cy="475488"/>
            </a:xfrm>
            <a:custGeom>
              <a:avLst/>
              <a:gdLst/>
              <a:ahLst/>
              <a:cxnLst/>
              <a:rect r="r" b="b" t="t" l="l"/>
              <a:pathLst>
                <a:path h="47548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597" r="0" b="-14859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8463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myapp.com/users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12980" y="7351776"/>
            <a:ext cx="5006340" cy="822960"/>
            <a:chOff x="0" y="0"/>
            <a:chExt cx="667512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7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33" r="0" b="-6853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675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E7C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3 users found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412980" y="8188452"/>
            <a:ext cx="5006340" cy="548640"/>
            <a:chOff x="0" y="0"/>
            <a:chExt cx="66751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7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66751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 loaded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Data Fetching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FETCHING · 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SWR &amp; React Query (TanStack Query)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2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ata-fetching libraries reduce manual state management and add caching, revalidation and refetching.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948940"/>
            <a:ext cx="8229600" cy="4663440"/>
            <a:chOff x="0" y="0"/>
            <a:chExt cx="10972800" cy="6217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09728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863072" y="0"/>
                  </a:lnTo>
                  <a:cubicBezTo>
                    <a:pt x="10923651" y="0"/>
                    <a:pt x="10972800" y="49149"/>
                    <a:pt x="10972800" y="109728"/>
                  </a:cubicBezTo>
                  <a:lnTo>
                    <a:pt x="10972800" y="6108192"/>
                  </a:lnTo>
                  <a:cubicBezTo>
                    <a:pt x="10972800" y="6168771"/>
                    <a:pt x="10923651" y="6217920"/>
                    <a:pt x="10863072" y="6217920"/>
                  </a:cubicBezTo>
                  <a:lnTo>
                    <a:pt x="109728" y="6217920"/>
                  </a:lnTo>
                  <a:cubicBezTo>
                    <a:pt x="49149" y="6217920"/>
                    <a:pt x="0" y="6168771"/>
                    <a:pt x="0" y="6108192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4712" y="3130296"/>
            <a:ext cx="7626096" cy="399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// Manual — useEffect approach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const [data, setData] = useState(null);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const [loading, setLoading] = useState(true);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const [error, setError] = useState(null);</a:t>
            </a:r>
          </a:p>
          <a:p>
            <a:pPr algn="l">
              <a:lnSpc>
                <a:spcPts val="2656"/>
              </a:lnSpc>
            </a:pP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  fetch("/api/users")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    .then(r =&gt; r.json())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    .then(setData)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    .catch(setError)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    .finally(() =&gt; setLoading(false));</a:t>
            </a:r>
          </a:p>
          <a:p>
            <a:pPr algn="l">
              <a:lnSpc>
                <a:spcPts val="2656"/>
              </a:lnSpc>
            </a:pPr>
            <a:r>
              <a:rPr lang="en-US" sz="1924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95460" y="2948940"/>
            <a:ext cx="8229600" cy="4663440"/>
            <a:chOff x="0" y="0"/>
            <a:chExt cx="10972800" cy="6217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09728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863072" y="0"/>
                  </a:lnTo>
                  <a:cubicBezTo>
                    <a:pt x="10923651" y="0"/>
                    <a:pt x="10972800" y="49149"/>
                    <a:pt x="10972800" y="109728"/>
                  </a:cubicBezTo>
                  <a:lnTo>
                    <a:pt x="10972800" y="6108192"/>
                  </a:lnTo>
                  <a:cubicBezTo>
                    <a:pt x="10972800" y="6168771"/>
                    <a:pt x="10923651" y="6217920"/>
                    <a:pt x="10863072" y="6217920"/>
                  </a:cubicBezTo>
                  <a:lnTo>
                    <a:pt x="109728" y="6217920"/>
                  </a:lnTo>
                  <a:cubicBezTo>
                    <a:pt x="49149" y="6217920"/>
                    <a:pt x="0" y="6168771"/>
                    <a:pt x="0" y="6108192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97212" y="3120771"/>
            <a:ext cx="7626096" cy="259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// SWR — one hook does it all</a:t>
            </a:r>
          </a:p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import useSWR from "swr";</a:t>
            </a:r>
          </a:p>
          <a:p>
            <a:pPr algn="l">
              <a:lnSpc>
                <a:spcPts val="2966"/>
              </a:lnSpc>
            </a:pPr>
          </a:p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const { data, error, isLoading } = useSWR(</a:t>
            </a:r>
          </a:p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"/api/users",</a:t>
            </a:r>
          </a:p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  (url) =&gt; fetch(url).then(r =&gt; r.json())</a:t>
            </a:r>
          </a:p>
          <a:p>
            <a:pPr algn="l">
              <a:lnSpc>
                <a:spcPts val="2966"/>
              </a:lnSpc>
            </a:pPr>
            <a:r>
              <a:rPr lang="en-US" sz="2149">
                <a:solidFill>
                  <a:srgbClr val="D7E4E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8023860"/>
            <a:ext cx="3017520" cy="754380"/>
            <a:chOff x="0" y="0"/>
            <a:chExt cx="402336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3520440" y="0"/>
                  </a:lnTo>
                  <a:cubicBezTo>
                    <a:pt x="3798189" y="0"/>
                    <a:pt x="4023360" y="225171"/>
                    <a:pt x="4023360" y="502920"/>
                  </a:cubicBezTo>
                  <a:cubicBezTo>
                    <a:pt x="4023360" y="780669"/>
                    <a:pt x="3798189" y="1005840"/>
                    <a:pt x="352044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023860"/>
            <a:ext cx="3017520" cy="754380"/>
            <a:chOff x="0" y="0"/>
            <a:chExt cx="402336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23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caching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14800" y="8023860"/>
            <a:ext cx="3840480" cy="754380"/>
            <a:chOff x="0" y="0"/>
            <a:chExt cx="51206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0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1206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4617720" y="0"/>
                  </a:lnTo>
                  <a:cubicBezTo>
                    <a:pt x="4895469" y="0"/>
                    <a:pt x="5120640" y="225171"/>
                    <a:pt x="5120640" y="502920"/>
                  </a:cubicBezTo>
                  <a:cubicBezTo>
                    <a:pt x="5120640" y="780669"/>
                    <a:pt x="4895469" y="1005840"/>
                    <a:pt x="461772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114800" y="8023860"/>
            <a:ext cx="3840480" cy="754380"/>
            <a:chOff x="0" y="0"/>
            <a:chExt cx="51206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 revalidation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0" y="8023860"/>
            <a:ext cx="3840480" cy="754380"/>
            <a:chOff x="0" y="0"/>
            <a:chExt cx="51206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1206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4617720" y="0"/>
                  </a:lnTo>
                  <a:cubicBezTo>
                    <a:pt x="4895469" y="0"/>
                    <a:pt x="5120640" y="225171"/>
                    <a:pt x="5120640" y="502920"/>
                  </a:cubicBezTo>
                  <a:cubicBezTo>
                    <a:pt x="5120640" y="780669"/>
                    <a:pt x="4895469" y="1005840"/>
                    <a:pt x="461772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0" y="8023860"/>
            <a:ext cx="3840480" cy="754380"/>
            <a:chOff x="0" y="0"/>
            <a:chExt cx="51206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20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 retry on error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4400" y="8023860"/>
            <a:ext cx="3703320" cy="754380"/>
            <a:chOff x="0" y="0"/>
            <a:chExt cx="493776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4434840" y="0"/>
                  </a:lnTo>
                  <a:cubicBezTo>
                    <a:pt x="4712589" y="0"/>
                    <a:pt x="4937760" y="225171"/>
                    <a:pt x="4937760" y="502920"/>
                  </a:cubicBezTo>
                  <a:cubicBezTo>
                    <a:pt x="4937760" y="780669"/>
                    <a:pt x="4712589" y="1005840"/>
                    <a:pt x="443484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0" y="8023860"/>
            <a:ext cx="3703320" cy="754380"/>
            <a:chOff x="0" y="0"/>
            <a:chExt cx="493776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937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De-duplicated requests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Data Fetching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FETCHING · 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Caching, revalidation &amp; where to fetch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10972800" cy="581117"/>
            <a:chOff x="0" y="0"/>
            <a:chExt cx="14630400" cy="774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74823"/>
            </a:xfrm>
            <a:custGeom>
              <a:avLst/>
              <a:gdLst/>
              <a:ahLst/>
              <a:cxnLst/>
              <a:rect r="r" b="b" t="t" l="l"/>
              <a:pathLst>
                <a:path h="77482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6616" r="0" b="-30922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63040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Caching &amp; revalidation timeline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017520"/>
            <a:ext cx="3086100" cy="1303020"/>
            <a:chOff x="0" y="0"/>
            <a:chExt cx="4114800" cy="1737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68496" y="0"/>
                  </a:lnTo>
                  <a:cubicBezTo>
                    <a:pt x="4049268" y="0"/>
                    <a:pt x="4114800" y="65532"/>
                    <a:pt x="4114800" y="146304"/>
                  </a:cubicBezTo>
                  <a:lnTo>
                    <a:pt x="4114800" y="1591056"/>
                  </a:lnTo>
                  <a:cubicBezTo>
                    <a:pt x="4114800" y="1671828"/>
                    <a:pt x="4049268" y="1737360"/>
                    <a:pt x="396849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017520"/>
            <a:ext cx="3086100" cy="1303020"/>
            <a:chOff x="0" y="0"/>
            <a:chExt cx="4114800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1148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Fetch</a:t>
              </a:r>
            </a:p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cache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36492" y="3573018"/>
            <a:ext cx="329184" cy="192024"/>
            <a:chOff x="0" y="0"/>
            <a:chExt cx="43891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256032"/>
            </a:xfrm>
            <a:custGeom>
              <a:avLst/>
              <a:gdLst/>
              <a:ahLst/>
              <a:cxnLst/>
              <a:rect r="r" b="b" t="t" l="l"/>
              <a:pathLst>
                <a:path h="256032" w="438912">
                  <a:moveTo>
                    <a:pt x="0" y="64008"/>
                  </a:moveTo>
                  <a:lnTo>
                    <a:pt x="310896" y="64008"/>
                  </a:lnTo>
                  <a:lnTo>
                    <a:pt x="310896" y="0"/>
                  </a:lnTo>
                  <a:lnTo>
                    <a:pt x="438912" y="128016"/>
                  </a:lnTo>
                  <a:lnTo>
                    <a:pt x="310896" y="256032"/>
                  </a:lnTo>
                  <a:lnTo>
                    <a:pt x="310896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293108" y="3017520"/>
            <a:ext cx="3086100" cy="1303020"/>
            <a:chOff x="0" y="0"/>
            <a:chExt cx="411480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68496" y="0"/>
                  </a:lnTo>
                  <a:cubicBezTo>
                    <a:pt x="4049268" y="0"/>
                    <a:pt x="4114800" y="65532"/>
                    <a:pt x="4114800" y="146304"/>
                  </a:cubicBezTo>
                  <a:lnTo>
                    <a:pt x="4114800" y="1591056"/>
                  </a:lnTo>
                  <a:cubicBezTo>
                    <a:pt x="4114800" y="1671828"/>
                    <a:pt x="4049268" y="1737360"/>
                    <a:pt x="396849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93108" y="3017520"/>
            <a:ext cx="3086100" cy="1303020"/>
            <a:chOff x="0" y="0"/>
            <a:chExt cx="4114800" cy="1737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1148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 from</a:t>
              </a:r>
            </a:p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cache (fast)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06640" y="3573018"/>
            <a:ext cx="329184" cy="192024"/>
            <a:chOff x="0" y="0"/>
            <a:chExt cx="438912" cy="256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" cy="256032"/>
            </a:xfrm>
            <a:custGeom>
              <a:avLst/>
              <a:gdLst/>
              <a:ahLst/>
              <a:cxnLst/>
              <a:rect r="r" b="b" t="t" l="l"/>
              <a:pathLst>
                <a:path h="256032" w="438912">
                  <a:moveTo>
                    <a:pt x="0" y="64008"/>
                  </a:moveTo>
                  <a:lnTo>
                    <a:pt x="310896" y="64008"/>
                  </a:lnTo>
                  <a:lnTo>
                    <a:pt x="310896" y="0"/>
                  </a:lnTo>
                  <a:lnTo>
                    <a:pt x="438912" y="128016"/>
                  </a:lnTo>
                  <a:lnTo>
                    <a:pt x="310896" y="256032"/>
                  </a:lnTo>
                  <a:lnTo>
                    <a:pt x="310896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63256" y="3017520"/>
            <a:ext cx="3086100" cy="1303020"/>
            <a:chOff x="0" y="0"/>
            <a:chExt cx="4114800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68496" y="0"/>
                  </a:lnTo>
                  <a:cubicBezTo>
                    <a:pt x="4049268" y="0"/>
                    <a:pt x="4114800" y="65532"/>
                    <a:pt x="4114800" y="146304"/>
                  </a:cubicBezTo>
                  <a:lnTo>
                    <a:pt x="4114800" y="1591056"/>
                  </a:lnTo>
                  <a:cubicBezTo>
                    <a:pt x="4114800" y="1671828"/>
                    <a:pt x="4049268" y="1737360"/>
                    <a:pt x="396849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63256" y="3017520"/>
            <a:ext cx="3086100" cy="1303020"/>
            <a:chOff x="0" y="0"/>
            <a:chExt cx="411480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1148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 refocused /</a:t>
              </a:r>
            </a:p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interval elapses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76788" y="3573018"/>
            <a:ext cx="329184" cy="192024"/>
            <a:chOff x="0" y="0"/>
            <a:chExt cx="438912" cy="2560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912" cy="256032"/>
            </a:xfrm>
            <a:custGeom>
              <a:avLst/>
              <a:gdLst/>
              <a:ahLst/>
              <a:cxnLst/>
              <a:rect r="r" b="b" t="t" l="l"/>
              <a:pathLst>
                <a:path h="256032" w="438912">
                  <a:moveTo>
                    <a:pt x="0" y="64008"/>
                  </a:moveTo>
                  <a:lnTo>
                    <a:pt x="310896" y="64008"/>
                  </a:lnTo>
                  <a:lnTo>
                    <a:pt x="310896" y="0"/>
                  </a:lnTo>
                  <a:lnTo>
                    <a:pt x="438912" y="128016"/>
                  </a:lnTo>
                  <a:lnTo>
                    <a:pt x="310896" y="256032"/>
                  </a:lnTo>
                  <a:lnTo>
                    <a:pt x="310896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233404" y="3017520"/>
            <a:ext cx="3086100" cy="1303020"/>
            <a:chOff x="0" y="0"/>
            <a:chExt cx="4114800" cy="1737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68496" y="0"/>
                  </a:lnTo>
                  <a:cubicBezTo>
                    <a:pt x="4049268" y="0"/>
                    <a:pt x="4114800" y="65532"/>
                    <a:pt x="4114800" y="146304"/>
                  </a:cubicBezTo>
                  <a:lnTo>
                    <a:pt x="4114800" y="1591056"/>
                  </a:lnTo>
                  <a:cubicBezTo>
                    <a:pt x="4114800" y="1671828"/>
                    <a:pt x="4049268" y="1737360"/>
                    <a:pt x="396849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E9FBF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33404" y="3017520"/>
            <a:ext cx="3086100" cy="1303020"/>
            <a:chOff x="0" y="0"/>
            <a:chExt cx="411480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1148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  <a:r>
                <a:rPr lang="en-US" sz="2524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Revalidate</a:t>
              </a:r>
            </a:p>
            <a:p>
              <a:pPr algn="ctr">
                <a:lnSpc>
                  <a:spcPts val="3029"/>
                </a:lnSpc>
              </a:pPr>
              <a:r>
                <a:rPr lang="en-US" sz="2524" b="true">
                  <a:solidFill>
                    <a:srgbClr val="007A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background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346936" y="3573018"/>
            <a:ext cx="329184" cy="192024"/>
            <a:chOff x="0" y="0"/>
            <a:chExt cx="438912" cy="2560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" cy="256032"/>
            </a:xfrm>
            <a:custGeom>
              <a:avLst/>
              <a:gdLst/>
              <a:ahLst/>
              <a:cxnLst/>
              <a:rect r="r" b="b" t="t" l="l"/>
              <a:pathLst>
                <a:path h="256032" w="438912">
                  <a:moveTo>
                    <a:pt x="0" y="64008"/>
                  </a:moveTo>
                  <a:lnTo>
                    <a:pt x="310896" y="64008"/>
                  </a:lnTo>
                  <a:lnTo>
                    <a:pt x="310896" y="0"/>
                  </a:lnTo>
                  <a:lnTo>
                    <a:pt x="438912" y="128016"/>
                  </a:lnTo>
                  <a:lnTo>
                    <a:pt x="310896" y="256032"/>
                  </a:lnTo>
                  <a:lnTo>
                    <a:pt x="310896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703552" y="3017520"/>
            <a:ext cx="3086100" cy="1303020"/>
            <a:chOff x="0" y="0"/>
            <a:chExt cx="411480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68496" y="0"/>
                  </a:lnTo>
                  <a:cubicBezTo>
                    <a:pt x="4049268" y="0"/>
                    <a:pt x="4114800" y="65532"/>
                    <a:pt x="4114800" y="146304"/>
                  </a:cubicBezTo>
                  <a:lnTo>
                    <a:pt x="4114800" y="1591056"/>
                  </a:lnTo>
                  <a:cubicBezTo>
                    <a:pt x="4114800" y="1671828"/>
                    <a:pt x="4049268" y="1737360"/>
                    <a:pt x="396849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703552" y="3017520"/>
            <a:ext cx="3086100" cy="1303020"/>
            <a:chOff x="0" y="0"/>
            <a:chExt cx="4114800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1148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 updates</a:t>
              </a:r>
            </a:p>
            <a:p>
              <a:pPr algn="ctr">
                <a:lnSpc>
                  <a:spcPts val="3029"/>
                </a:lnSpc>
              </a:pPr>
              <a:r>
                <a:rPr lang="en-US" sz="252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changed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4869180"/>
            <a:ext cx="10972800" cy="581117"/>
            <a:chOff x="0" y="0"/>
            <a:chExt cx="14630400" cy="7748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774823"/>
            </a:xfrm>
            <a:custGeom>
              <a:avLst/>
              <a:gdLst/>
              <a:ahLst/>
              <a:cxnLst/>
              <a:rect r="r" b="b" t="t" l="l"/>
              <a:pathLst>
                <a:path h="77482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6616" r="0" b="-3092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463040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Client-side vs. server-side fetching in Next.js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5486400"/>
            <a:ext cx="3977640" cy="685800"/>
            <a:chOff x="0" y="0"/>
            <a:chExt cx="530352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768096"/>
                  </a:lnTo>
                  <a:cubicBezTo>
                    <a:pt x="5303520" y="848868"/>
                    <a:pt x="5237988" y="914400"/>
                    <a:pt x="51572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A1F2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882896" y="5486400"/>
            <a:ext cx="6720840" cy="685800"/>
            <a:chOff x="0" y="0"/>
            <a:chExt cx="896112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914400"/>
            </a:xfrm>
            <a:custGeom>
              <a:avLst/>
              <a:gdLst/>
              <a:ahLst/>
              <a:cxnLst/>
              <a:rect r="r" b="b" t="t" l="l"/>
              <a:pathLst>
                <a:path h="914400" w="8961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814816" y="0"/>
                  </a:lnTo>
                  <a:cubicBezTo>
                    <a:pt x="8895588" y="0"/>
                    <a:pt x="8961120" y="65532"/>
                    <a:pt x="8961120" y="146304"/>
                  </a:cubicBezTo>
                  <a:lnTo>
                    <a:pt x="8961120" y="768096"/>
                  </a:lnTo>
                  <a:cubicBezTo>
                    <a:pt x="8961120" y="848868"/>
                    <a:pt x="8895588" y="914400"/>
                    <a:pt x="88148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86032" y="5486400"/>
            <a:ext cx="6446520" cy="685800"/>
            <a:chOff x="0" y="0"/>
            <a:chExt cx="859536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95361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768096"/>
                  </a:lnTo>
                  <a:cubicBezTo>
                    <a:pt x="8595361" y="848868"/>
                    <a:pt x="8529828" y="914400"/>
                    <a:pt x="844905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5B6C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82896" y="5486400"/>
            <a:ext cx="6720840" cy="685800"/>
            <a:chOff x="0" y="0"/>
            <a:chExt cx="896112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61120" cy="914400"/>
            </a:xfrm>
            <a:custGeom>
              <a:avLst/>
              <a:gdLst/>
              <a:ahLst/>
              <a:cxnLst/>
              <a:rect r="r" b="b" t="t" l="l"/>
              <a:pathLst>
                <a:path h="9144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961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Client-side fetch (this session)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86032" y="5486400"/>
            <a:ext cx="6446520" cy="685800"/>
            <a:chOff x="0" y="0"/>
            <a:chExt cx="859536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8595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Server-side fetch (preview)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6254496"/>
            <a:ext cx="3977640" cy="987552"/>
            <a:chOff x="0" y="0"/>
            <a:chExt cx="530352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03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3035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5266944" y="0"/>
                  </a:lnTo>
                  <a:cubicBezTo>
                    <a:pt x="5287137" y="0"/>
                    <a:pt x="5303520" y="16383"/>
                    <a:pt x="5303520" y="36576"/>
                  </a:cubicBezTo>
                  <a:lnTo>
                    <a:pt x="5303520" y="1280160"/>
                  </a:lnTo>
                  <a:cubicBezTo>
                    <a:pt x="5303520" y="1300353"/>
                    <a:pt x="5287137" y="1316736"/>
                    <a:pt x="52669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882896" y="6254496"/>
            <a:ext cx="6720840" cy="987552"/>
            <a:chOff x="0" y="0"/>
            <a:chExt cx="8961120" cy="13167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6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9611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924544" y="0"/>
                  </a:lnTo>
                  <a:cubicBezTo>
                    <a:pt x="8944737" y="0"/>
                    <a:pt x="8961120" y="16383"/>
                    <a:pt x="8961120" y="36576"/>
                  </a:cubicBezTo>
                  <a:lnTo>
                    <a:pt x="8961120" y="1280160"/>
                  </a:lnTo>
                  <a:cubicBezTo>
                    <a:pt x="8961120" y="1300353"/>
                    <a:pt x="8944737" y="1316736"/>
                    <a:pt x="89245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68328" y="6254496"/>
            <a:ext cx="6446520" cy="987552"/>
            <a:chOff x="0" y="0"/>
            <a:chExt cx="8595360" cy="13167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558784" y="0"/>
                  </a:lnTo>
                  <a:cubicBezTo>
                    <a:pt x="8578977" y="0"/>
                    <a:pt x="8595360" y="16383"/>
                    <a:pt x="8595360" y="36576"/>
                  </a:cubicBezTo>
                  <a:lnTo>
                    <a:pt x="8595360" y="1280160"/>
                  </a:lnTo>
                  <a:cubicBezTo>
                    <a:pt x="8595360" y="1300353"/>
                    <a:pt x="8578977" y="1316736"/>
                    <a:pt x="855878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8700" y="6254496"/>
            <a:ext cx="3566160" cy="987552"/>
            <a:chOff x="0" y="0"/>
            <a:chExt cx="4754880" cy="13167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548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7548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where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74920" y="6254496"/>
            <a:ext cx="6172200" cy="987552"/>
            <a:chOff x="0" y="0"/>
            <a:chExt cx="8229600" cy="13167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822960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the browser, after page load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878056" y="6254496"/>
            <a:ext cx="5897880" cy="987552"/>
            <a:chOff x="0" y="0"/>
            <a:chExt cx="7863840" cy="1316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863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78638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the server, before HTML is sent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7324344"/>
            <a:ext cx="3977640" cy="987552"/>
            <a:chOff x="0" y="0"/>
            <a:chExt cx="5303520" cy="13167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03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3035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5266944" y="0"/>
                  </a:lnTo>
                  <a:cubicBezTo>
                    <a:pt x="5287137" y="0"/>
                    <a:pt x="5303520" y="16383"/>
                    <a:pt x="5303520" y="36576"/>
                  </a:cubicBezTo>
                  <a:lnTo>
                    <a:pt x="5303520" y="1280160"/>
                  </a:lnTo>
                  <a:cubicBezTo>
                    <a:pt x="5303520" y="1300353"/>
                    <a:pt x="5287137" y="1316736"/>
                    <a:pt x="52669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882896" y="7324344"/>
            <a:ext cx="6720840" cy="987552"/>
            <a:chOff x="0" y="0"/>
            <a:chExt cx="8961120" cy="13167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96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9611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924544" y="0"/>
                  </a:lnTo>
                  <a:cubicBezTo>
                    <a:pt x="8944737" y="0"/>
                    <a:pt x="8961120" y="16383"/>
                    <a:pt x="8961120" y="36576"/>
                  </a:cubicBezTo>
                  <a:lnTo>
                    <a:pt x="8961120" y="1280160"/>
                  </a:lnTo>
                  <a:cubicBezTo>
                    <a:pt x="8961120" y="1300353"/>
                    <a:pt x="8944737" y="1316736"/>
                    <a:pt x="89245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768328" y="7324344"/>
            <a:ext cx="6446520" cy="987552"/>
            <a:chOff x="0" y="0"/>
            <a:chExt cx="8595360" cy="13167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558784" y="0"/>
                  </a:lnTo>
                  <a:cubicBezTo>
                    <a:pt x="8578977" y="0"/>
                    <a:pt x="8595360" y="16383"/>
                    <a:pt x="8595360" y="36576"/>
                  </a:cubicBezTo>
                  <a:lnTo>
                    <a:pt x="8595360" y="1280160"/>
                  </a:lnTo>
                  <a:cubicBezTo>
                    <a:pt x="8595360" y="1300353"/>
                    <a:pt x="8578977" y="1316736"/>
                    <a:pt x="855878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28700" y="7324344"/>
            <a:ext cx="3566160" cy="987552"/>
            <a:chOff x="0" y="0"/>
            <a:chExt cx="4754880" cy="1316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48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47548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SEO / crawlers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74920" y="7324344"/>
            <a:ext cx="6172200" cy="987552"/>
            <a:chOff x="0" y="0"/>
            <a:chExt cx="8229600" cy="13167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822960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 is fetched after the initial page load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878056" y="7324344"/>
            <a:ext cx="5897880" cy="987552"/>
            <a:chOff x="0" y="0"/>
            <a:chExt cx="7863840" cy="131673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863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78638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 can be included in the initial response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8394192"/>
            <a:ext cx="3977640" cy="987552"/>
            <a:chOff x="0" y="0"/>
            <a:chExt cx="5303520" cy="13167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03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3035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5266944" y="0"/>
                  </a:lnTo>
                  <a:cubicBezTo>
                    <a:pt x="5287137" y="0"/>
                    <a:pt x="5303520" y="16383"/>
                    <a:pt x="5303520" y="36576"/>
                  </a:cubicBezTo>
                  <a:lnTo>
                    <a:pt x="5303520" y="1280160"/>
                  </a:lnTo>
                  <a:cubicBezTo>
                    <a:pt x="5303520" y="1300353"/>
                    <a:pt x="5287137" y="1316736"/>
                    <a:pt x="52669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882896" y="8394192"/>
            <a:ext cx="6720840" cy="987552"/>
            <a:chOff x="0" y="0"/>
            <a:chExt cx="8961120" cy="13167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96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9611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924544" y="0"/>
                  </a:lnTo>
                  <a:cubicBezTo>
                    <a:pt x="8944737" y="0"/>
                    <a:pt x="8961120" y="16383"/>
                    <a:pt x="8961120" y="36576"/>
                  </a:cubicBezTo>
                  <a:lnTo>
                    <a:pt x="8961120" y="1280160"/>
                  </a:lnTo>
                  <a:cubicBezTo>
                    <a:pt x="8961120" y="1300353"/>
                    <a:pt x="8944737" y="1316736"/>
                    <a:pt x="892454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768328" y="8394192"/>
            <a:ext cx="6446520" cy="987552"/>
            <a:chOff x="0" y="0"/>
            <a:chExt cx="8595360" cy="13167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558784" y="0"/>
                  </a:lnTo>
                  <a:cubicBezTo>
                    <a:pt x="8578977" y="0"/>
                    <a:pt x="8595360" y="16383"/>
                    <a:pt x="8595360" y="36576"/>
                  </a:cubicBezTo>
                  <a:lnTo>
                    <a:pt x="8595360" y="1280160"/>
                  </a:lnTo>
                  <a:cubicBezTo>
                    <a:pt x="8595360" y="1300353"/>
                    <a:pt x="8578977" y="1316736"/>
                    <a:pt x="8558784" y="1316736"/>
                  </a:cubicBezTo>
                  <a:lnTo>
                    <a:pt x="36576" y="1316736"/>
                  </a:lnTo>
                  <a:cubicBezTo>
                    <a:pt x="16383" y="1316736"/>
                    <a:pt x="0" y="1300353"/>
                    <a:pt x="0" y="1280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28700" y="8394192"/>
            <a:ext cx="3566160" cy="987552"/>
            <a:chOff x="0" y="0"/>
            <a:chExt cx="4754880" cy="13167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47548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A1F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for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74920" y="8394192"/>
            <a:ext cx="6172200" cy="987552"/>
            <a:chOff x="0" y="0"/>
            <a:chExt cx="8229600" cy="13167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822960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earch, filters, dashboards, live interactions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878056" y="8394192"/>
            <a:ext cx="5897880" cy="987552"/>
            <a:chOff x="0" y="0"/>
            <a:chExt cx="7863840" cy="13167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863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78638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content, server-only resources, SEO-sensitive pages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Data Fetching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C2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EXAMPLE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folder to fetched data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8385810" cy="4613910"/>
            <a:chOff x="0" y="0"/>
            <a:chExt cx="11181080" cy="6151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81080" cy="6151880"/>
            </a:xfrm>
            <a:custGeom>
              <a:avLst/>
              <a:gdLst/>
              <a:ahLst/>
              <a:cxnLst/>
              <a:rect r="r" b="b" t="t" l="l"/>
              <a:pathLst>
                <a:path h="6151880" w="11181080">
                  <a:moveTo>
                    <a:pt x="0" y="110236"/>
                  </a:moveTo>
                  <a:cubicBezTo>
                    <a:pt x="0" y="49276"/>
                    <a:pt x="49276" y="0"/>
                    <a:pt x="110236" y="0"/>
                  </a:cubicBezTo>
                  <a:lnTo>
                    <a:pt x="11070844" y="0"/>
                  </a:lnTo>
                  <a:cubicBezTo>
                    <a:pt x="11131676" y="0"/>
                    <a:pt x="11181080" y="49276"/>
                    <a:pt x="11181080" y="110236"/>
                  </a:cubicBezTo>
                  <a:lnTo>
                    <a:pt x="11181080" y="6041644"/>
                  </a:lnTo>
                  <a:cubicBezTo>
                    <a:pt x="11181080" y="6102477"/>
                    <a:pt x="11131803" y="6151880"/>
                    <a:pt x="11070844" y="6151880"/>
                  </a:cubicBezTo>
                  <a:lnTo>
                    <a:pt x="110236" y="6151880"/>
                  </a:lnTo>
                  <a:cubicBezTo>
                    <a:pt x="49403" y="6151880"/>
                    <a:pt x="0" y="6102604"/>
                    <a:pt x="0" y="60416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8366760" cy="576072"/>
            <a:chOff x="0" y="0"/>
            <a:chExt cx="1115568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045952" y="0"/>
                  </a:lnTo>
                  <a:cubicBezTo>
                    <a:pt x="11106531" y="0"/>
                    <a:pt x="11155680" y="49149"/>
                    <a:pt x="11155680" y="109728"/>
                  </a:cubicBezTo>
                  <a:lnTo>
                    <a:pt x="11155680" y="658368"/>
                  </a:lnTo>
                  <a:cubicBezTo>
                    <a:pt x="11155680" y="718947"/>
                    <a:pt x="11106531" y="768096"/>
                    <a:pt x="11045952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839212"/>
            <a:ext cx="8366760" cy="137160"/>
            <a:chOff x="0" y="0"/>
            <a:chExt cx="11155680" cy="182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182880"/>
            </a:xfrm>
            <a:custGeom>
              <a:avLst/>
              <a:gdLst/>
              <a:ahLst/>
              <a:cxnLst/>
              <a:rect r="r" b="b" t="t" l="l"/>
              <a:pathLst>
                <a:path h="1828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1F243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2416" y="2606040"/>
            <a:ext cx="164592" cy="164592"/>
            <a:chOff x="0" y="0"/>
            <a:chExt cx="21945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4168" y="2606040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2606040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25980" y="2523744"/>
            <a:ext cx="6789420" cy="329184"/>
            <a:chOff x="0" y="0"/>
            <a:chExt cx="905256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2560" cy="438912"/>
            </a:xfrm>
            <a:custGeom>
              <a:avLst/>
              <a:gdLst/>
              <a:ahLst/>
              <a:cxnLst/>
              <a:rect r="r" b="b" t="t" l="l"/>
              <a:pathLst>
                <a:path h="438912" w="90525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961120" y="0"/>
                  </a:lnTo>
                  <a:cubicBezTo>
                    <a:pt x="9011665" y="0"/>
                    <a:pt x="9052560" y="40894"/>
                    <a:pt x="9052560" y="91440"/>
                  </a:cubicBezTo>
                  <a:lnTo>
                    <a:pt x="9052560" y="347472"/>
                  </a:lnTo>
                  <a:cubicBezTo>
                    <a:pt x="9052560" y="398018"/>
                    <a:pt x="9011665" y="438912"/>
                    <a:pt x="896112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2E354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63140" y="2510028"/>
            <a:ext cx="6583680" cy="356616"/>
            <a:chOff x="0" y="0"/>
            <a:chExt cx="8778240" cy="4754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475488"/>
            </a:xfrm>
            <a:custGeom>
              <a:avLst/>
              <a:gdLst/>
              <a:ahLst/>
              <a:cxnLst/>
              <a:rect r="r" b="b" t="t" l="l"/>
              <a:pathLst>
                <a:path h="4754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78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AEB6C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myapp.com/users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3140964"/>
            <a:ext cx="7543800" cy="2086557"/>
            <a:chOff x="0" y="0"/>
            <a:chExt cx="10058400" cy="27820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2782076"/>
            </a:xfrm>
            <a:custGeom>
              <a:avLst/>
              <a:gdLst/>
              <a:ahLst/>
              <a:cxnLst/>
              <a:rect r="r" b="b" t="t" l="l"/>
              <a:pathLst>
                <a:path h="278207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782076"/>
                  </a:lnTo>
                  <a:lnTo>
                    <a:pt x="0" y="27820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99" r="0" b="1640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0058400" cy="2791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1A1F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3826764"/>
            <a:ext cx="7543800" cy="685800"/>
            <a:chOff x="0" y="0"/>
            <a:chExt cx="10058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04672"/>
                  </a:lnTo>
                  <a:cubicBezTo>
                    <a:pt x="10058400" y="865251"/>
                    <a:pt x="10009251" y="914400"/>
                    <a:pt x="9948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12748" y="3936492"/>
            <a:ext cx="466344" cy="466344"/>
            <a:chOff x="0" y="0"/>
            <a:chExt cx="621792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2748" y="3909060"/>
            <a:ext cx="466344" cy="466344"/>
            <a:chOff x="0" y="0"/>
            <a:chExt cx="621792" cy="6217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21792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80"/>
                </a:lnSpc>
              </a:pPr>
              <a:r>
                <a:rPr lang="en-US" sz="173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6252" y="3826764"/>
            <a:ext cx="6583680" cy="685800"/>
            <a:chOff x="0" y="0"/>
            <a:chExt cx="877824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914400"/>
            </a:xfrm>
            <a:custGeom>
              <a:avLst/>
              <a:gdLst/>
              <a:ahLst/>
              <a:cxnLst/>
              <a:rect r="r" b="b" t="t" l="l"/>
              <a:pathLst>
                <a:path h="914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778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Aditi Rao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" y="4677156"/>
            <a:ext cx="7543800" cy="685800"/>
            <a:chOff x="0" y="0"/>
            <a:chExt cx="10058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04672"/>
                  </a:lnTo>
                  <a:cubicBezTo>
                    <a:pt x="10058400" y="865251"/>
                    <a:pt x="10009251" y="914400"/>
                    <a:pt x="9948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2748" y="4786884"/>
            <a:ext cx="466344" cy="466344"/>
            <a:chOff x="0" y="0"/>
            <a:chExt cx="621792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12748" y="4759452"/>
            <a:ext cx="466344" cy="466344"/>
            <a:chOff x="0" y="0"/>
            <a:chExt cx="621792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21792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80"/>
                </a:lnSpc>
              </a:pPr>
              <a:r>
                <a:rPr lang="en-US" sz="173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16252" y="4677156"/>
            <a:ext cx="6583680" cy="685800"/>
            <a:chOff x="0" y="0"/>
            <a:chExt cx="877824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914400"/>
            </a:xfrm>
            <a:custGeom>
              <a:avLst/>
              <a:gdLst/>
              <a:ahLst/>
              <a:cxnLst/>
              <a:rect r="r" b="b" t="t" l="l"/>
              <a:pathLst>
                <a:path h="914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778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Marco Bell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4440" y="5527548"/>
            <a:ext cx="7543800" cy="685800"/>
            <a:chOff x="0" y="0"/>
            <a:chExt cx="10058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948672" y="0"/>
                  </a:lnTo>
                  <a:cubicBezTo>
                    <a:pt x="10009251" y="0"/>
                    <a:pt x="10058400" y="49149"/>
                    <a:pt x="10058400" y="109728"/>
                  </a:cubicBezTo>
                  <a:lnTo>
                    <a:pt x="10058400" y="804672"/>
                  </a:lnTo>
                  <a:cubicBezTo>
                    <a:pt x="10058400" y="865251"/>
                    <a:pt x="10009251" y="914400"/>
                    <a:pt x="9948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12748" y="5637276"/>
            <a:ext cx="466344" cy="466344"/>
            <a:chOff x="0" y="0"/>
            <a:chExt cx="621792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0C2A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2748" y="5609844"/>
            <a:ext cx="466344" cy="466344"/>
            <a:chOff x="0" y="0"/>
            <a:chExt cx="621792" cy="6217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21792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80"/>
                </a:lnSpc>
              </a:pPr>
              <a:r>
                <a:rPr lang="en-US" sz="173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16252" y="5527548"/>
            <a:ext cx="6583680" cy="685800"/>
            <a:chOff x="0" y="0"/>
            <a:chExt cx="877824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914400"/>
            </a:xfrm>
            <a:custGeom>
              <a:avLst/>
              <a:gdLst/>
              <a:ahLst/>
              <a:cxnLst/>
              <a:rect r="r" b="b" t="t" l="l"/>
              <a:pathLst>
                <a:path h="914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778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1F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Yuki Tanaka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7200900"/>
            <a:ext cx="8366760" cy="861571"/>
            <a:chOff x="0" y="0"/>
            <a:chExt cx="11155680" cy="114876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55680" cy="1148761"/>
            </a:xfrm>
            <a:custGeom>
              <a:avLst/>
              <a:gdLst/>
              <a:ahLst/>
              <a:cxnLst/>
              <a:rect r="r" b="b" t="t" l="l"/>
              <a:pathLst>
                <a:path h="1148761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148761"/>
                  </a:lnTo>
                  <a:lnTo>
                    <a:pt x="0" y="11487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460" r="0" b="-13697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0"/>
              <a:ext cx="11155680" cy="124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sz="2324" i="true">
                  <a:solidFill>
                    <a:srgbClr val="AEB6C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Rendered with useSWR("/api/users") — cached, revalidated, no manual loading/error state.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0" y="2400300"/>
            <a:ext cx="7886700" cy="6858000"/>
            <a:chOff x="0" y="0"/>
            <a:chExt cx="10515600" cy="9144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5156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8961120"/>
                  </a:lnTo>
                  <a:cubicBezTo>
                    <a:pt x="10515600" y="9062085"/>
                    <a:pt x="10433685" y="9144000"/>
                    <a:pt x="10332720" y="9144000"/>
                  </a:cubicBezTo>
                  <a:lnTo>
                    <a:pt x="182880" y="9144000"/>
                  </a:lnTo>
                  <a:cubicBezTo>
                    <a:pt x="81915" y="9144000"/>
                    <a:pt x="0" y="9062085"/>
                    <a:pt x="0" y="8961120"/>
                  </a:cubicBezTo>
                  <a:close/>
                </a:path>
              </a:pathLst>
            </a:custGeom>
            <a:solidFill>
              <a:srgbClr val="14192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12680" y="1914044"/>
            <a:ext cx="7132320" cy="2086557"/>
            <a:chOff x="0" y="0"/>
            <a:chExt cx="9509760" cy="27820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509760" cy="2782076"/>
            </a:xfrm>
            <a:custGeom>
              <a:avLst/>
              <a:gdLst/>
              <a:ahLst/>
              <a:cxnLst/>
              <a:rect r="r" b="b" t="t" l="l"/>
              <a:pathLst>
                <a:path h="278207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782076"/>
                  </a:lnTo>
                  <a:lnTo>
                    <a:pt x="0" y="27820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7" r="0" b="2024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509760" cy="2791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00C2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takeaways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012680" y="3381375"/>
            <a:ext cx="7132320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2" indent="-203596" lvl="1">
              <a:lnSpc>
                <a:spcPts val="2699"/>
              </a:lnSpc>
              <a:buFont typeface="Arial"/>
              <a:buChar char="•"/>
            </a:pPr>
            <a:r>
              <a:rPr lang="en-US" sz="2249">
                <a:solidFill>
                  <a:srgbClr val="E8ECEF"/>
                </a:solidFill>
                <a:latin typeface="Calibri (MS)"/>
                <a:ea typeface="Calibri (MS)"/>
                <a:cs typeface="Calibri (MS)"/>
                <a:sym typeface="Calibri (MS)"/>
              </a:rPr>
              <a:t>The app/ folder structure defines your routes — page.js makes a segment visitable.</a:t>
            </a:r>
          </a:p>
          <a:p>
            <a:pPr algn="l" marL="407192" indent="-203596" lvl="1">
              <a:lnSpc>
                <a:spcPts val="2699"/>
              </a:lnSpc>
              <a:buFont typeface="Arial"/>
              <a:buChar char="•"/>
            </a:pPr>
            <a:r>
              <a:rPr lang="en-US" sz="2249">
                <a:solidFill>
                  <a:srgbClr val="E8ECEF"/>
                </a:solidFill>
                <a:latin typeface="Calibri (MS)"/>
                <a:ea typeface="Calibri (MS)"/>
                <a:cs typeface="Calibri (MS)"/>
                <a:sym typeface="Calibri (MS)"/>
              </a:rPr>
              <a:t>layout.js, loading.js and error.js give you shared UI, fallbacks and error handling for free.</a:t>
            </a:r>
          </a:p>
          <a:p>
            <a:pPr algn="l" marL="407192" indent="-203596" lvl="1">
              <a:lnSpc>
                <a:spcPts val="2699"/>
              </a:lnSpc>
              <a:buFont typeface="Arial"/>
              <a:buChar char="•"/>
            </a:pPr>
            <a:r>
              <a:rPr lang="en-US" sz="2249">
                <a:solidFill>
                  <a:srgbClr val="E8ECEF"/>
                </a:solidFill>
                <a:latin typeface="Calibri (MS)"/>
                <a:ea typeface="Calibri (MS)"/>
                <a:cs typeface="Calibri (MS)"/>
                <a:sym typeface="Calibri (MS)"/>
              </a:rPr>
              <a:t>Components are Server by default; add "use client" only where interactivity is needed.</a:t>
            </a:r>
          </a:p>
          <a:p>
            <a:pPr algn="l" marL="407192" indent="-203596" lvl="1">
              <a:lnSpc>
                <a:spcPts val="2699"/>
              </a:lnSpc>
              <a:buFont typeface="Arial"/>
              <a:buChar char="•"/>
            </a:pPr>
            <a:r>
              <a:rPr lang="en-US" sz="2249">
                <a:solidFill>
                  <a:srgbClr val="E8ECEF"/>
                </a:solidFill>
                <a:latin typeface="Calibri (MS)"/>
                <a:ea typeface="Calibri (MS)"/>
                <a:cs typeface="Calibri (MS)"/>
                <a:sym typeface="Calibri (MS)"/>
              </a:rPr>
              <a:t>useEffect + fetch works, but SWR / React Query remove the boilerplate and add caching.</a:t>
            </a:r>
          </a:p>
          <a:p>
            <a:pPr algn="l" marL="407192" indent="-203596" lvl="1">
              <a:lnSpc>
                <a:spcPts val="2699"/>
              </a:lnSpc>
              <a:buFont typeface="Arial"/>
              <a:buChar char="•"/>
            </a:pPr>
            <a:r>
              <a:rPr lang="en-US" sz="2249">
                <a:solidFill>
                  <a:srgbClr val="E8ECEF"/>
                </a:solidFill>
                <a:latin typeface="Calibri (MS)"/>
                <a:ea typeface="Calibri (MS)"/>
                <a:cs typeface="Calibri (MS)"/>
                <a:sym typeface="Calibri (MS)"/>
              </a:rPr>
              <a:t>Client fetching is for interactive data; server fetching wins for SEO-critical initial content.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3 — Summary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9222">
            <a:off x="-2866244" y="-4326501"/>
            <a:ext cx="6542532" cy="8229600"/>
          </a:xfrm>
          <a:custGeom>
            <a:avLst/>
            <a:gdLst/>
            <a:ahLst/>
            <a:cxnLst/>
            <a:rect r="r" b="b" t="t" l="l"/>
            <a:pathLst>
              <a:path h="8229600" w="6542532">
                <a:moveTo>
                  <a:pt x="0" y="0"/>
                </a:moveTo>
                <a:lnTo>
                  <a:pt x="6542532" y="0"/>
                </a:lnTo>
                <a:lnTo>
                  <a:pt x="6542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9630" y="6446510"/>
            <a:ext cx="6267516" cy="6024650"/>
          </a:xfrm>
          <a:custGeom>
            <a:avLst/>
            <a:gdLst/>
            <a:ahLst/>
            <a:cxnLst/>
            <a:rect r="r" b="b" t="t" l="l"/>
            <a:pathLst>
              <a:path h="6024650" w="6267516">
                <a:moveTo>
                  <a:pt x="0" y="0"/>
                </a:moveTo>
                <a:lnTo>
                  <a:pt x="6267516" y="0"/>
                </a:lnTo>
                <a:lnTo>
                  <a:pt x="6267516" y="6024650"/>
                </a:lnTo>
                <a:lnTo>
                  <a:pt x="0" y="602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148" y="0"/>
                  </a:moveTo>
                  <a:lnTo>
                    <a:pt x="4250578" y="0"/>
                  </a:lnTo>
                  <a:cubicBezTo>
                    <a:pt x="4263915" y="0"/>
                    <a:pt x="4274726" y="10811"/>
                    <a:pt x="4274726" y="24148"/>
                  </a:cubicBezTo>
                  <a:lnTo>
                    <a:pt x="4274726" y="2143319"/>
                  </a:lnTo>
                  <a:cubicBezTo>
                    <a:pt x="4274726" y="2156655"/>
                    <a:pt x="4263915" y="2167467"/>
                    <a:pt x="4250578" y="2167467"/>
                  </a:cubicBezTo>
                  <a:lnTo>
                    <a:pt x="24148" y="2167467"/>
                  </a:lnTo>
                  <a:cubicBezTo>
                    <a:pt x="17743" y="2167467"/>
                    <a:pt x="11601" y="2164923"/>
                    <a:pt x="7073" y="2160394"/>
                  </a:cubicBezTo>
                  <a:cubicBezTo>
                    <a:pt x="2544" y="2155865"/>
                    <a:pt x="0" y="2149723"/>
                    <a:pt x="0" y="2143319"/>
                  </a:cubicBezTo>
                  <a:lnTo>
                    <a:pt x="0" y="24148"/>
                  </a:lnTo>
                  <a:cubicBezTo>
                    <a:pt x="0" y="17743"/>
                    <a:pt x="2544" y="11601"/>
                    <a:pt x="7073" y="7073"/>
                  </a:cubicBezTo>
                  <a:cubicBezTo>
                    <a:pt x="11601" y="2544"/>
                    <a:pt x="17743" y="0"/>
                    <a:pt x="24148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28979" y="2225531"/>
            <a:ext cx="2032213" cy="655154"/>
            <a:chOff x="0" y="0"/>
            <a:chExt cx="535233" cy="172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233" cy="172551"/>
            </a:xfrm>
            <a:custGeom>
              <a:avLst/>
              <a:gdLst/>
              <a:ahLst/>
              <a:cxnLst/>
              <a:rect r="r" b="b" t="t" l="l"/>
              <a:pathLst>
                <a:path h="172551" w="535233">
                  <a:moveTo>
                    <a:pt x="86275" y="0"/>
                  </a:moveTo>
                  <a:lnTo>
                    <a:pt x="448958" y="0"/>
                  </a:lnTo>
                  <a:cubicBezTo>
                    <a:pt x="496606" y="0"/>
                    <a:pt x="535233" y="38627"/>
                    <a:pt x="535233" y="86275"/>
                  </a:cubicBezTo>
                  <a:lnTo>
                    <a:pt x="535233" y="86275"/>
                  </a:lnTo>
                  <a:cubicBezTo>
                    <a:pt x="535233" y="109157"/>
                    <a:pt x="526143" y="131102"/>
                    <a:pt x="509964" y="147281"/>
                  </a:cubicBezTo>
                  <a:cubicBezTo>
                    <a:pt x="493784" y="163461"/>
                    <a:pt x="471839" y="172551"/>
                    <a:pt x="448958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5233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99081" y="3176494"/>
            <a:ext cx="13644388" cy="144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2400" spc="8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Next.js page needs to show a list of products immediately when the page is rendered, and the data comes from a database that should never be accessed directly by the browser.</a:t>
            </a:r>
          </a:p>
          <a:p>
            <a:pPr algn="l">
              <a:lnSpc>
                <a:spcPts val="3816"/>
              </a:lnSpc>
            </a:pPr>
            <a:r>
              <a:rPr lang="en-US" sz="2400" spc="8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Which approach is most appropriate?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943436" y="2543582"/>
            <a:ext cx="979555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2099081" y="1869217"/>
            <a:ext cx="1221938" cy="11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b="true" sz="5775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QUESTION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9081" y="5372197"/>
            <a:ext cx="5687368" cy="1089774"/>
            <a:chOff x="0" y="0"/>
            <a:chExt cx="1497908" cy="2870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A. Fetch the database directly from a Client Component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7718" y="5372197"/>
            <a:ext cx="5687368" cy="1089774"/>
            <a:chOff x="0" y="0"/>
            <a:chExt cx="1497908" cy="287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B. Fetch the data on the server using a Server Component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081" y="7002828"/>
            <a:ext cx="5687368" cy="1089774"/>
            <a:chOff x="0" y="0"/>
            <a:chExt cx="1497908" cy="2870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C. Store the database credentials in useState()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7718" y="7002828"/>
            <a:ext cx="5687368" cy="1089774"/>
            <a:chOff x="0" y="0"/>
            <a:chExt cx="1497908" cy="2870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D. Use useEffect() to connect directly to the database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9222">
            <a:off x="-2866244" y="-4326501"/>
            <a:ext cx="6542532" cy="8229600"/>
          </a:xfrm>
          <a:custGeom>
            <a:avLst/>
            <a:gdLst/>
            <a:ahLst/>
            <a:cxnLst/>
            <a:rect r="r" b="b" t="t" l="l"/>
            <a:pathLst>
              <a:path h="8229600" w="6542532">
                <a:moveTo>
                  <a:pt x="0" y="0"/>
                </a:moveTo>
                <a:lnTo>
                  <a:pt x="6542532" y="0"/>
                </a:lnTo>
                <a:lnTo>
                  <a:pt x="6542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9137" y="6461971"/>
            <a:ext cx="6267516" cy="6024650"/>
          </a:xfrm>
          <a:custGeom>
            <a:avLst/>
            <a:gdLst/>
            <a:ahLst/>
            <a:cxnLst/>
            <a:rect r="r" b="b" t="t" l="l"/>
            <a:pathLst>
              <a:path h="6024650" w="6267516">
                <a:moveTo>
                  <a:pt x="0" y="0"/>
                </a:moveTo>
                <a:lnTo>
                  <a:pt x="6267516" y="0"/>
                </a:lnTo>
                <a:lnTo>
                  <a:pt x="6267516" y="6024650"/>
                </a:lnTo>
                <a:lnTo>
                  <a:pt x="0" y="602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148" y="0"/>
                  </a:moveTo>
                  <a:lnTo>
                    <a:pt x="4250578" y="0"/>
                  </a:lnTo>
                  <a:cubicBezTo>
                    <a:pt x="4263915" y="0"/>
                    <a:pt x="4274726" y="10811"/>
                    <a:pt x="4274726" y="24148"/>
                  </a:cubicBezTo>
                  <a:lnTo>
                    <a:pt x="4274726" y="2143319"/>
                  </a:lnTo>
                  <a:cubicBezTo>
                    <a:pt x="4274726" y="2156655"/>
                    <a:pt x="4263915" y="2167467"/>
                    <a:pt x="4250578" y="2167467"/>
                  </a:cubicBezTo>
                  <a:lnTo>
                    <a:pt x="24148" y="2167467"/>
                  </a:lnTo>
                  <a:cubicBezTo>
                    <a:pt x="17743" y="2167467"/>
                    <a:pt x="11601" y="2164923"/>
                    <a:pt x="7073" y="2160394"/>
                  </a:cubicBezTo>
                  <a:cubicBezTo>
                    <a:pt x="2544" y="2155865"/>
                    <a:pt x="0" y="2149723"/>
                    <a:pt x="0" y="2143319"/>
                  </a:cubicBezTo>
                  <a:lnTo>
                    <a:pt x="0" y="24148"/>
                  </a:lnTo>
                  <a:cubicBezTo>
                    <a:pt x="0" y="17743"/>
                    <a:pt x="2544" y="11601"/>
                    <a:pt x="7073" y="7073"/>
                  </a:cubicBezTo>
                  <a:cubicBezTo>
                    <a:pt x="11601" y="2544"/>
                    <a:pt x="17743" y="0"/>
                    <a:pt x="24148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28979" y="2225531"/>
            <a:ext cx="2032213" cy="655154"/>
            <a:chOff x="0" y="0"/>
            <a:chExt cx="535233" cy="172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233" cy="172551"/>
            </a:xfrm>
            <a:custGeom>
              <a:avLst/>
              <a:gdLst/>
              <a:ahLst/>
              <a:cxnLst/>
              <a:rect r="r" b="b" t="t" l="l"/>
              <a:pathLst>
                <a:path h="172551" w="535233">
                  <a:moveTo>
                    <a:pt x="86275" y="0"/>
                  </a:moveTo>
                  <a:lnTo>
                    <a:pt x="448958" y="0"/>
                  </a:lnTo>
                  <a:cubicBezTo>
                    <a:pt x="496606" y="0"/>
                    <a:pt x="535233" y="38627"/>
                    <a:pt x="535233" y="86275"/>
                  </a:cubicBezTo>
                  <a:lnTo>
                    <a:pt x="535233" y="86275"/>
                  </a:lnTo>
                  <a:cubicBezTo>
                    <a:pt x="535233" y="109157"/>
                    <a:pt x="526143" y="131102"/>
                    <a:pt x="509964" y="147281"/>
                  </a:cubicBezTo>
                  <a:cubicBezTo>
                    <a:pt x="493784" y="163461"/>
                    <a:pt x="471839" y="172551"/>
                    <a:pt x="448958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5233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99081" y="3138394"/>
            <a:ext cx="13644388" cy="60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2899" spc="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What does </a:t>
            </a:r>
            <a:r>
              <a:rPr lang="en-US" sz="2899" spc="104" b="true">
                <a:solidFill>
                  <a:srgbClr val="FF5F5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app/blog/[id]/page.js</a:t>
            </a:r>
            <a:r>
              <a:rPr lang="en-US" sz="2899" spc="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allow you to create?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943436" y="2543582"/>
            <a:ext cx="979555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2099081" y="1869217"/>
            <a:ext cx="1221938" cy="11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b="true" sz="5775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QUESTION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9081" y="5372197"/>
            <a:ext cx="5687368" cy="655154"/>
            <a:chOff x="0" y="0"/>
            <a:chExt cx="1497908" cy="172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7908" cy="172551"/>
            </a:xfrm>
            <a:custGeom>
              <a:avLst/>
              <a:gdLst/>
              <a:ahLst/>
              <a:cxnLst/>
              <a:rect r="r" b="b" t="t" l="l"/>
              <a:pathLst>
                <a:path h="172551" w="1497908">
                  <a:moveTo>
                    <a:pt x="86275" y="0"/>
                  </a:moveTo>
                  <a:lnTo>
                    <a:pt x="1411632" y="0"/>
                  </a:lnTo>
                  <a:cubicBezTo>
                    <a:pt x="1434514" y="0"/>
                    <a:pt x="1456458" y="9090"/>
                    <a:pt x="1472638" y="25269"/>
                  </a:cubicBezTo>
                  <a:cubicBezTo>
                    <a:pt x="1488818" y="41449"/>
                    <a:pt x="1497908" y="63394"/>
                    <a:pt x="1497908" y="86275"/>
                  </a:cubicBezTo>
                  <a:lnTo>
                    <a:pt x="1497908" y="86275"/>
                  </a:lnTo>
                  <a:cubicBezTo>
                    <a:pt x="1497908" y="133924"/>
                    <a:pt x="1459281" y="172551"/>
                    <a:pt x="1411632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7908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A. Only /blog/id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7718" y="5372197"/>
            <a:ext cx="5687368" cy="1089774"/>
            <a:chOff x="0" y="0"/>
            <a:chExt cx="1497908" cy="287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B. Multiple routes like /blog/1, /blog/2, etc.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081" y="7002828"/>
            <a:ext cx="5687368" cy="1089774"/>
            <a:chOff x="0" y="0"/>
            <a:chExt cx="1497908" cy="2870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C. An API endpoint for the database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7718" y="7002828"/>
            <a:ext cx="5687368" cy="655154"/>
            <a:chOff x="0" y="0"/>
            <a:chExt cx="1497908" cy="172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908" cy="172551"/>
            </a:xfrm>
            <a:custGeom>
              <a:avLst/>
              <a:gdLst/>
              <a:ahLst/>
              <a:cxnLst/>
              <a:rect r="r" b="b" t="t" l="l"/>
              <a:pathLst>
                <a:path h="172551" w="1497908">
                  <a:moveTo>
                    <a:pt x="86275" y="0"/>
                  </a:moveTo>
                  <a:lnTo>
                    <a:pt x="1411632" y="0"/>
                  </a:lnTo>
                  <a:cubicBezTo>
                    <a:pt x="1434514" y="0"/>
                    <a:pt x="1456458" y="9090"/>
                    <a:pt x="1472638" y="25269"/>
                  </a:cubicBezTo>
                  <a:cubicBezTo>
                    <a:pt x="1488818" y="41449"/>
                    <a:pt x="1497908" y="63394"/>
                    <a:pt x="1497908" y="86275"/>
                  </a:cubicBezTo>
                  <a:lnTo>
                    <a:pt x="1497908" y="86275"/>
                  </a:lnTo>
                  <a:cubicBezTo>
                    <a:pt x="1497908" y="133924"/>
                    <a:pt x="1459281" y="172551"/>
                    <a:pt x="1411632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97908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D. A shared layout for all pages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9222">
            <a:off x="-2866244" y="-4326501"/>
            <a:ext cx="6542532" cy="8229600"/>
          </a:xfrm>
          <a:custGeom>
            <a:avLst/>
            <a:gdLst/>
            <a:ahLst/>
            <a:cxnLst/>
            <a:rect r="r" b="b" t="t" l="l"/>
            <a:pathLst>
              <a:path h="8229600" w="6542532">
                <a:moveTo>
                  <a:pt x="0" y="0"/>
                </a:moveTo>
                <a:lnTo>
                  <a:pt x="6542532" y="0"/>
                </a:lnTo>
                <a:lnTo>
                  <a:pt x="6542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9137" y="6461971"/>
            <a:ext cx="6267516" cy="6024650"/>
          </a:xfrm>
          <a:custGeom>
            <a:avLst/>
            <a:gdLst/>
            <a:ahLst/>
            <a:cxnLst/>
            <a:rect r="r" b="b" t="t" l="l"/>
            <a:pathLst>
              <a:path h="6024650" w="6267516">
                <a:moveTo>
                  <a:pt x="0" y="0"/>
                </a:moveTo>
                <a:lnTo>
                  <a:pt x="6267516" y="0"/>
                </a:lnTo>
                <a:lnTo>
                  <a:pt x="6267516" y="6024650"/>
                </a:lnTo>
                <a:lnTo>
                  <a:pt x="0" y="602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148" y="0"/>
                  </a:moveTo>
                  <a:lnTo>
                    <a:pt x="4250578" y="0"/>
                  </a:lnTo>
                  <a:cubicBezTo>
                    <a:pt x="4263915" y="0"/>
                    <a:pt x="4274726" y="10811"/>
                    <a:pt x="4274726" y="24148"/>
                  </a:cubicBezTo>
                  <a:lnTo>
                    <a:pt x="4274726" y="2143319"/>
                  </a:lnTo>
                  <a:cubicBezTo>
                    <a:pt x="4274726" y="2156655"/>
                    <a:pt x="4263915" y="2167467"/>
                    <a:pt x="4250578" y="2167467"/>
                  </a:cubicBezTo>
                  <a:lnTo>
                    <a:pt x="24148" y="2167467"/>
                  </a:lnTo>
                  <a:cubicBezTo>
                    <a:pt x="17743" y="2167467"/>
                    <a:pt x="11601" y="2164923"/>
                    <a:pt x="7073" y="2160394"/>
                  </a:cubicBezTo>
                  <a:cubicBezTo>
                    <a:pt x="2544" y="2155865"/>
                    <a:pt x="0" y="2149723"/>
                    <a:pt x="0" y="2143319"/>
                  </a:cubicBezTo>
                  <a:lnTo>
                    <a:pt x="0" y="24148"/>
                  </a:lnTo>
                  <a:cubicBezTo>
                    <a:pt x="0" y="17743"/>
                    <a:pt x="2544" y="11601"/>
                    <a:pt x="7073" y="7073"/>
                  </a:cubicBezTo>
                  <a:cubicBezTo>
                    <a:pt x="11601" y="2544"/>
                    <a:pt x="17743" y="0"/>
                    <a:pt x="24148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28979" y="2225531"/>
            <a:ext cx="2032213" cy="655154"/>
            <a:chOff x="0" y="0"/>
            <a:chExt cx="535233" cy="172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233" cy="172551"/>
            </a:xfrm>
            <a:custGeom>
              <a:avLst/>
              <a:gdLst/>
              <a:ahLst/>
              <a:cxnLst/>
              <a:rect r="r" b="b" t="t" l="l"/>
              <a:pathLst>
                <a:path h="172551" w="535233">
                  <a:moveTo>
                    <a:pt x="86275" y="0"/>
                  </a:moveTo>
                  <a:lnTo>
                    <a:pt x="448958" y="0"/>
                  </a:lnTo>
                  <a:cubicBezTo>
                    <a:pt x="496606" y="0"/>
                    <a:pt x="535233" y="38627"/>
                    <a:pt x="535233" y="86275"/>
                  </a:cubicBezTo>
                  <a:lnTo>
                    <a:pt x="535233" y="86275"/>
                  </a:lnTo>
                  <a:cubicBezTo>
                    <a:pt x="535233" y="109157"/>
                    <a:pt x="526143" y="131102"/>
                    <a:pt x="509964" y="147281"/>
                  </a:cubicBezTo>
                  <a:cubicBezTo>
                    <a:pt x="493784" y="163461"/>
                    <a:pt x="471839" y="172551"/>
                    <a:pt x="448958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5233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99081" y="3090769"/>
            <a:ext cx="13644388" cy="7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3"/>
              </a:lnSpc>
            </a:pPr>
            <a:r>
              <a:rPr lang="en-US" sz="3599" spc="1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the primary use of public folder in next.js project?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943436" y="2543582"/>
            <a:ext cx="979555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2099081" y="1869217"/>
            <a:ext cx="1221938" cy="11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b="true" sz="5775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QUESTION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9081" y="5372197"/>
            <a:ext cx="5687368" cy="1089774"/>
            <a:chOff x="0" y="0"/>
            <a:chExt cx="1497908" cy="2870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A. To store images and icon </a:t>
              </a:r>
            </a:p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7718" y="5372197"/>
            <a:ext cx="5687368" cy="655154"/>
            <a:chOff x="0" y="0"/>
            <a:chExt cx="1497908" cy="1725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7908" cy="172551"/>
            </a:xfrm>
            <a:custGeom>
              <a:avLst/>
              <a:gdLst/>
              <a:ahLst/>
              <a:cxnLst/>
              <a:rect r="r" b="b" t="t" l="l"/>
              <a:pathLst>
                <a:path h="172551" w="1497908">
                  <a:moveTo>
                    <a:pt x="86275" y="0"/>
                  </a:moveTo>
                  <a:lnTo>
                    <a:pt x="1411632" y="0"/>
                  </a:lnTo>
                  <a:cubicBezTo>
                    <a:pt x="1434514" y="0"/>
                    <a:pt x="1456458" y="9090"/>
                    <a:pt x="1472638" y="25269"/>
                  </a:cubicBezTo>
                  <a:cubicBezTo>
                    <a:pt x="1488818" y="41449"/>
                    <a:pt x="1497908" y="63394"/>
                    <a:pt x="1497908" y="86275"/>
                  </a:cubicBezTo>
                  <a:lnTo>
                    <a:pt x="1497908" y="86275"/>
                  </a:lnTo>
                  <a:cubicBezTo>
                    <a:pt x="1497908" y="133924"/>
                    <a:pt x="1459281" y="172551"/>
                    <a:pt x="1411632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97908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B.To store all react component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081" y="7002828"/>
            <a:ext cx="5687368" cy="1089774"/>
            <a:chOff x="0" y="0"/>
            <a:chExt cx="1497908" cy="2870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C. To store home page components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7718" y="7002828"/>
            <a:ext cx="5687368" cy="655154"/>
            <a:chOff x="0" y="0"/>
            <a:chExt cx="1497908" cy="172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908" cy="172551"/>
            </a:xfrm>
            <a:custGeom>
              <a:avLst/>
              <a:gdLst/>
              <a:ahLst/>
              <a:cxnLst/>
              <a:rect r="r" b="b" t="t" l="l"/>
              <a:pathLst>
                <a:path h="172551" w="1497908">
                  <a:moveTo>
                    <a:pt x="86275" y="0"/>
                  </a:moveTo>
                  <a:lnTo>
                    <a:pt x="1411632" y="0"/>
                  </a:lnTo>
                  <a:cubicBezTo>
                    <a:pt x="1434514" y="0"/>
                    <a:pt x="1456458" y="9090"/>
                    <a:pt x="1472638" y="25269"/>
                  </a:cubicBezTo>
                  <a:cubicBezTo>
                    <a:pt x="1488818" y="41449"/>
                    <a:pt x="1497908" y="63394"/>
                    <a:pt x="1497908" y="86275"/>
                  </a:cubicBezTo>
                  <a:lnTo>
                    <a:pt x="1497908" y="86275"/>
                  </a:lnTo>
                  <a:cubicBezTo>
                    <a:pt x="1497908" y="133924"/>
                    <a:pt x="1459281" y="172551"/>
                    <a:pt x="1411632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97908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D. all of the above 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9222">
            <a:off x="-2866244" y="-4326501"/>
            <a:ext cx="6542532" cy="8229600"/>
          </a:xfrm>
          <a:custGeom>
            <a:avLst/>
            <a:gdLst/>
            <a:ahLst/>
            <a:cxnLst/>
            <a:rect r="r" b="b" t="t" l="l"/>
            <a:pathLst>
              <a:path h="8229600" w="6542532">
                <a:moveTo>
                  <a:pt x="0" y="0"/>
                </a:moveTo>
                <a:lnTo>
                  <a:pt x="6542532" y="0"/>
                </a:lnTo>
                <a:lnTo>
                  <a:pt x="6542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9137" y="6461971"/>
            <a:ext cx="6267516" cy="6024650"/>
          </a:xfrm>
          <a:custGeom>
            <a:avLst/>
            <a:gdLst/>
            <a:ahLst/>
            <a:cxnLst/>
            <a:rect r="r" b="b" t="t" l="l"/>
            <a:pathLst>
              <a:path h="6024650" w="6267516">
                <a:moveTo>
                  <a:pt x="0" y="0"/>
                </a:moveTo>
                <a:lnTo>
                  <a:pt x="6267516" y="0"/>
                </a:lnTo>
                <a:lnTo>
                  <a:pt x="6267516" y="6024650"/>
                </a:lnTo>
                <a:lnTo>
                  <a:pt x="0" y="602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148" y="0"/>
                  </a:moveTo>
                  <a:lnTo>
                    <a:pt x="4250578" y="0"/>
                  </a:lnTo>
                  <a:cubicBezTo>
                    <a:pt x="4263915" y="0"/>
                    <a:pt x="4274726" y="10811"/>
                    <a:pt x="4274726" y="24148"/>
                  </a:cubicBezTo>
                  <a:lnTo>
                    <a:pt x="4274726" y="2143319"/>
                  </a:lnTo>
                  <a:cubicBezTo>
                    <a:pt x="4274726" y="2156655"/>
                    <a:pt x="4263915" y="2167467"/>
                    <a:pt x="4250578" y="2167467"/>
                  </a:cubicBezTo>
                  <a:lnTo>
                    <a:pt x="24148" y="2167467"/>
                  </a:lnTo>
                  <a:cubicBezTo>
                    <a:pt x="17743" y="2167467"/>
                    <a:pt x="11601" y="2164923"/>
                    <a:pt x="7073" y="2160394"/>
                  </a:cubicBezTo>
                  <a:cubicBezTo>
                    <a:pt x="2544" y="2155865"/>
                    <a:pt x="0" y="2149723"/>
                    <a:pt x="0" y="2143319"/>
                  </a:cubicBezTo>
                  <a:lnTo>
                    <a:pt x="0" y="24148"/>
                  </a:lnTo>
                  <a:cubicBezTo>
                    <a:pt x="0" y="17743"/>
                    <a:pt x="2544" y="11601"/>
                    <a:pt x="7073" y="7073"/>
                  </a:cubicBezTo>
                  <a:cubicBezTo>
                    <a:pt x="11601" y="2544"/>
                    <a:pt x="17743" y="0"/>
                    <a:pt x="24148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28979" y="2225531"/>
            <a:ext cx="2032213" cy="655154"/>
            <a:chOff x="0" y="0"/>
            <a:chExt cx="535233" cy="172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233" cy="172551"/>
            </a:xfrm>
            <a:custGeom>
              <a:avLst/>
              <a:gdLst/>
              <a:ahLst/>
              <a:cxnLst/>
              <a:rect r="r" b="b" t="t" l="l"/>
              <a:pathLst>
                <a:path h="172551" w="535233">
                  <a:moveTo>
                    <a:pt x="86275" y="0"/>
                  </a:moveTo>
                  <a:lnTo>
                    <a:pt x="448958" y="0"/>
                  </a:lnTo>
                  <a:cubicBezTo>
                    <a:pt x="496606" y="0"/>
                    <a:pt x="535233" y="38627"/>
                    <a:pt x="535233" y="86275"/>
                  </a:cubicBezTo>
                  <a:lnTo>
                    <a:pt x="535233" y="86275"/>
                  </a:lnTo>
                  <a:cubicBezTo>
                    <a:pt x="535233" y="109157"/>
                    <a:pt x="526143" y="131102"/>
                    <a:pt x="509964" y="147281"/>
                  </a:cubicBezTo>
                  <a:cubicBezTo>
                    <a:pt x="493784" y="163461"/>
                    <a:pt x="471839" y="172551"/>
                    <a:pt x="448958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5233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95377" y="3145844"/>
            <a:ext cx="13644388" cy="64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3099" spc="11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Why can a project still be set up even if the node_modules folder is missing?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943436" y="2543582"/>
            <a:ext cx="979555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2099081" y="1869217"/>
            <a:ext cx="1221938" cy="11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b="true" sz="5775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QUESTION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9081" y="5372197"/>
            <a:ext cx="5483664" cy="1315396"/>
            <a:chOff x="0" y="0"/>
            <a:chExt cx="1444257" cy="3464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4257" cy="346442"/>
            </a:xfrm>
            <a:custGeom>
              <a:avLst/>
              <a:gdLst/>
              <a:ahLst/>
              <a:cxnLst/>
              <a:rect r="r" b="b" t="t" l="l"/>
              <a:pathLst>
                <a:path h="346442" w="1444257">
                  <a:moveTo>
                    <a:pt x="120004" y="0"/>
                  </a:moveTo>
                  <a:lnTo>
                    <a:pt x="1324253" y="0"/>
                  </a:lnTo>
                  <a:cubicBezTo>
                    <a:pt x="1390529" y="0"/>
                    <a:pt x="1444257" y="53728"/>
                    <a:pt x="1444257" y="120004"/>
                  </a:cubicBezTo>
                  <a:lnTo>
                    <a:pt x="1444257" y="226438"/>
                  </a:lnTo>
                  <a:cubicBezTo>
                    <a:pt x="1444257" y="292714"/>
                    <a:pt x="1390529" y="346442"/>
                    <a:pt x="1324253" y="346442"/>
                  </a:cubicBezTo>
                  <a:lnTo>
                    <a:pt x="120004" y="346442"/>
                  </a:lnTo>
                  <a:cubicBezTo>
                    <a:pt x="53728" y="346442"/>
                    <a:pt x="0" y="292714"/>
                    <a:pt x="0" y="226438"/>
                  </a:cubicBezTo>
                  <a:lnTo>
                    <a:pt x="0" y="120004"/>
                  </a:lnTo>
                  <a:cubicBezTo>
                    <a:pt x="0" y="53728"/>
                    <a:pt x="53728" y="0"/>
                    <a:pt x="120004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44257" cy="394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A. node_modules is automatically downloaded from GitHub</a:t>
              </a:r>
            </a:p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7718" y="5372197"/>
            <a:ext cx="5823171" cy="1125604"/>
            <a:chOff x="0" y="0"/>
            <a:chExt cx="1533675" cy="2964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3675" cy="296455"/>
            </a:xfrm>
            <a:custGeom>
              <a:avLst/>
              <a:gdLst/>
              <a:ahLst/>
              <a:cxnLst/>
              <a:rect r="r" b="b" t="t" l="l"/>
              <a:pathLst>
                <a:path h="296455" w="1533675">
                  <a:moveTo>
                    <a:pt x="113008" y="0"/>
                  </a:moveTo>
                  <a:lnTo>
                    <a:pt x="1420667" y="0"/>
                  </a:lnTo>
                  <a:cubicBezTo>
                    <a:pt x="1483079" y="0"/>
                    <a:pt x="1533675" y="50595"/>
                    <a:pt x="1533675" y="113008"/>
                  </a:cubicBezTo>
                  <a:lnTo>
                    <a:pt x="1533675" y="183448"/>
                  </a:lnTo>
                  <a:cubicBezTo>
                    <a:pt x="1533675" y="245860"/>
                    <a:pt x="1483079" y="296455"/>
                    <a:pt x="1420667" y="296455"/>
                  </a:cubicBezTo>
                  <a:lnTo>
                    <a:pt x="113008" y="296455"/>
                  </a:lnTo>
                  <a:cubicBezTo>
                    <a:pt x="50595" y="296455"/>
                    <a:pt x="0" y="245860"/>
                    <a:pt x="0" y="183448"/>
                  </a:cubicBezTo>
                  <a:lnTo>
                    <a:pt x="0" y="113008"/>
                  </a:lnTo>
                  <a:cubicBezTo>
                    <a:pt x="0" y="50595"/>
                    <a:pt x="50595" y="0"/>
                    <a:pt x="113008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33675" cy="334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B. package.json and package-lock.json contain the information needed to reinstall the dependencies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081" y="7002828"/>
            <a:ext cx="5687368" cy="1089774"/>
            <a:chOff x="0" y="0"/>
            <a:chExt cx="1497908" cy="2870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C. React does not require node_modules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7718" y="7002828"/>
            <a:ext cx="5687368" cy="1089774"/>
            <a:chOff x="0" y="0"/>
            <a:chExt cx="1497908" cy="2870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D.package-lock.json contains the entire node_modules folde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9222">
            <a:off x="-2866244" y="-4326501"/>
            <a:ext cx="6542532" cy="8229600"/>
          </a:xfrm>
          <a:custGeom>
            <a:avLst/>
            <a:gdLst/>
            <a:ahLst/>
            <a:cxnLst/>
            <a:rect r="r" b="b" t="t" l="l"/>
            <a:pathLst>
              <a:path h="8229600" w="6542532">
                <a:moveTo>
                  <a:pt x="0" y="0"/>
                </a:moveTo>
                <a:lnTo>
                  <a:pt x="6542532" y="0"/>
                </a:lnTo>
                <a:lnTo>
                  <a:pt x="6542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9137" y="6461971"/>
            <a:ext cx="6267516" cy="6024650"/>
          </a:xfrm>
          <a:custGeom>
            <a:avLst/>
            <a:gdLst/>
            <a:ahLst/>
            <a:cxnLst/>
            <a:rect r="r" b="b" t="t" l="l"/>
            <a:pathLst>
              <a:path h="6024650" w="6267516">
                <a:moveTo>
                  <a:pt x="0" y="0"/>
                </a:moveTo>
                <a:lnTo>
                  <a:pt x="6267516" y="0"/>
                </a:lnTo>
                <a:lnTo>
                  <a:pt x="6267516" y="6024650"/>
                </a:lnTo>
                <a:lnTo>
                  <a:pt x="0" y="602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148" y="0"/>
                  </a:moveTo>
                  <a:lnTo>
                    <a:pt x="4250578" y="0"/>
                  </a:lnTo>
                  <a:cubicBezTo>
                    <a:pt x="4263915" y="0"/>
                    <a:pt x="4274726" y="10811"/>
                    <a:pt x="4274726" y="24148"/>
                  </a:cubicBezTo>
                  <a:lnTo>
                    <a:pt x="4274726" y="2143319"/>
                  </a:lnTo>
                  <a:cubicBezTo>
                    <a:pt x="4274726" y="2156655"/>
                    <a:pt x="4263915" y="2167467"/>
                    <a:pt x="4250578" y="2167467"/>
                  </a:cubicBezTo>
                  <a:lnTo>
                    <a:pt x="24148" y="2167467"/>
                  </a:lnTo>
                  <a:cubicBezTo>
                    <a:pt x="17743" y="2167467"/>
                    <a:pt x="11601" y="2164923"/>
                    <a:pt x="7073" y="2160394"/>
                  </a:cubicBezTo>
                  <a:cubicBezTo>
                    <a:pt x="2544" y="2155865"/>
                    <a:pt x="0" y="2149723"/>
                    <a:pt x="0" y="2143319"/>
                  </a:cubicBezTo>
                  <a:lnTo>
                    <a:pt x="0" y="24148"/>
                  </a:lnTo>
                  <a:cubicBezTo>
                    <a:pt x="0" y="17743"/>
                    <a:pt x="2544" y="11601"/>
                    <a:pt x="7073" y="7073"/>
                  </a:cubicBezTo>
                  <a:cubicBezTo>
                    <a:pt x="11601" y="2544"/>
                    <a:pt x="17743" y="0"/>
                    <a:pt x="24148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28979" y="2225531"/>
            <a:ext cx="2032213" cy="655154"/>
            <a:chOff x="0" y="0"/>
            <a:chExt cx="535233" cy="172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233" cy="172551"/>
            </a:xfrm>
            <a:custGeom>
              <a:avLst/>
              <a:gdLst/>
              <a:ahLst/>
              <a:cxnLst/>
              <a:rect r="r" b="b" t="t" l="l"/>
              <a:pathLst>
                <a:path h="172551" w="535233">
                  <a:moveTo>
                    <a:pt x="86275" y="0"/>
                  </a:moveTo>
                  <a:lnTo>
                    <a:pt x="448958" y="0"/>
                  </a:lnTo>
                  <a:cubicBezTo>
                    <a:pt x="496606" y="0"/>
                    <a:pt x="535233" y="38627"/>
                    <a:pt x="535233" y="86275"/>
                  </a:cubicBezTo>
                  <a:lnTo>
                    <a:pt x="535233" y="86275"/>
                  </a:lnTo>
                  <a:cubicBezTo>
                    <a:pt x="535233" y="109157"/>
                    <a:pt x="526143" y="131102"/>
                    <a:pt x="509964" y="147281"/>
                  </a:cubicBezTo>
                  <a:cubicBezTo>
                    <a:pt x="493784" y="163461"/>
                    <a:pt x="471839" y="172551"/>
                    <a:pt x="448958" y="172551"/>
                  </a:cubicBezTo>
                  <a:lnTo>
                    <a:pt x="86275" y="172551"/>
                  </a:lnTo>
                  <a:cubicBezTo>
                    <a:pt x="38627" y="172551"/>
                    <a:pt x="0" y="133924"/>
                    <a:pt x="0" y="86275"/>
                  </a:cubicBezTo>
                  <a:lnTo>
                    <a:pt x="0" y="86275"/>
                  </a:lnTo>
                  <a:cubicBezTo>
                    <a:pt x="0" y="38627"/>
                    <a:pt x="38627" y="0"/>
                    <a:pt x="8627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5233" cy="220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78401" y="3155369"/>
            <a:ext cx="13644388" cy="122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</a:pPr>
            <a:r>
              <a:rPr lang="en-US" sz="2999" spc="10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Which of the following will NOT happen automatically?</a:t>
            </a:r>
          </a:p>
          <a:p>
            <a:pPr algn="l">
              <a:lnSpc>
                <a:spcPts val="4769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3943436" y="2543582"/>
            <a:ext cx="979555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2099081" y="1869217"/>
            <a:ext cx="1221938" cy="11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b="true" sz="5775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QUESTION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9081" y="5372197"/>
            <a:ext cx="5687368" cy="1089774"/>
            <a:chOff x="0" y="0"/>
            <a:chExt cx="1497908" cy="2870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A.  express gets added to package.json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7718" y="5372197"/>
            <a:ext cx="5687368" cy="1089774"/>
            <a:chOff x="0" y="0"/>
            <a:chExt cx="1497908" cy="287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B. express gets installed inside node_modules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081" y="7002828"/>
            <a:ext cx="5687368" cy="1089774"/>
            <a:chOff x="0" y="0"/>
            <a:chExt cx="1497908" cy="2870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7908" cy="287019"/>
            </a:xfrm>
            <a:custGeom>
              <a:avLst/>
              <a:gdLst/>
              <a:ahLst/>
              <a:cxnLst/>
              <a:rect r="r" b="b" t="t" l="l"/>
              <a:pathLst>
                <a:path h="287019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171313"/>
                  </a:lnTo>
                  <a:cubicBezTo>
                    <a:pt x="1497908" y="202000"/>
                    <a:pt x="1485717" y="231430"/>
                    <a:pt x="1464018" y="253129"/>
                  </a:cubicBezTo>
                  <a:cubicBezTo>
                    <a:pt x="1442319" y="274828"/>
                    <a:pt x="1412889" y="287019"/>
                    <a:pt x="1382202" y="287019"/>
                  </a:cubicBezTo>
                  <a:lnTo>
                    <a:pt x="115706" y="287019"/>
                  </a:lnTo>
                  <a:cubicBezTo>
                    <a:pt x="85019" y="287019"/>
                    <a:pt x="55589" y="274828"/>
                    <a:pt x="33890" y="253129"/>
                  </a:cubicBezTo>
                  <a:cubicBezTo>
                    <a:pt x="12190" y="231430"/>
                    <a:pt x="0" y="202000"/>
                    <a:pt x="0" y="171313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97908" cy="334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C.package-lock.json gets updated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7718" y="7002828"/>
            <a:ext cx="5687368" cy="1566024"/>
            <a:chOff x="0" y="0"/>
            <a:chExt cx="1497908" cy="4124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908" cy="412451"/>
            </a:xfrm>
            <a:custGeom>
              <a:avLst/>
              <a:gdLst/>
              <a:ahLst/>
              <a:cxnLst/>
              <a:rect r="r" b="b" t="t" l="l"/>
              <a:pathLst>
                <a:path h="412451" w="1497908">
                  <a:moveTo>
                    <a:pt x="115706" y="0"/>
                  </a:moveTo>
                  <a:lnTo>
                    <a:pt x="1382202" y="0"/>
                  </a:lnTo>
                  <a:cubicBezTo>
                    <a:pt x="1412889" y="0"/>
                    <a:pt x="1442319" y="12190"/>
                    <a:pt x="1464018" y="33890"/>
                  </a:cubicBezTo>
                  <a:cubicBezTo>
                    <a:pt x="1485717" y="55589"/>
                    <a:pt x="1497908" y="85019"/>
                    <a:pt x="1497908" y="115706"/>
                  </a:cubicBezTo>
                  <a:lnTo>
                    <a:pt x="1497908" y="296745"/>
                  </a:lnTo>
                  <a:cubicBezTo>
                    <a:pt x="1497908" y="327432"/>
                    <a:pt x="1485717" y="356862"/>
                    <a:pt x="1464018" y="378561"/>
                  </a:cubicBezTo>
                  <a:cubicBezTo>
                    <a:pt x="1442319" y="400260"/>
                    <a:pt x="1412889" y="412451"/>
                    <a:pt x="1382202" y="412451"/>
                  </a:cubicBezTo>
                  <a:lnTo>
                    <a:pt x="115706" y="412451"/>
                  </a:lnTo>
                  <a:cubicBezTo>
                    <a:pt x="85019" y="412451"/>
                    <a:pt x="55589" y="400260"/>
                    <a:pt x="33890" y="378561"/>
                  </a:cubicBezTo>
                  <a:cubicBezTo>
                    <a:pt x="12190" y="356862"/>
                    <a:pt x="0" y="327432"/>
                    <a:pt x="0" y="296745"/>
                  </a:cubicBezTo>
                  <a:lnTo>
                    <a:pt x="0" y="115706"/>
                  </a:lnTo>
                  <a:cubicBezTo>
                    <a:pt x="0" y="85019"/>
                    <a:pt x="12190" y="55589"/>
                    <a:pt x="33890" y="33890"/>
                  </a:cubicBezTo>
                  <a:cubicBezTo>
                    <a:pt x="55589" y="12190"/>
                    <a:pt x="85019" y="0"/>
                    <a:pt x="1157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97908" cy="460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D. The source code of your entire project gets uploaded to npm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DAHWdx5-n9U</dc:identifier>
  <dcterms:modified xsi:type="dcterms:W3CDTF">2011-08-01T06:04:30Z</dcterms:modified>
  <cp:revision>1</cp:revision>
  <dc:title>Web ETP Session3</dc:title>
</cp:coreProperties>
</file>